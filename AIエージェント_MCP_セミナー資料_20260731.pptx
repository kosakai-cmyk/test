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733"/>
                </a:solidFill>
                <a:latin typeface="Meiryo"/>
              </a:defRPr>
            </a:pPr>
            <a:r>
              <a:rPr sz="1200" b="0" i="0" u="none" strike="noStrike">
                <a:solidFill>
                  <a:srgbClr val="1B2733"/>
                </a:solidFill>
                <a:latin typeface="Meiryo"/>
              </a:rPr>
              <a:t>月間工数の試算例（時間／月）</a:t>
            </a:r>
          </a:p>
        </c:rich>
      </c:tx>
      <c:layout/>
      <c:overlay val="0"/>
    </c:title>
    <c:autoTitleDeleted val="0"/>
    <c:plotArea>
      <c:layout/>
      <c:barChart>
        <c:barDir val="bar"/>
        <c:grouping val="clustered"/>
        <c:varyColors val="0"/>
        <c:ser>
          <c:idx val="0"/>
          <c:order val="0"/>
          <c:tx>
            <c:strRef>
              <c:f>Sheet1!$B$1</c:f>
              <c:strCache>
                <c:ptCount val="1"/>
                <c:pt idx="0">
                  <c:v>現状</c:v>
                </c:pt>
              </c:strCache>
            </c:strRef>
          </c:tx>
          <c:spPr>
            <a:solidFill>
              <a:srgbClr val="8C97A3"/>
            </a:solidFill>
            <a:effectLst/>
          </c:spPr>
          <c:invertIfNegative val="0"/>
          <c:dLbls>
            <c:numFmt formatCode="#,##0" sourceLinked="0"/>
            <c:txPr>
              <a:bodyPr/>
              <a:lstStyle/>
              <a:p>
                <a:pPr>
                  <a:defRPr b="0" i="0" strike="noStrike" sz="1000" u="none">
                    <a:solidFill>
                      <a:srgbClr val="1B2733"/>
                    </a:solidFill>
                    <a:latin typeface="Meiryo"/>
                  </a:defRPr>
                </a:pPr>
              </a:p>
            </c:txPr>
            <c:showLegendKey val="0"/>
            <c:showVal val="1"/>
            <c:showCatName val="0"/>
            <c:showSerName val="0"/>
            <c:showPercent val="0"/>
            <c:showBubbleSize val="0"/>
            <c:showLeaderLines val="0"/>
          </c:dLbls>
          <c:cat>
            <c:multiLvlStrRef>
              <c:f>Sheet1!$A$2:$A$4</c:f>
              <c:multiLvlStrCache>
                <c:ptCount val="3"/>
                <c:lvl>
                  <c:pt idx="0">
                    <c:v>月次報告の作成</c:v>
                  </c:pt>
                  <c:pt idx="1">
                    <c:v>予実差異の一次分析</c:v>
                  </c:pt>
                  <c:pt idx="2">
                    <c:v>業務量の集計・報告</c:v>
                  </c:pt>
                </c:lvl>
              </c:multiLvlStrCache>
            </c:multiLvlStrRef>
          </c:cat>
          <c:val>
            <c:numRef>
              <c:f>Sheet1!$B$2:$B$4</c:f>
              <c:numCache>
                <c:formatCode>General</c:formatCode>
                <c:ptCount val="3"/>
                <c:pt idx="0">
                  <c:v>40</c:v>
                </c:pt>
                <c:pt idx="1">
                  <c:v>24</c:v>
                </c:pt>
                <c:pt idx="2">
                  <c:v>16</c:v>
                </c:pt>
              </c:numCache>
            </c:numRef>
          </c:val>
        </c:ser>
        <c:ser>
          <c:idx val="1"/>
          <c:order val="1"/>
          <c:tx>
            <c:strRef>
              <c:f>Sheet1!$C$1</c:f>
              <c:strCache>
                <c:ptCount val="1"/>
                <c:pt idx="0">
                  <c:v>AI活用後（試算）</c:v>
                </c:pt>
              </c:strCache>
            </c:strRef>
          </c:tx>
          <c:spPr>
            <a:solidFill>
              <a:srgbClr val="D97612"/>
            </a:solidFill>
            <a:effectLst/>
          </c:spPr>
          <c:invertIfNegative val="0"/>
          <c:dLbls>
            <c:numFmt formatCode="#,##0" sourceLinked="0"/>
            <c:txPr>
              <a:bodyPr/>
              <a:lstStyle/>
              <a:p>
                <a:pPr>
                  <a:defRPr b="0" i="0" strike="noStrike" sz="1000" u="none">
                    <a:solidFill>
                      <a:srgbClr val="1B2733"/>
                    </a:solidFill>
                    <a:latin typeface="Meiryo"/>
                  </a:defRPr>
                </a:pPr>
              </a:p>
            </c:txPr>
            <c:showLegendKey val="0"/>
            <c:showVal val="1"/>
            <c:showCatName val="0"/>
            <c:showSerName val="0"/>
            <c:showPercent val="0"/>
            <c:showBubbleSize val="0"/>
            <c:showLeaderLines val="0"/>
          </c:dLbls>
          <c:cat>
            <c:multiLvlStrRef>
              <c:f>Sheet1!$A$2:$A$4</c:f>
              <c:multiLvlStrCache>
                <c:ptCount val="3"/>
                <c:lvl>
                  <c:pt idx="0">
                    <c:v>月次報告の作成</c:v>
                  </c:pt>
                  <c:pt idx="1">
                    <c:v>予実差異の一次分析</c:v>
                  </c:pt>
                  <c:pt idx="2">
                    <c:v>業務量の集計・報告</c:v>
                  </c:pt>
                </c:lvl>
              </c:multiLvlStrCache>
            </c:multiLvlStrRef>
          </c:cat>
          <c:val>
            <c:numRef>
              <c:f>Sheet1!$C$2:$C$4</c:f>
              <c:numCache>
                <c:formatCode>General</c:formatCode>
                <c:ptCount val="3"/>
                <c:pt idx="0">
                  <c:v>16</c:v>
                </c:pt>
                <c:pt idx="1">
                  <c:v>10</c:v>
                </c:pt>
                <c:pt idx="2">
                  <c:v>4</c:v>
                </c:pt>
              </c:numCache>
            </c:numRef>
          </c:val>
        </c:ser>
        <c:dLbls>
          <c:numFmt formatCode="#,##0" sourceLinked="0"/>
          <c:txPr>
            <a:bodyPr/>
            <a:lstStyle/>
            <a:p>
              <a:pPr>
                <a:defRPr b="0" i="0" strike="noStrike" sz="1000" u="none">
                  <a:solidFill>
                    <a:srgbClr val="1B2733"/>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67382"/>
                </a:solidFill>
                <a:latin typeface="Meiryo"/>
              </a:defRPr>
            </a:pPr>
            <a:endParaRPr lang="en-US"/>
          </a:p>
        </c:txPr>
        <c:crossAx val="2094734552"/>
        <c:crosses val="autoZero"/>
        <c:auto val="1"/>
        <c:lblAlgn val="ctr"/>
        <c:noMultiLvlLbl val="1"/>
      </c:catAx>
      <c:valAx>
        <c:axId val="2094734552"/>
        <c:scaling>
          <c:orientation val="minMax"/>
          <c:max val="48"/>
        </c:scaling>
        <c:delete val="0"/>
        <c:axPos val="b"/>
        <c:majorGridlines>
          <c:spPr>
            <a:ln w="12700" cap="flat">
              <a:solidFill>
                <a:srgbClr val="E4E9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67382"/>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B2733"/>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冒頭あいさつ（1分）。
・本日は非エンジニアの方向けに、専門用語をできるだけ使わずに進めます。
・録画しています。当日参加できなかった方にもアーカイブをお送りします。
・質問はチャット欄へいつでも投げてください。
【要確認】主催者名の正式表記（法人名）に差し替えてください。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ゴール提示（1.5分）。
・「今日は何を持ち帰れるのか」を先に約束すると離脱が減ります。
・②を強調してください。本日のセミナーの背骨です。
・③は第4部で必ず回収します（1業務・1指標・4週間）。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アジェンダ（1分）。
・「第5部で当社サービスを紹介します」と先に開示しておくと、前半を安心して聞いてもらえます。
・配布物の約束は申込者の満足度に直結。実際に送れるものだけ書いてください。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進め方の共有（1分）。
・右の1行を口に出して読み上げてください。ここが本日の主題です。
・質問の受け方を明示すると、実際にチャットが動きます。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セクション扉（10秒）。テンポよく進めてください。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導入（2分）。
・左の4つは、参加者の多くが自社で言われていることです。共感で入る。
・「うちもそうだ」と思ってもらえたら成功。挙手やチャットで聞いてみるのも有効。
・数字を使いたい場合は、自社で出典を確認できる調査（総務省 情報通信白書など）を1つだけ添えてください。出典のない数字は入れない方針でこの資料を作っています。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本日の骨格（2分）。
・この3分類が資料全体の目次になっています。ここで地図を渡すと、以降の話がつながって聞こえます。
・②を中央の濃いカードにしているのは意図的。ここが本日の主題だと視覚的に伝えます。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用語整理（2.5分）。
・ここは参加者がいちばん混乱しているポイント。ゆっくり行ってください。
・「エージェント＝賢いAI」ではなく「実行できるAI」だと言い切る。
・最下段の『成果の上限』が第3部への伏線です。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3要素（2.5分）。
・「買える／つなげる／買えない」のタグが、この資料の一番の要約です。
・経営企画の方には「投資すべきはどこか」という問いとして刺さります。
・手足＝MCPだけ次のセクション、記憶＝第3部と予告して進む。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たとえ話（2分）。
・プロンプト研修に予算を使う前に、この話をしてください。
・「プロンプトを鍛える」より「権限と記録を整える」ほうが投資効率が高い、というのがここでの主張です。
・自社の具体例（例：稟議書の様式が共有フォルダのどこかにしかない等）を1つ足すと刺さります。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セクション扉（10秒）。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定義（2.5分）。
・技術的な説明には踏み込まないこと。「規格」「コンセント」で止めるのが正解です。
・「無料で公開されている取り決め」という点は、投資判断をする方に安心感を与えます。
・最下段は必ず読み上げてください。第3部への橋渡しです。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仕組み（2.5分）。
・左の線がぐちゃぐちゃなのは意図的です。「これが今の社内です」と言うと笑いが取れます。
・技術の話に聞こえないよう、必ず最後の一文（ロックイン回避）で経営の言葉に戻してください。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効果（2分）。
・参加者に「月次資料を作るとき、数字を集める時間と考える時間、どちらが長いですか」と投げかけると効果的。
・③の属人化解消は、経営企画・管理部門の方に最も響くポイントです。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誤解の解消（2分）。
・②は情報システム部門や監査から必ず出る質問。ここで先に潰しておくと社内提案が通りやすくなります。
・③で参加者を「自分の仕事の話だ」と引き込みます。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ガバナンス（2分）。
・ここは管理部門の方が最も持ち帰りたい部分。ゆっくり。
・「全面禁止にしている会社は、結局シャドーAIが起きている」という現実も一言添えると納得感が出ます。
・②のログは第3部・第5部にもつながる伏線です。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期待値調整（2分）。
・社内提案では、できないことを先に言うほうが信用されます。
・右上の「記録が存在しない領域の判断」が第3部の入口です。ここで区切って次へ。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セクション扉（10秒）。ここからが本題だと明示してください。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核心（2分）。
・この式が本日いちばん覚えて帰ってほしい部分。板書のように指さしながら話す。
・「モデルを最新にしたのに変わらない」という声は、事実が0だからだと説明できます。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記録の分解（2.5分）。
・上2層は「あるある」で流し、3層目で止まってください。
・参加者に「工数を正確に答えられますか？」と問いかけると場が静かになります。そこが狙いです。
・第5部の伏線。ここでは製品名は一切出さないこと。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痛み（2.5分）。
・左の3問は、実際に経営会議で飛んでくる質問です。参加者の当事者意識を引き出します。
・最下段の「自己申告では取れない」が第5部への正式な橋渡しになります。ここは強調。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実務への落とし込み（2分）。
・「プロジェクト名を変える」は、社内で明日すぐ実行できる具体アクション。持ち帰り価値が高い。
・3ステップは第4部の4週間プランと対応しています。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セクション扉（10秒）。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適合度マップ（2.5分）。
・「うちの業務はどこに入りますか」とチャットで募ると盛り上がります。
・左上（緑）から着手、左下（オレンジ）が本命という順序で説明。
・右下は「AIに任せない」と明言することで、安心して聞いてもらえます。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具体シナリオ（2.5分）。
・③だけ性質が違います（記録がないと成立しない）。ここを一段強く話し、第5部につなげます。
・数字は一般例。自社の実測値がある場合は差し替えてください（注記も更新）。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実行プラン（2.5分）。
・「全社一斉」をやって失敗した会社が非常に多い。1業務に絞る理由をはっきり述べる。
・WEEK 1 の before 測定を最重要として繰り返す。ここが第5部（業務ログ）につながります。
・このチェックリストを配布物として約束済み（P3）。忘れずに送付してください。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落とし穴（2分）。
・テンポよく読み上げる。参加者が自社に当てはめて頷けるパートです。
・②を繰り返すことで、第5部の必要性が自然に立ち上がります。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効果測定（2分）。
・グラフは【試算例】です。断定しないこと。前提を必ず口頭でも読み上げてください。
・自社の実績値がある場合は、数値と注記を差し替えて使ってください。
・右の3軸が、社内稟議で効く言い方です。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セクション転換（20秒）。
・「ここから宣伝です」と明示するのが、この構成の信頼の源です。必ず言ってください。
・前半で作った“業務ログがない”という課題認識だけを引き継ぎます。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橋渡し（1.5分）。
・前半のまとめとして丁寧に。ここで参加者の頭の中に問いを立ててから製品紹介に入ります。
・製品名を出すのはこのスライドの最下段が初めてです。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製品紹介（2分）。
・機能列挙にしないこと。前半の「業務ログ層が空」という話への答えとして話します。
・監視ではない、という位置づけは必ず口頭でも述べてください。ここを外すと以降の話が全部警戒されます。
【要確認】導入企業数・母体の表記は、社内で最新の数字と正式表記に差し替えてください。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差別化ポイント（2分）。
・第2部のMCPの説明と必ず結びつけて話す。「さっきのコンセントの話が、ここで効いてきます」。
・優位性の表現は「当社調べ／数少ない取り組み」に留めています。景品表示法の観点から、根拠を示せない最上級表現（日本初など）は口頭でも避けてください。
・「参照範囲は制限できる」を必ず添える。第2部の権限の話への回答になります。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デモ（3〜4分）。
・ここが本日のクライマックス。画面共有の切り替えを事前にリハーサルしてください。
・出力を待つ間に、右のカードを読み上げると間が埋まります。
・回線トラブルに備え、録画したデモ動画をバックアップとして用意しておくこと。
・個人名を出す集計（残業上位者ランキング等）は絶対に見せないでください。位置づけの説明と矛盾します。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事例（1.5分）。
・下段の3カードで、前半の一般論と製品を明示的に接続します。ここを飛ばさないこと。
・事例は事実の範囲で。数値を語る場合は必ず社内で確認済みのものだけ使ってください。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FAQ（2分）。
・1つめは絶対に飛ばさないこと。ここを曖昧にすると社内で必ず止まります。
・4つめで第2部に戻すことで、話が一本につながって聞こえます。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クロージング＋Q&amp;A（残り時間すべて）。
・3つのまとめを読み上げてから、CTAへ。
・アンケートのURLをチャットに貼るタイミングはここ。口頭でも案内してください。
・「個別相談を希望する」にチェックした方には、翌営業日に必ず連絡すること。ここが唯一の商談導線です。
・Q&amp;Aが早く終わった場合は、第4部の適合度マップ（P24）に戻って参加者の業務を当てはめる時間にすると満足度が上がります。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Shape 1"/>
          <p:cNvSpPr/>
          <p:nvPr/>
        </p:nvSpPr>
        <p:spPr>
          <a:xfrm>
            <a:off x="6903720" y="0"/>
            <a:ext cx="5287975" cy="6858000"/>
          </a:xfrm>
          <a:prstGeom prst="roundRect">
            <a:avLst>
              <a:gd name="adj" fmla="val 1210"/>
            </a:avLst>
          </a:prstGeom>
          <a:solidFill>
            <a:srgbClr val="223140"/>
          </a:solidFill>
          <a:ln w="12700">
            <a:solidFill>
              <a:srgbClr val="223140"/>
            </a:solidFill>
            <a:prstDash val="solid"/>
          </a:ln>
        </p:spPr>
      </p:sp>
      <p:sp>
        <p:nvSpPr>
          <p:cNvPr id="4" name="Shape 2"/>
          <p:cNvSpPr/>
          <p:nvPr/>
        </p:nvSpPr>
        <p:spPr>
          <a:xfrm>
            <a:off x="7635240" y="1417320"/>
            <a:ext cx="3931920" cy="3931920"/>
          </a:xfrm>
          <a:prstGeom prst="ellipse">
            <a:avLst/>
          </a:prstGeom>
          <a:solidFill>
            <a:srgbClr val="223140"/>
          </a:solidFill>
          <a:ln w="15875">
            <a:solidFill>
              <a:srgbClr val="31465A"/>
            </a:solidFill>
            <a:prstDash val="solid"/>
          </a:ln>
        </p:spPr>
      </p:sp>
      <p:sp>
        <p:nvSpPr>
          <p:cNvPr id="5" name="Shape 3"/>
          <p:cNvSpPr/>
          <p:nvPr/>
        </p:nvSpPr>
        <p:spPr>
          <a:xfrm>
            <a:off x="8275320" y="2057400"/>
            <a:ext cx="2651760" cy="2651760"/>
          </a:xfrm>
          <a:prstGeom prst="ellipse">
            <a:avLst/>
          </a:prstGeom>
          <a:solidFill>
            <a:srgbClr val="223140"/>
          </a:solidFill>
          <a:ln w="22225">
            <a:solidFill>
              <a:srgbClr val="D97612"/>
            </a:solidFill>
            <a:prstDash val="solid"/>
          </a:ln>
        </p:spPr>
      </p:sp>
      <p:sp>
        <p:nvSpPr>
          <p:cNvPr id="6" name="Shape 4"/>
          <p:cNvSpPr/>
          <p:nvPr/>
        </p:nvSpPr>
        <p:spPr>
          <a:xfrm>
            <a:off x="9098280" y="2880360"/>
            <a:ext cx="1005840" cy="1005840"/>
          </a:xfrm>
          <a:prstGeom prst="ellipse">
            <a:avLst/>
          </a:prstGeom>
          <a:solidFill>
            <a:srgbClr val="D97612"/>
          </a:solidFill>
          <a:ln w="12700">
            <a:solidFill>
              <a:srgbClr val="D97612"/>
            </a:solidFill>
            <a:prstDash val="solid"/>
          </a:ln>
        </p:spPr>
      </p:sp>
      <p:sp>
        <p:nvSpPr>
          <p:cNvPr id="7" name="Text 5"/>
          <p:cNvSpPr/>
          <p:nvPr/>
        </p:nvSpPr>
        <p:spPr>
          <a:xfrm>
            <a:off x="9098280" y="2880360"/>
            <a:ext cx="100584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MCP</a:t>
            </a:r>
            <a:endParaRPr lang="en-US" sz="1500" dirty="0"/>
          </a:p>
        </p:txBody>
      </p:sp>
      <p:sp>
        <p:nvSpPr>
          <p:cNvPr id="8" name="Text 6"/>
          <p:cNvSpPr/>
          <p:nvPr/>
        </p:nvSpPr>
        <p:spPr>
          <a:xfrm>
            <a:off x="7882128" y="2212848"/>
            <a:ext cx="685800" cy="365760"/>
          </a:xfrm>
          <a:prstGeom prst="rect">
            <a:avLst/>
          </a:prstGeom>
          <a:noFill/>
          <a:ln/>
        </p:spPr>
        <p:txBody>
          <a:bodyPr wrap="square" lIns="0" tIns="0" rIns="0" bIns="0" rtlCol="0" anchor="ctr"/>
          <a:lstStyle/>
          <a:p>
            <a:pPr algn="ctr" indent="0" marL="0">
              <a:buNone/>
            </a:pPr>
            <a:r>
              <a:rPr lang="en-US" sz="1200" b="1" dirty="0">
                <a:solidFill>
                  <a:srgbClr val="B9C4CF"/>
                </a:solidFill>
                <a:latin typeface="Meiryo" pitchFamily="34" charset="0"/>
                <a:ea typeface="Meiryo" pitchFamily="34" charset="-122"/>
                <a:cs typeface="Meiryo" pitchFamily="34" charset="-120"/>
              </a:rPr>
              <a:t>AI</a:t>
            </a:r>
            <a:endParaRPr lang="en-US" sz="1200" dirty="0"/>
          </a:p>
        </p:txBody>
      </p:sp>
      <p:sp>
        <p:nvSpPr>
          <p:cNvPr id="9" name="Text 7"/>
          <p:cNvSpPr/>
          <p:nvPr/>
        </p:nvSpPr>
        <p:spPr>
          <a:xfrm>
            <a:off x="10625328" y="4315968"/>
            <a:ext cx="822960" cy="365760"/>
          </a:xfrm>
          <a:prstGeom prst="rect">
            <a:avLst/>
          </a:prstGeom>
          <a:noFill/>
          <a:ln/>
        </p:spPr>
        <p:txBody>
          <a:bodyPr wrap="square" lIns="0" tIns="0" rIns="0" bIns="0" rtlCol="0" anchor="ctr"/>
          <a:lstStyle/>
          <a:p>
            <a:pPr algn="ctr" indent="0" marL="0">
              <a:buNone/>
            </a:pPr>
            <a:r>
              <a:rPr lang="en-US" sz="1200" b="1" dirty="0">
                <a:solidFill>
                  <a:srgbClr val="B9C4CF"/>
                </a:solidFill>
                <a:latin typeface="Meiryo" pitchFamily="34" charset="0"/>
                <a:ea typeface="Meiryo" pitchFamily="34" charset="-122"/>
                <a:cs typeface="Meiryo" pitchFamily="34" charset="-120"/>
              </a:rPr>
              <a:t>記録</a:t>
            </a:r>
            <a:endParaRPr lang="en-US" sz="1200" dirty="0"/>
          </a:p>
        </p:txBody>
      </p:sp>
      <p:sp>
        <p:nvSpPr>
          <p:cNvPr id="10" name="Text 8"/>
          <p:cNvSpPr/>
          <p:nvPr/>
        </p:nvSpPr>
        <p:spPr>
          <a:xfrm>
            <a:off x="566928" y="1481328"/>
            <a:ext cx="5943600" cy="274320"/>
          </a:xfrm>
          <a:prstGeom prst="rect">
            <a:avLst/>
          </a:prstGeom>
          <a:noFill/>
          <a:ln/>
        </p:spPr>
        <p:txBody>
          <a:bodyPr wrap="square" lIns="0" tIns="0" rIns="0" bIns="0" rtlCol="0" anchor="ctr"/>
          <a:lstStyle/>
          <a:p>
            <a:pPr indent="0" marL="0">
              <a:buNone/>
            </a:pPr>
            <a:r>
              <a:rPr lang="en-US" sz="1200" b="1" spc="160" kern="0" dirty="0">
                <a:solidFill>
                  <a:srgbClr val="D97612"/>
                </a:solidFill>
                <a:latin typeface="Meiryo" pitchFamily="34" charset="0"/>
                <a:ea typeface="Meiryo" pitchFamily="34" charset="-122"/>
                <a:cs typeface="Meiryo" pitchFamily="34" charset="-120"/>
              </a:rPr>
              <a:t>無料オンラインセミナー</a:t>
            </a:r>
            <a:endParaRPr lang="en-US" sz="1200" dirty="0"/>
          </a:p>
        </p:txBody>
      </p:sp>
      <p:sp>
        <p:nvSpPr>
          <p:cNvPr id="11" name="Text 9"/>
          <p:cNvSpPr/>
          <p:nvPr/>
        </p:nvSpPr>
        <p:spPr>
          <a:xfrm>
            <a:off x="566928" y="1883664"/>
            <a:ext cx="6126480" cy="137160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Meiryo" pitchFamily="34" charset="0"/>
                <a:ea typeface="Meiryo" pitchFamily="34" charset="-122"/>
                <a:cs typeface="Meiryo" pitchFamily="34" charset="-120"/>
              </a:rPr>
              <a:t>AIエージェント × MCP とは？</a:t>
            </a:r>
            <a:endParaRPr lang="en-US" sz="3600" dirty="0"/>
          </a:p>
        </p:txBody>
      </p:sp>
      <p:sp>
        <p:nvSpPr>
          <p:cNvPr id="12" name="Text 10"/>
          <p:cNvSpPr/>
          <p:nvPr/>
        </p:nvSpPr>
        <p:spPr>
          <a:xfrm>
            <a:off x="566928" y="3273552"/>
            <a:ext cx="6126480" cy="868680"/>
          </a:xfrm>
          <a:prstGeom prst="rect">
            <a:avLst/>
          </a:prstGeom>
          <a:noFill/>
          <a:ln/>
        </p:spPr>
        <p:txBody>
          <a:bodyPr wrap="square" lIns="0" tIns="0" rIns="0" bIns="0" rtlCol="0" anchor="ctr"/>
          <a:lstStyle/>
          <a:p>
            <a:pPr indent="0" marL="0">
              <a:lnSpc>
                <a:spcPts val="2700"/>
              </a:lnSpc>
              <a:buNone/>
            </a:pPr>
            <a:r>
              <a:rPr lang="en-US" sz="1800" dirty="0">
                <a:solidFill>
                  <a:srgbClr val="CBD5DF"/>
                </a:solidFill>
                <a:latin typeface="Meiryo" pitchFamily="34" charset="0"/>
                <a:ea typeface="Meiryo" pitchFamily="34" charset="-122"/>
                <a:cs typeface="Meiryo" pitchFamily="34" charset="-120"/>
              </a:rPr>
              <a:t>“働くAI”を戦力にする</a:t>
            </a:r>
            <a:endParaRPr lang="en-US" sz="1800" dirty="0"/>
          </a:p>
          <a:p>
            <a:pPr indent="0" marL="0">
              <a:lnSpc>
                <a:spcPts val="2700"/>
              </a:lnSpc>
              <a:buNone/>
            </a:pPr>
            <a:r>
              <a:rPr lang="en-US" sz="1800" dirty="0">
                <a:solidFill>
                  <a:srgbClr val="CBD5DF"/>
                </a:solidFill>
                <a:latin typeface="Meiryo" pitchFamily="34" charset="0"/>
                <a:ea typeface="Meiryo" pitchFamily="34" charset="-122"/>
                <a:cs typeface="Meiryo" pitchFamily="34" charset="-120"/>
              </a:rPr>
              <a:t>『記録』のはじめ方</a:t>
            </a:r>
            <a:endParaRPr lang="en-US" sz="1800" dirty="0"/>
          </a:p>
        </p:txBody>
      </p:sp>
      <p:sp>
        <p:nvSpPr>
          <p:cNvPr id="13" name="Shape 11"/>
          <p:cNvSpPr/>
          <p:nvPr/>
        </p:nvSpPr>
        <p:spPr>
          <a:xfrm>
            <a:off x="566928" y="4370832"/>
            <a:ext cx="5394960" cy="841248"/>
          </a:xfrm>
          <a:prstGeom prst="roundRect">
            <a:avLst>
              <a:gd name="adj" fmla="val 7609"/>
            </a:avLst>
          </a:prstGeom>
          <a:solidFill>
            <a:srgbClr val="223140"/>
          </a:solidFill>
          <a:ln w="12700">
            <a:solidFill>
              <a:srgbClr val="223140"/>
            </a:solidFill>
            <a:prstDash val="solid"/>
          </a:ln>
        </p:spPr>
      </p:sp>
      <p:sp>
        <p:nvSpPr>
          <p:cNvPr id="14" name="Text 12"/>
          <p:cNvSpPr/>
          <p:nvPr/>
        </p:nvSpPr>
        <p:spPr>
          <a:xfrm>
            <a:off x="841248" y="4370832"/>
            <a:ext cx="4937760" cy="841248"/>
          </a:xfrm>
          <a:prstGeom prst="rect">
            <a:avLst/>
          </a:prstGeom>
          <a:noFill/>
          <a:ln/>
        </p:spPr>
        <p:txBody>
          <a:bodyPr wrap="square" lIns="0" tIns="0" rIns="0" bIns="0" rtlCol="0" anchor="ctr"/>
          <a:lstStyle/>
          <a:p>
            <a:pPr indent="0" marL="0">
              <a:lnSpc>
                <a:spcPts val="1900"/>
              </a:lnSpc>
              <a:buNone/>
            </a:pPr>
            <a:r>
              <a:rPr lang="en-US" sz="1350" b="1" dirty="0">
                <a:solidFill>
                  <a:srgbClr val="FFFFFF"/>
                </a:solidFill>
                <a:latin typeface="Meiryo" pitchFamily="34" charset="0"/>
                <a:ea typeface="Meiryo" pitchFamily="34" charset="-122"/>
                <a:cs typeface="Meiryo" pitchFamily="34" charset="-120"/>
              </a:rPr>
              <a:t>2026年7月31日（金）12:00–13:00</a:t>
            </a:r>
            <a:endParaRPr lang="en-US" sz="1350" dirty="0"/>
          </a:p>
          <a:p>
            <a:pPr indent="0" marL="0">
              <a:lnSpc>
                <a:spcPts val="1900"/>
              </a:lnSpc>
              <a:buNone/>
            </a:pPr>
            <a:r>
              <a:rPr lang="en-US" sz="1100" dirty="0">
                <a:solidFill>
                  <a:srgbClr val="B9C4CF"/>
                </a:solidFill>
                <a:latin typeface="Meiryo" pitchFamily="34" charset="0"/>
                <a:ea typeface="Meiryo" pitchFamily="34" charset="-122"/>
                <a:cs typeface="Meiryo" pitchFamily="34" charset="-120"/>
              </a:rPr>
              <a:t>オンライン開催／参加無料／アーカイブ配信あり</a:t>
            </a:r>
            <a:endParaRPr lang="en-US" sz="1350" dirty="0"/>
          </a:p>
        </p:txBody>
      </p:sp>
      <p:sp>
        <p:nvSpPr>
          <p:cNvPr id="15" name="Text 13"/>
          <p:cNvSpPr/>
          <p:nvPr/>
        </p:nvSpPr>
        <p:spPr>
          <a:xfrm>
            <a:off x="566928" y="5486400"/>
            <a:ext cx="5943600" cy="274320"/>
          </a:xfrm>
          <a:prstGeom prst="rect">
            <a:avLst/>
          </a:prstGeom>
          <a:noFill/>
          <a:ln/>
        </p:spPr>
        <p:txBody>
          <a:bodyPr wrap="square" lIns="0" tIns="0" rIns="0" bIns="0" rtlCol="0" anchor="ctr"/>
          <a:lstStyle/>
          <a:p>
            <a:pPr indent="0" marL="0">
              <a:buNone/>
            </a:pPr>
            <a:r>
              <a:rPr lang="en-US" sz="1050" dirty="0">
                <a:solidFill>
                  <a:srgbClr val="8C97A3"/>
                </a:solidFill>
                <a:latin typeface="Meiryo" pitchFamily="34" charset="0"/>
                <a:ea typeface="Meiryo" pitchFamily="34" charset="-122"/>
                <a:cs typeface="Meiryo" pitchFamily="34" charset="-120"/>
              </a:rPr>
              <a:t>主催：みえるクラウド セミナー事務局</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GOAL</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本日、持ち帰っていただきたい3つのこと</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「知った」で終わらせず、月曜から動ける状態にして終わります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a:t>
            </a:r>
            <a:endParaRPr lang="en-US" sz="850" dirty="0"/>
          </a:p>
        </p:txBody>
      </p:sp>
      <p:sp>
        <p:nvSpPr>
          <p:cNvPr id="7" name="Shape 5"/>
          <p:cNvSpPr/>
          <p:nvPr/>
        </p:nvSpPr>
        <p:spPr>
          <a:xfrm>
            <a:off x="566928" y="1755648"/>
            <a:ext cx="3503066" cy="3200400"/>
          </a:xfrm>
          <a:prstGeom prst="roundRect">
            <a:avLst>
              <a:gd name="adj" fmla="val 2000"/>
            </a:avLst>
          </a:prstGeom>
          <a:solidFill>
            <a:srgbClr val="F2F4F6"/>
          </a:solidFill>
          <a:ln w="12700">
            <a:solidFill>
              <a:srgbClr val="F2F4F6"/>
            </a:solidFill>
            <a:prstDash val="solid"/>
          </a:ln>
        </p:spPr>
      </p:sp>
      <p:sp>
        <p:nvSpPr>
          <p:cNvPr id="8" name="Shape 6"/>
          <p:cNvSpPr/>
          <p:nvPr/>
        </p:nvSpPr>
        <p:spPr>
          <a:xfrm>
            <a:off x="877824" y="2048256"/>
            <a:ext cx="457200" cy="457200"/>
          </a:xfrm>
          <a:prstGeom prst="ellipse">
            <a:avLst/>
          </a:prstGeom>
          <a:solidFill>
            <a:srgbClr val="223140"/>
          </a:solidFill>
          <a:ln w="12700">
            <a:solidFill>
              <a:srgbClr val="223140"/>
            </a:solidFill>
            <a:prstDash val="solid"/>
          </a:ln>
        </p:spPr>
      </p:sp>
      <p:sp>
        <p:nvSpPr>
          <p:cNvPr id="9" name="Text 7"/>
          <p:cNvSpPr/>
          <p:nvPr/>
        </p:nvSpPr>
        <p:spPr>
          <a:xfrm>
            <a:off x="877824" y="20482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10" name="Text 8"/>
          <p:cNvSpPr/>
          <p:nvPr/>
        </p:nvSpPr>
        <p:spPr>
          <a:xfrm>
            <a:off x="877824" y="2688336"/>
            <a:ext cx="2881274" cy="713232"/>
          </a:xfrm>
          <a:prstGeom prst="rect">
            <a:avLst/>
          </a:prstGeom>
          <a:noFill/>
          <a:ln/>
        </p:spPr>
        <p:txBody>
          <a:bodyPr wrap="square" lIns="0" tIns="0" rIns="0" bIns="0" rtlCol="0" anchor="t"/>
          <a:lstStyle/>
          <a:p>
            <a:pPr indent="0" marL="0">
              <a:lnSpc>
                <a:spcPts val="2400"/>
              </a:lnSpc>
              <a:buNone/>
            </a:pPr>
            <a:r>
              <a:rPr lang="en-US" sz="1650" b="1" dirty="0">
                <a:solidFill>
                  <a:srgbClr val="1B2733"/>
                </a:solidFill>
                <a:latin typeface="Meiryo" pitchFamily="34" charset="0"/>
                <a:ea typeface="Meiryo" pitchFamily="34" charset="-122"/>
                <a:cs typeface="Meiryo" pitchFamily="34" charset="-120"/>
              </a:rPr>
              <a:t>自分の言葉で説明できる</a:t>
            </a:r>
            <a:endParaRPr lang="en-US" sz="1650" dirty="0"/>
          </a:p>
        </p:txBody>
      </p:sp>
      <p:sp>
        <p:nvSpPr>
          <p:cNvPr id="11" name="Text 9"/>
          <p:cNvSpPr/>
          <p:nvPr/>
        </p:nvSpPr>
        <p:spPr>
          <a:xfrm>
            <a:off x="877824" y="3438144"/>
            <a:ext cx="2881274" cy="1371600"/>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AIエージェントとMCPを、社内の非エンジニアに説明できる状態にする。用語を覚えるのではなく、何が変わるのかを言えるようにします。</a:t>
            </a:r>
            <a:endParaRPr lang="en-US" sz="1200" dirty="0"/>
          </a:p>
        </p:txBody>
      </p:sp>
      <p:sp>
        <p:nvSpPr>
          <p:cNvPr id="12" name="Shape 10"/>
          <p:cNvSpPr/>
          <p:nvPr/>
        </p:nvSpPr>
        <p:spPr>
          <a:xfrm>
            <a:off x="4344314" y="1755648"/>
            <a:ext cx="3503066" cy="3200400"/>
          </a:xfrm>
          <a:prstGeom prst="roundRect">
            <a:avLst>
              <a:gd name="adj" fmla="val 2000"/>
            </a:avLst>
          </a:prstGeom>
          <a:solidFill>
            <a:srgbClr val="FDF1E2"/>
          </a:solidFill>
          <a:ln w="12700">
            <a:solidFill>
              <a:srgbClr val="FDF1E2"/>
            </a:solidFill>
            <a:prstDash val="solid"/>
          </a:ln>
        </p:spPr>
      </p:sp>
      <p:sp>
        <p:nvSpPr>
          <p:cNvPr id="13" name="Shape 11"/>
          <p:cNvSpPr/>
          <p:nvPr/>
        </p:nvSpPr>
        <p:spPr>
          <a:xfrm>
            <a:off x="4655210" y="2048256"/>
            <a:ext cx="457200" cy="457200"/>
          </a:xfrm>
          <a:prstGeom prst="ellipse">
            <a:avLst/>
          </a:prstGeom>
          <a:solidFill>
            <a:srgbClr val="D97612"/>
          </a:solidFill>
          <a:ln w="12700">
            <a:solidFill>
              <a:srgbClr val="D97612"/>
            </a:solidFill>
            <a:prstDash val="solid"/>
          </a:ln>
        </p:spPr>
      </p:sp>
      <p:sp>
        <p:nvSpPr>
          <p:cNvPr id="14" name="Text 12"/>
          <p:cNvSpPr/>
          <p:nvPr/>
        </p:nvSpPr>
        <p:spPr>
          <a:xfrm>
            <a:off x="4655210" y="20482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15" name="Text 13"/>
          <p:cNvSpPr/>
          <p:nvPr/>
        </p:nvSpPr>
        <p:spPr>
          <a:xfrm>
            <a:off x="4655210" y="2688336"/>
            <a:ext cx="2881274" cy="713232"/>
          </a:xfrm>
          <a:prstGeom prst="rect">
            <a:avLst/>
          </a:prstGeom>
          <a:noFill/>
          <a:ln/>
        </p:spPr>
        <p:txBody>
          <a:bodyPr wrap="square" lIns="0" tIns="0" rIns="0" bIns="0" rtlCol="0" anchor="t"/>
          <a:lstStyle/>
          <a:p>
            <a:pPr indent="0" marL="0">
              <a:lnSpc>
                <a:spcPts val="2400"/>
              </a:lnSpc>
              <a:buNone/>
            </a:pPr>
            <a:r>
              <a:rPr lang="en-US" sz="1650" b="1" dirty="0">
                <a:solidFill>
                  <a:srgbClr val="A85705"/>
                </a:solidFill>
                <a:latin typeface="Meiryo" pitchFamily="34" charset="0"/>
                <a:ea typeface="Meiryo" pitchFamily="34" charset="-122"/>
                <a:cs typeface="Meiryo" pitchFamily="34" charset="-120"/>
              </a:rPr>
              <a:t>空回りの原因がわかる</a:t>
            </a:r>
            <a:endParaRPr lang="en-US" sz="1650" dirty="0"/>
          </a:p>
        </p:txBody>
      </p:sp>
      <p:sp>
        <p:nvSpPr>
          <p:cNvPr id="16" name="Text 14"/>
          <p:cNvSpPr/>
          <p:nvPr/>
        </p:nvSpPr>
        <p:spPr>
          <a:xfrm>
            <a:off x="4655210" y="3438144"/>
            <a:ext cx="2881274" cy="1371600"/>
          </a:xfrm>
          <a:prstGeom prst="rect">
            <a:avLst/>
          </a:prstGeom>
          <a:noFill/>
          <a:ln/>
        </p:spPr>
        <p:txBody>
          <a:bodyPr wrap="square" lIns="0" tIns="0" rIns="0" bIns="0" rtlCol="0" anchor="t"/>
          <a:lstStyle/>
          <a:p>
            <a:pPr indent="0" marL="0">
              <a:lnSpc>
                <a:spcPts val="2000"/>
              </a:lnSpc>
              <a:buNone/>
            </a:pPr>
            <a:r>
              <a:rPr lang="en-US" sz="1200" dirty="0">
                <a:solidFill>
                  <a:srgbClr val="6B4A24"/>
                </a:solidFill>
                <a:latin typeface="Meiryo" pitchFamily="34" charset="0"/>
                <a:ea typeface="Meiryo" pitchFamily="34" charset="-122"/>
                <a:cs typeface="Meiryo" pitchFamily="34" charset="-120"/>
              </a:rPr>
              <a:t>AI活用が成果につながらない本当の理由は、ツールでもプロンプトでもありません。「記録」の不足です。ここを具体的に見ていきます。</a:t>
            </a:r>
            <a:endParaRPr lang="en-US" sz="1200" dirty="0"/>
          </a:p>
        </p:txBody>
      </p:sp>
      <p:sp>
        <p:nvSpPr>
          <p:cNvPr id="17" name="Shape 15"/>
          <p:cNvSpPr/>
          <p:nvPr/>
        </p:nvSpPr>
        <p:spPr>
          <a:xfrm>
            <a:off x="8121701" y="1755648"/>
            <a:ext cx="3503066" cy="3200400"/>
          </a:xfrm>
          <a:prstGeom prst="roundRect">
            <a:avLst>
              <a:gd name="adj" fmla="val 2000"/>
            </a:avLst>
          </a:prstGeom>
          <a:solidFill>
            <a:srgbClr val="F2F4F6"/>
          </a:solidFill>
          <a:ln w="12700">
            <a:solidFill>
              <a:srgbClr val="F2F4F6"/>
            </a:solidFill>
            <a:prstDash val="solid"/>
          </a:ln>
        </p:spPr>
      </p:sp>
      <p:sp>
        <p:nvSpPr>
          <p:cNvPr id="18" name="Shape 16"/>
          <p:cNvSpPr/>
          <p:nvPr/>
        </p:nvSpPr>
        <p:spPr>
          <a:xfrm>
            <a:off x="8432597" y="2048256"/>
            <a:ext cx="457200" cy="457200"/>
          </a:xfrm>
          <a:prstGeom prst="ellipse">
            <a:avLst/>
          </a:prstGeom>
          <a:solidFill>
            <a:srgbClr val="223140"/>
          </a:solidFill>
          <a:ln w="12700">
            <a:solidFill>
              <a:srgbClr val="223140"/>
            </a:solidFill>
            <a:prstDash val="solid"/>
          </a:ln>
        </p:spPr>
      </p:sp>
      <p:sp>
        <p:nvSpPr>
          <p:cNvPr id="19" name="Text 17"/>
          <p:cNvSpPr/>
          <p:nvPr/>
        </p:nvSpPr>
        <p:spPr>
          <a:xfrm>
            <a:off x="8432597" y="20482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20" name="Text 18"/>
          <p:cNvSpPr/>
          <p:nvPr/>
        </p:nvSpPr>
        <p:spPr>
          <a:xfrm>
            <a:off x="8432597" y="2688336"/>
            <a:ext cx="2881274" cy="713232"/>
          </a:xfrm>
          <a:prstGeom prst="rect">
            <a:avLst/>
          </a:prstGeom>
          <a:noFill/>
          <a:ln/>
        </p:spPr>
        <p:txBody>
          <a:bodyPr wrap="square" lIns="0" tIns="0" rIns="0" bIns="0" rtlCol="0" anchor="t"/>
          <a:lstStyle/>
          <a:p>
            <a:pPr indent="0" marL="0">
              <a:lnSpc>
                <a:spcPts val="2400"/>
              </a:lnSpc>
              <a:buNone/>
            </a:pPr>
            <a:r>
              <a:rPr lang="en-US" sz="1650" b="1" dirty="0">
                <a:solidFill>
                  <a:srgbClr val="1B2733"/>
                </a:solidFill>
                <a:latin typeface="Meiryo" pitchFamily="34" charset="0"/>
                <a:ea typeface="Meiryo" pitchFamily="34" charset="-122"/>
                <a:cs typeface="Meiryo" pitchFamily="34" charset="-120"/>
              </a:rPr>
              <a:t>始める1つが決まる</a:t>
            </a:r>
            <a:endParaRPr lang="en-US" sz="1650" dirty="0"/>
          </a:p>
        </p:txBody>
      </p:sp>
      <p:sp>
        <p:nvSpPr>
          <p:cNvPr id="21" name="Text 19"/>
          <p:cNvSpPr/>
          <p:nvPr/>
        </p:nvSpPr>
        <p:spPr>
          <a:xfrm>
            <a:off x="8432597" y="3438144"/>
            <a:ext cx="2881274" cy="1371600"/>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自社で最初に手をつける業務を1つ決めて持ち帰る。4週間で回す型もお渡しします。</a:t>
            </a:r>
            <a:endParaRPr lang="en-US" sz="1200" dirty="0"/>
          </a:p>
        </p:txBody>
      </p:sp>
      <p:sp>
        <p:nvSpPr>
          <p:cNvPr id="22" name="Shape 20"/>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23" name="Shape 21"/>
          <p:cNvSpPr/>
          <p:nvPr/>
        </p:nvSpPr>
        <p:spPr>
          <a:xfrm>
            <a:off x="804672" y="5760720"/>
            <a:ext cx="219456" cy="219456"/>
          </a:xfrm>
          <a:prstGeom prst="ellipse">
            <a:avLst/>
          </a:prstGeom>
          <a:solidFill>
            <a:srgbClr val="A85705"/>
          </a:solidFill>
          <a:ln w="12700">
            <a:solidFill>
              <a:srgbClr val="A85705"/>
            </a:solidFill>
            <a:prstDash val="solid"/>
          </a:ln>
        </p:spPr>
      </p:sp>
      <p:sp>
        <p:nvSpPr>
          <p:cNvPr id="24" name="Text 22"/>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予備知識は不要です。ChatGPTを何度か触ったことがある、くらいで十分についてこられる構成にしています。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AGENDA</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本日の進行</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前半40分は一般論。後半で具体的な打ち手をご紹介します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a:t>
            </a:r>
            <a:endParaRPr lang="en-US" sz="850" dirty="0"/>
          </a:p>
        </p:txBody>
      </p:sp>
      <p:sp>
        <p:nvSpPr>
          <p:cNvPr id="7" name="Shape 5"/>
          <p:cNvSpPr/>
          <p:nvPr/>
        </p:nvSpPr>
        <p:spPr>
          <a:xfrm>
            <a:off x="566928" y="1773936"/>
            <a:ext cx="7772400" cy="640080"/>
          </a:xfrm>
          <a:prstGeom prst="roundRect">
            <a:avLst>
              <a:gd name="adj" fmla="val 10000"/>
            </a:avLst>
          </a:prstGeom>
          <a:solidFill>
            <a:srgbClr val="F2F4F6"/>
          </a:solidFill>
          <a:ln w="12700">
            <a:solidFill>
              <a:srgbClr val="F2F4F6"/>
            </a:solidFill>
            <a:prstDash val="solid"/>
          </a:ln>
        </p:spPr>
      </p:sp>
      <p:sp>
        <p:nvSpPr>
          <p:cNvPr id="8" name="Shape 6"/>
          <p:cNvSpPr/>
          <p:nvPr/>
        </p:nvSpPr>
        <p:spPr>
          <a:xfrm>
            <a:off x="786384" y="1901952"/>
            <a:ext cx="384048" cy="384048"/>
          </a:xfrm>
          <a:prstGeom prst="ellipse">
            <a:avLst/>
          </a:prstGeom>
          <a:solidFill>
            <a:srgbClr val="223140"/>
          </a:solidFill>
          <a:ln w="12700">
            <a:solidFill>
              <a:srgbClr val="223140"/>
            </a:solidFill>
            <a:prstDash val="solid"/>
          </a:ln>
        </p:spPr>
      </p:sp>
      <p:sp>
        <p:nvSpPr>
          <p:cNvPr id="9" name="Text 7"/>
          <p:cNvSpPr/>
          <p:nvPr/>
        </p:nvSpPr>
        <p:spPr>
          <a:xfrm>
            <a:off x="786384" y="190195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01</a:t>
            </a:r>
            <a:endParaRPr lang="en-US" sz="1250" dirty="0"/>
          </a:p>
        </p:txBody>
      </p:sp>
      <p:sp>
        <p:nvSpPr>
          <p:cNvPr id="10" name="Text 8"/>
          <p:cNvSpPr/>
          <p:nvPr/>
        </p:nvSpPr>
        <p:spPr>
          <a:xfrm>
            <a:off x="1316736" y="1773936"/>
            <a:ext cx="3383280" cy="640080"/>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いまAI活用で起きていること</a:t>
            </a:r>
            <a:endParaRPr lang="en-US" sz="1400" dirty="0"/>
          </a:p>
        </p:txBody>
      </p:sp>
      <p:sp>
        <p:nvSpPr>
          <p:cNvPr id="11" name="Text 9"/>
          <p:cNvSpPr/>
          <p:nvPr/>
        </p:nvSpPr>
        <p:spPr>
          <a:xfrm>
            <a:off x="4773168" y="1773936"/>
            <a:ext cx="2743200" cy="64008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「入れたのに変わらない」の正体</a:t>
            </a:r>
            <a:endParaRPr lang="en-US" sz="1050" dirty="0"/>
          </a:p>
        </p:txBody>
      </p:sp>
      <p:sp>
        <p:nvSpPr>
          <p:cNvPr id="12" name="Text 10"/>
          <p:cNvSpPr/>
          <p:nvPr/>
        </p:nvSpPr>
        <p:spPr>
          <a:xfrm>
            <a:off x="7516368" y="1773936"/>
            <a:ext cx="731520" cy="640080"/>
          </a:xfrm>
          <a:prstGeom prst="rect">
            <a:avLst/>
          </a:prstGeom>
          <a:noFill/>
          <a:ln/>
        </p:spPr>
        <p:txBody>
          <a:bodyPr wrap="square" lIns="0" tIns="0" rIns="0" bIns="0" rtlCol="0" anchor="ctr"/>
          <a:lstStyle/>
          <a:p>
            <a:pPr algn="r" indent="0" marL="0">
              <a:buNone/>
            </a:pPr>
            <a:r>
              <a:rPr lang="en-US" sz="1100" b="1" dirty="0">
                <a:solidFill>
                  <a:srgbClr val="667382"/>
                </a:solidFill>
                <a:latin typeface="Meiryo" pitchFamily="34" charset="0"/>
                <a:ea typeface="Meiryo" pitchFamily="34" charset="-122"/>
                <a:cs typeface="Meiryo" pitchFamily="34" charset="-120"/>
              </a:rPr>
              <a:t>12分</a:t>
            </a:r>
            <a:endParaRPr lang="en-US" sz="1100" dirty="0"/>
          </a:p>
        </p:txBody>
      </p:sp>
      <p:sp>
        <p:nvSpPr>
          <p:cNvPr id="13" name="Shape 11"/>
          <p:cNvSpPr/>
          <p:nvPr/>
        </p:nvSpPr>
        <p:spPr>
          <a:xfrm>
            <a:off x="566928" y="2523744"/>
            <a:ext cx="7772400" cy="640080"/>
          </a:xfrm>
          <a:prstGeom prst="roundRect">
            <a:avLst>
              <a:gd name="adj" fmla="val 10000"/>
            </a:avLst>
          </a:prstGeom>
          <a:solidFill>
            <a:srgbClr val="F2F4F6"/>
          </a:solidFill>
          <a:ln w="12700">
            <a:solidFill>
              <a:srgbClr val="F2F4F6"/>
            </a:solidFill>
            <a:prstDash val="solid"/>
          </a:ln>
        </p:spPr>
      </p:sp>
      <p:sp>
        <p:nvSpPr>
          <p:cNvPr id="14" name="Shape 12"/>
          <p:cNvSpPr/>
          <p:nvPr/>
        </p:nvSpPr>
        <p:spPr>
          <a:xfrm>
            <a:off x="786384" y="2651760"/>
            <a:ext cx="384048" cy="384048"/>
          </a:xfrm>
          <a:prstGeom prst="ellipse">
            <a:avLst/>
          </a:prstGeom>
          <a:solidFill>
            <a:srgbClr val="223140"/>
          </a:solidFill>
          <a:ln w="12700">
            <a:solidFill>
              <a:srgbClr val="223140"/>
            </a:solidFill>
            <a:prstDash val="solid"/>
          </a:ln>
        </p:spPr>
      </p:sp>
      <p:sp>
        <p:nvSpPr>
          <p:cNvPr id="15" name="Text 13"/>
          <p:cNvSpPr/>
          <p:nvPr/>
        </p:nvSpPr>
        <p:spPr>
          <a:xfrm>
            <a:off x="786384" y="265176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02</a:t>
            </a:r>
            <a:endParaRPr lang="en-US" sz="1250" dirty="0"/>
          </a:p>
        </p:txBody>
      </p:sp>
      <p:sp>
        <p:nvSpPr>
          <p:cNvPr id="16" name="Text 14"/>
          <p:cNvSpPr/>
          <p:nvPr/>
        </p:nvSpPr>
        <p:spPr>
          <a:xfrm>
            <a:off x="1316736" y="2523744"/>
            <a:ext cx="3383280" cy="640080"/>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MCPとは何か</a:t>
            </a:r>
            <a:endParaRPr lang="en-US" sz="1400" dirty="0"/>
          </a:p>
        </p:txBody>
      </p:sp>
      <p:sp>
        <p:nvSpPr>
          <p:cNvPr id="17" name="Text 15"/>
          <p:cNvSpPr/>
          <p:nvPr/>
        </p:nvSpPr>
        <p:spPr>
          <a:xfrm>
            <a:off x="4773168" y="2523744"/>
            <a:ext cx="2743200" cy="64008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AIと社内をつなぐ共通規格</a:t>
            </a:r>
            <a:endParaRPr lang="en-US" sz="1050" dirty="0"/>
          </a:p>
        </p:txBody>
      </p:sp>
      <p:sp>
        <p:nvSpPr>
          <p:cNvPr id="18" name="Text 16"/>
          <p:cNvSpPr/>
          <p:nvPr/>
        </p:nvSpPr>
        <p:spPr>
          <a:xfrm>
            <a:off x="7516368" y="2523744"/>
            <a:ext cx="731520" cy="640080"/>
          </a:xfrm>
          <a:prstGeom prst="rect">
            <a:avLst/>
          </a:prstGeom>
          <a:noFill/>
          <a:ln/>
        </p:spPr>
        <p:txBody>
          <a:bodyPr wrap="square" lIns="0" tIns="0" rIns="0" bIns="0" rtlCol="0" anchor="ctr"/>
          <a:lstStyle/>
          <a:p>
            <a:pPr algn="r" indent="0" marL="0">
              <a:buNone/>
            </a:pPr>
            <a:r>
              <a:rPr lang="en-US" sz="1100" b="1" dirty="0">
                <a:solidFill>
                  <a:srgbClr val="667382"/>
                </a:solidFill>
                <a:latin typeface="Meiryo" pitchFamily="34" charset="0"/>
                <a:ea typeface="Meiryo" pitchFamily="34" charset="-122"/>
                <a:cs typeface="Meiryo" pitchFamily="34" charset="-120"/>
              </a:rPr>
              <a:t>12分</a:t>
            </a:r>
            <a:endParaRPr lang="en-US" sz="1100" dirty="0"/>
          </a:p>
        </p:txBody>
      </p:sp>
      <p:sp>
        <p:nvSpPr>
          <p:cNvPr id="19" name="Shape 17"/>
          <p:cNvSpPr/>
          <p:nvPr/>
        </p:nvSpPr>
        <p:spPr>
          <a:xfrm>
            <a:off x="566928" y="3273552"/>
            <a:ext cx="7772400" cy="640080"/>
          </a:xfrm>
          <a:prstGeom prst="roundRect">
            <a:avLst>
              <a:gd name="adj" fmla="val 10000"/>
            </a:avLst>
          </a:prstGeom>
          <a:solidFill>
            <a:srgbClr val="F2F4F6"/>
          </a:solidFill>
          <a:ln w="12700">
            <a:solidFill>
              <a:srgbClr val="F2F4F6"/>
            </a:solidFill>
            <a:prstDash val="solid"/>
          </a:ln>
        </p:spPr>
      </p:sp>
      <p:sp>
        <p:nvSpPr>
          <p:cNvPr id="20" name="Shape 18"/>
          <p:cNvSpPr/>
          <p:nvPr/>
        </p:nvSpPr>
        <p:spPr>
          <a:xfrm>
            <a:off x="786384" y="3401568"/>
            <a:ext cx="384048" cy="384048"/>
          </a:xfrm>
          <a:prstGeom prst="ellipse">
            <a:avLst/>
          </a:prstGeom>
          <a:solidFill>
            <a:srgbClr val="223140"/>
          </a:solidFill>
          <a:ln w="12700">
            <a:solidFill>
              <a:srgbClr val="223140"/>
            </a:solidFill>
            <a:prstDash val="solid"/>
          </a:ln>
        </p:spPr>
      </p:sp>
      <p:sp>
        <p:nvSpPr>
          <p:cNvPr id="21" name="Text 19"/>
          <p:cNvSpPr/>
          <p:nvPr/>
        </p:nvSpPr>
        <p:spPr>
          <a:xfrm>
            <a:off x="786384" y="340156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03</a:t>
            </a:r>
            <a:endParaRPr lang="en-US" sz="1250" dirty="0"/>
          </a:p>
        </p:txBody>
      </p:sp>
      <p:sp>
        <p:nvSpPr>
          <p:cNvPr id="22" name="Text 20"/>
          <p:cNvSpPr/>
          <p:nvPr/>
        </p:nvSpPr>
        <p:spPr>
          <a:xfrm>
            <a:off x="1316736" y="3273552"/>
            <a:ext cx="3383280" cy="640080"/>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成果を分けるのは「記録」</a:t>
            </a:r>
            <a:endParaRPr lang="en-US" sz="1400" dirty="0"/>
          </a:p>
        </p:txBody>
      </p:sp>
      <p:sp>
        <p:nvSpPr>
          <p:cNvPr id="23" name="Text 21"/>
          <p:cNvSpPr/>
          <p:nvPr/>
        </p:nvSpPr>
        <p:spPr>
          <a:xfrm>
            <a:off x="4773168" y="3273552"/>
            <a:ext cx="2743200" cy="64008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出力の質は、渡せる事実で決まる</a:t>
            </a:r>
            <a:endParaRPr lang="en-US" sz="1050" dirty="0"/>
          </a:p>
        </p:txBody>
      </p:sp>
      <p:sp>
        <p:nvSpPr>
          <p:cNvPr id="24" name="Text 22"/>
          <p:cNvSpPr/>
          <p:nvPr/>
        </p:nvSpPr>
        <p:spPr>
          <a:xfrm>
            <a:off x="7516368" y="3273552"/>
            <a:ext cx="731520" cy="640080"/>
          </a:xfrm>
          <a:prstGeom prst="rect">
            <a:avLst/>
          </a:prstGeom>
          <a:noFill/>
          <a:ln/>
        </p:spPr>
        <p:txBody>
          <a:bodyPr wrap="square" lIns="0" tIns="0" rIns="0" bIns="0" rtlCol="0" anchor="ctr"/>
          <a:lstStyle/>
          <a:p>
            <a:pPr algn="r" indent="0" marL="0">
              <a:buNone/>
            </a:pPr>
            <a:r>
              <a:rPr lang="en-US" sz="1100" b="1" dirty="0">
                <a:solidFill>
                  <a:srgbClr val="667382"/>
                </a:solidFill>
                <a:latin typeface="Meiryo" pitchFamily="34" charset="0"/>
                <a:ea typeface="Meiryo" pitchFamily="34" charset="-122"/>
                <a:cs typeface="Meiryo" pitchFamily="34" charset="-120"/>
              </a:rPr>
              <a:t>12分</a:t>
            </a:r>
            <a:endParaRPr lang="en-US" sz="1100" dirty="0"/>
          </a:p>
        </p:txBody>
      </p:sp>
      <p:sp>
        <p:nvSpPr>
          <p:cNvPr id="25" name="Shape 23"/>
          <p:cNvSpPr/>
          <p:nvPr/>
        </p:nvSpPr>
        <p:spPr>
          <a:xfrm>
            <a:off x="566928" y="4023360"/>
            <a:ext cx="7772400" cy="640080"/>
          </a:xfrm>
          <a:prstGeom prst="roundRect">
            <a:avLst>
              <a:gd name="adj" fmla="val 10000"/>
            </a:avLst>
          </a:prstGeom>
          <a:solidFill>
            <a:srgbClr val="F2F4F6"/>
          </a:solidFill>
          <a:ln w="12700">
            <a:solidFill>
              <a:srgbClr val="F2F4F6"/>
            </a:solidFill>
            <a:prstDash val="solid"/>
          </a:ln>
        </p:spPr>
      </p:sp>
      <p:sp>
        <p:nvSpPr>
          <p:cNvPr id="26" name="Shape 24"/>
          <p:cNvSpPr/>
          <p:nvPr/>
        </p:nvSpPr>
        <p:spPr>
          <a:xfrm>
            <a:off x="786384" y="4151376"/>
            <a:ext cx="384048" cy="384048"/>
          </a:xfrm>
          <a:prstGeom prst="ellipse">
            <a:avLst/>
          </a:prstGeom>
          <a:solidFill>
            <a:srgbClr val="223140"/>
          </a:solidFill>
          <a:ln w="12700">
            <a:solidFill>
              <a:srgbClr val="223140"/>
            </a:solidFill>
            <a:prstDash val="solid"/>
          </a:ln>
        </p:spPr>
      </p:sp>
      <p:sp>
        <p:nvSpPr>
          <p:cNvPr id="27" name="Text 25"/>
          <p:cNvSpPr/>
          <p:nvPr/>
        </p:nvSpPr>
        <p:spPr>
          <a:xfrm>
            <a:off x="786384" y="41513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04</a:t>
            </a:r>
            <a:endParaRPr lang="en-US" sz="1250" dirty="0"/>
          </a:p>
        </p:txBody>
      </p:sp>
      <p:sp>
        <p:nvSpPr>
          <p:cNvPr id="28" name="Text 26"/>
          <p:cNvSpPr/>
          <p:nvPr/>
        </p:nvSpPr>
        <p:spPr>
          <a:xfrm>
            <a:off x="1316736" y="4023360"/>
            <a:ext cx="3383280" cy="640080"/>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経営企画の使いどころと始め方</a:t>
            </a:r>
            <a:endParaRPr lang="en-US" sz="1400" dirty="0"/>
          </a:p>
        </p:txBody>
      </p:sp>
      <p:sp>
        <p:nvSpPr>
          <p:cNvPr id="29" name="Text 27"/>
          <p:cNvSpPr/>
          <p:nvPr/>
        </p:nvSpPr>
        <p:spPr>
          <a:xfrm>
            <a:off x="4773168" y="4023360"/>
            <a:ext cx="2743200" cy="64008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適合度マップと4週間の型</a:t>
            </a:r>
            <a:endParaRPr lang="en-US" sz="1050" dirty="0"/>
          </a:p>
        </p:txBody>
      </p:sp>
      <p:sp>
        <p:nvSpPr>
          <p:cNvPr id="30" name="Text 28"/>
          <p:cNvSpPr/>
          <p:nvPr/>
        </p:nvSpPr>
        <p:spPr>
          <a:xfrm>
            <a:off x="7516368" y="4023360"/>
            <a:ext cx="731520" cy="640080"/>
          </a:xfrm>
          <a:prstGeom prst="rect">
            <a:avLst/>
          </a:prstGeom>
          <a:noFill/>
          <a:ln/>
        </p:spPr>
        <p:txBody>
          <a:bodyPr wrap="square" lIns="0" tIns="0" rIns="0" bIns="0" rtlCol="0" anchor="ctr"/>
          <a:lstStyle/>
          <a:p>
            <a:pPr algn="r" indent="0" marL="0">
              <a:buNone/>
            </a:pPr>
            <a:r>
              <a:rPr lang="en-US" sz="1100" b="1" dirty="0">
                <a:solidFill>
                  <a:srgbClr val="667382"/>
                </a:solidFill>
                <a:latin typeface="Meiryo" pitchFamily="34" charset="0"/>
                <a:ea typeface="Meiryo" pitchFamily="34" charset="-122"/>
                <a:cs typeface="Meiryo" pitchFamily="34" charset="-120"/>
              </a:rPr>
              <a:t>10分</a:t>
            </a:r>
            <a:endParaRPr lang="en-US" sz="1100" dirty="0"/>
          </a:p>
        </p:txBody>
      </p:sp>
      <p:sp>
        <p:nvSpPr>
          <p:cNvPr id="31" name="Shape 29"/>
          <p:cNvSpPr/>
          <p:nvPr/>
        </p:nvSpPr>
        <p:spPr>
          <a:xfrm>
            <a:off x="566928" y="4773168"/>
            <a:ext cx="7772400" cy="640080"/>
          </a:xfrm>
          <a:prstGeom prst="roundRect">
            <a:avLst>
              <a:gd name="adj" fmla="val 10000"/>
            </a:avLst>
          </a:prstGeom>
          <a:solidFill>
            <a:srgbClr val="FDF1E2"/>
          </a:solidFill>
          <a:ln w="12700">
            <a:solidFill>
              <a:srgbClr val="FDF1E2"/>
            </a:solidFill>
            <a:prstDash val="solid"/>
          </a:ln>
        </p:spPr>
      </p:sp>
      <p:sp>
        <p:nvSpPr>
          <p:cNvPr id="32" name="Shape 30"/>
          <p:cNvSpPr/>
          <p:nvPr/>
        </p:nvSpPr>
        <p:spPr>
          <a:xfrm>
            <a:off x="786384" y="4901184"/>
            <a:ext cx="384048" cy="384048"/>
          </a:xfrm>
          <a:prstGeom prst="ellipse">
            <a:avLst/>
          </a:prstGeom>
          <a:solidFill>
            <a:srgbClr val="D97612"/>
          </a:solidFill>
          <a:ln w="12700">
            <a:solidFill>
              <a:srgbClr val="D97612"/>
            </a:solidFill>
            <a:prstDash val="solid"/>
          </a:ln>
        </p:spPr>
      </p:sp>
      <p:sp>
        <p:nvSpPr>
          <p:cNvPr id="33" name="Text 31"/>
          <p:cNvSpPr/>
          <p:nvPr/>
        </p:nvSpPr>
        <p:spPr>
          <a:xfrm>
            <a:off x="786384" y="490118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05</a:t>
            </a:r>
            <a:endParaRPr lang="en-US" sz="1250" dirty="0"/>
          </a:p>
        </p:txBody>
      </p:sp>
      <p:sp>
        <p:nvSpPr>
          <p:cNvPr id="34" name="Text 32"/>
          <p:cNvSpPr/>
          <p:nvPr/>
        </p:nvSpPr>
        <p:spPr>
          <a:xfrm>
            <a:off x="1316736" y="4773168"/>
            <a:ext cx="3383280" cy="640080"/>
          </a:xfrm>
          <a:prstGeom prst="rect">
            <a:avLst/>
          </a:prstGeom>
          <a:noFill/>
          <a:ln/>
        </p:spPr>
        <p:txBody>
          <a:bodyPr wrap="square" lIns="0" tIns="0" rIns="0" bIns="0" rtlCol="0" anchor="ctr"/>
          <a:lstStyle/>
          <a:p>
            <a:pPr indent="0" marL="0">
              <a:buNone/>
            </a:pPr>
            <a:r>
              <a:rPr lang="en-US" sz="1400" b="1" dirty="0">
                <a:solidFill>
                  <a:srgbClr val="A85705"/>
                </a:solidFill>
                <a:latin typeface="Meiryo" pitchFamily="34" charset="0"/>
                <a:ea typeface="Meiryo" pitchFamily="34" charset="-122"/>
                <a:cs typeface="Meiryo" pitchFamily="34" charset="-120"/>
              </a:rPr>
              <a:t>具体策のご紹介とデモ</a:t>
            </a:r>
            <a:endParaRPr lang="en-US" sz="1400" dirty="0"/>
          </a:p>
        </p:txBody>
      </p:sp>
      <p:sp>
        <p:nvSpPr>
          <p:cNvPr id="35" name="Text 33"/>
          <p:cNvSpPr/>
          <p:nvPr/>
        </p:nvSpPr>
        <p:spPr>
          <a:xfrm>
            <a:off x="4773168" y="4773168"/>
            <a:ext cx="2743200" cy="640080"/>
          </a:xfrm>
          <a:prstGeom prst="rect">
            <a:avLst/>
          </a:prstGeom>
          <a:noFill/>
          <a:ln/>
        </p:spPr>
        <p:txBody>
          <a:bodyPr wrap="square" lIns="0" tIns="0" rIns="0" bIns="0" rtlCol="0" anchor="ctr"/>
          <a:lstStyle/>
          <a:p>
            <a:pPr indent="0" marL="0">
              <a:buNone/>
            </a:pPr>
            <a:r>
              <a:rPr lang="en-US" sz="1050" dirty="0">
                <a:solidFill>
                  <a:srgbClr val="6B4A24"/>
                </a:solidFill>
                <a:latin typeface="Meiryo" pitchFamily="34" charset="0"/>
                <a:ea typeface="Meiryo" pitchFamily="34" charset="-122"/>
                <a:cs typeface="Meiryo" pitchFamily="34" charset="-120"/>
              </a:rPr>
              <a:t>業務ログをどう手に入れるか</a:t>
            </a:r>
            <a:endParaRPr lang="en-US" sz="1050" dirty="0"/>
          </a:p>
        </p:txBody>
      </p:sp>
      <p:sp>
        <p:nvSpPr>
          <p:cNvPr id="36" name="Text 34"/>
          <p:cNvSpPr/>
          <p:nvPr/>
        </p:nvSpPr>
        <p:spPr>
          <a:xfrm>
            <a:off x="7516368" y="4773168"/>
            <a:ext cx="731520" cy="640080"/>
          </a:xfrm>
          <a:prstGeom prst="rect">
            <a:avLst/>
          </a:prstGeom>
          <a:noFill/>
          <a:ln/>
        </p:spPr>
        <p:txBody>
          <a:bodyPr wrap="square" lIns="0" tIns="0" rIns="0" bIns="0" rtlCol="0" anchor="ctr"/>
          <a:lstStyle/>
          <a:p>
            <a:pPr algn="r" indent="0" marL="0">
              <a:buNone/>
            </a:pPr>
            <a:r>
              <a:rPr lang="en-US" sz="1100" b="1" dirty="0">
                <a:solidFill>
                  <a:srgbClr val="A85705"/>
                </a:solidFill>
                <a:latin typeface="Meiryo" pitchFamily="34" charset="0"/>
                <a:ea typeface="Meiryo" pitchFamily="34" charset="-122"/>
                <a:cs typeface="Meiryo" pitchFamily="34" charset="-120"/>
              </a:rPr>
              <a:t>8分</a:t>
            </a:r>
            <a:endParaRPr lang="en-US" sz="1100" dirty="0"/>
          </a:p>
        </p:txBody>
      </p:sp>
      <p:sp>
        <p:nvSpPr>
          <p:cNvPr id="37" name="Shape 35"/>
          <p:cNvSpPr/>
          <p:nvPr/>
        </p:nvSpPr>
        <p:spPr>
          <a:xfrm>
            <a:off x="8613648" y="1773936"/>
            <a:ext cx="3011119" cy="2084832"/>
          </a:xfrm>
          <a:prstGeom prst="roundRect">
            <a:avLst>
              <a:gd name="adj" fmla="val 3070"/>
            </a:avLst>
          </a:prstGeom>
          <a:solidFill>
            <a:srgbClr val="16202B"/>
          </a:solidFill>
          <a:ln w="12700">
            <a:solidFill>
              <a:srgbClr val="16202B"/>
            </a:solidFill>
            <a:prstDash val="solid"/>
          </a:ln>
        </p:spPr>
      </p:sp>
      <p:sp>
        <p:nvSpPr>
          <p:cNvPr id="38" name="Text 36"/>
          <p:cNvSpPr/>
          <p:nvPr/>
        </p:nvSpPr>
        <p:spPr>
          <a:xfrm>
            <a:off x="8887968" y="1773936"/>
            <a:ext cx="2462479" cy="2084832"/>
          </a:xfrm>
          <a:prstGeom prst="rect">
            <a:avLst/>
          </a:prstGeom>
          <a:noFill/>
          <a:ln/>
        </p:spPr>
        <p:txBody>
          <a:bodyPr wrap="square" lIns="0" tIns="0" rIns="0" bIns="0" rtlCol="0" anchor="ctr"/>
          <a:lstStyle/>
          <a:p>
            <a:pPr indent="0" marL="0">
              <a:lnSpc>
                <a:spcPts val="1900"/>
              </a:lnSpc>
              <a:buNone/>
            </a:pPr>
            <a:r>
              <a:rPr lang="en-US" sz="1700" b="1" dirty="0">
                <a:solidFill>
                  <a:srgbClr val="FFFFFF"/>
                </a:solidFill>
                <a:latin typeface="Meiryo" pitchFamily="34" charset="0"/>
                <a:ea typeface="Meiryo" pitchFamily="34" charset="-122"/>
                <a:cs typeface="Meiryo" pitchFamily="34" charset="-120"/>
              </a:rPr>
              <a:t>Q&amp;A　6分</a:t>
            </a:r>
            <a:endParaRPr lang="en-US" sz="1700" dirty="0"/>
          </a:p>
          <a:p>
            <a:pPr indent="0" marL="0">
              <a:lnSpc>
                <a:spcPts val="1900"/>
              </a:lnSpc>
              <a:buNone/>
            </a:pPr>
            <a:r>
              <a:rPr lang="en-US" sz="1100" dirty="0">
                <a:solidFill>
                  <a:srgbClr val="B9C4CF"/>
                </a:solidFill>
                <a:latin typeface="Meiryo" pitchFamily="34" charset="0"/>
                <a:ea typeface="Meiryo" pitchFamily="34" charset="-122"/>
                <a:cs typeface="Meiryo" pitchFamily="34" charset="-120"/>
              </a:rPr>
              <a:t>チャット欄のご質問に、最後にまとめてお答えします。途中でも遠慮なくどうぞ。</a:t>
            </a:r>
            <a:endParaRPr lang="en-US" sz="1700" dirty="0"/>
          </a:p>
        </p:txBody>
      </p:sp>
      <p:sp>
        <p:nvSpPr>
          <p:cNvPr id="39" name="Shape 37"/>
          <p:cNvSpPr/>
          <p:nvPr/>
        </p:nvSpPr>
        <p:spPr>
          <a:xfrm>
            <a:off x="8613648" y="4041648"/>
            <a:ext cx="3011119" cy="2139696"/>
          </a:xfrm>
          <a:prstGeom prst="roundRect">
            <a:avLst>
              <a:gd name="adj" fmla="val 2991"/>
            </a:avLst>
          </a:prstGeom>
          <a:solidFill>
            <a:srgbClr val="E3EFED"/>
          </a:solidFill>
          <a:ln w="12700">
            <a:solidFill>
              <a:srgbClr val="E3EFED"/>
            </a:solidFill>
            <a:prstDash val="solid"/>
          </a:ln>
        </p:spPr>
      </p:sp>
      <p:sp>
        <p:nvSpPr>
          <p:cNvPr id="40" name="Text 38"/>
          <p:cNvSpPr/>
          <p:nvPr/>
        </p:nvSpPr>
        <p:spPr>
          <a:xfrm>
            <a:off x="8887968" y="4041648"/>
            <a:ext cx="2462479" cy="2139696"/>
          </a:xfrm>
          <a:prstGeom prst="rect">
            <a:avLst/>
          </a:prstGeom>
          <a:noFill/>
          <a:ln/>
        </p:spPr>
        <p:txBody>
          <a:bodyPr wrap="square" lIns="0" tIns="0" rIns="0" bIns="0" rtlCol="0" anchor="ctr"/>
          <a:lstStyle/>
          <a:p>
            <a:pPr indent="0" marL="0">
              <a:lnSpc>
                <a:spcPts val="2100"/>
              </a:lnSpc>
              <a:buNone/>
            </a:pPr>
            <a:r>
              <a:rPr lang="en-US" sz="1250" b="1" dirty="0">
                <a:solidFill>
                  <a:srgbClr val="12695D"/>
                </a:solidFill>
                <a:latin typeface="Meiryo" pitchFamily="34" charset="0"/>
                <a:ea typeface="Meiryo" pitchFamily="34" charset="-122"/>
                <a:cs typeface="Meiryo" pitchFamily="34" charset="-120"/>
              </a:rPr>
              <a:t>お持ち帰りいただけるもの</a:t>
            </a:r>
            <a:endParaRPr lang="en-US" sz="1250" dirty="0"/>
          </a:p>
          <a:p>
            <a:pPr indent="0" marL="0">
              <a:lnSpc>
                <a:spcPts val="2100"/>
              </a:lnSpc>
              <a:buNone/>
            </a:pPr>
            <a:r>
              <a:rPr lang="en-US" sz="1100" dirty="0">
                <a:solidFill>
                  <a:srgbClr val="1B2733"/>
                </a:solidFill>
                <a:latin typeface="Meiryo" pitchFamily="34" charset="0"/>
                <a:ea typeface="Meiryo" pitchFamily="34" charset="-122"/>
                <a:cs typeface="Meiryo" pitchFamily="34" charset="-120"/>
              </a:rPr>
              <a:t>・本日の投影資料（PDF）</a:t>
            </a:r>
            <a:endParaRPr lang="en-US" sz="1250" dirty="0"/>
          </a:p>
          <a:p>
            <a:pPr indent="0" marL="0">
              <a:lnSpc>
                <a:spcPts val="2100"/>
              </a:lnSpc>
              <a:buNone/>
            </a:pPr>
            <a:r>
              <a:rPr lang="en-US" sz="1100" dirty="0">
                <a:solidFill>
                  <a:srgbClr val="1B2733"/>
                </a:solidFill>
                <a:latin typeface="Meiryo" pitchFamily="34" charset="0"/>
                <a:ea typeface="Meiryo" pitchFamily="34" charset="-122"/>
                <a:cs typeface="Meiryo" pitchFamily="34" charset="-120"/>
              </a:rPr>
              <a:t>・アーカイブ動画</a:t>
            </a:r>
            <a:endParaRPr lang="en-US" sz="1250" dirty="0"/>
          </a:p>
          <a:p>
            <a:pPr indent="0" marL="0">
              <a:lnSpc>
                <a:spcPts val="2100"/>
              </a:lnSpc>
              <a:buNone/>
            </a:pPr>
            <a:r>
              <a:rPr lang="en-US" sz="1100" dirty="0">
                <a:solidFill>
                  <a:srgbClr val="1B2733"/>
                </a:solidFill>
                <a:latin typeface="Meiryo" pitchFamily="34" charset="0"/>
                <a:ea typeface="Meiryo" pitchFamily="34" charset="-122"/>
                <a:cs typeface="Meiryo" pitchFamily="34" charset="-120"/>
              </a:rPr>
              <a:t>・4週間スタート用チェックリスト</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HOW IT WORKS</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このセミナーの前提と、進め方</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どなたに向けて、どのように話すかを先に共有しておきます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4</a:t>
            </a:r>
            <a:endParaRPr lang="en-US" sz="850" dirty="0"/>
          </a:p>
        </p:txBody>
      </p:sp>
      <p:sp>
        <p:nvSpPr>
          <p:cNvPr id="7" name="Shape 5"/>
          <p:cNvSpPr/>
          <p:nvPr/>
        </p:nvSpPr>
        <p:spPr>
          <a:xfrm>
            <a:off x="566928" y="1828800"/>
            <a:ext cx="7040880" cy="786384"/>
          </a:xfrm>
          <a:prstGeom prst="roundRect">
            <a:avLst>
              <a:gd name="adj" fmla="val 8140"/>
            </a:avLst>
          </a:prstGeom>
          <a:solidFill>
            <a:srgbClr val="F2F4F6"/>
          </a:solidFill>
          <a:ln w="12700">
            <a:solidFill>
              <a:srgbClr val="F2F4F6"/>
            </a:solidFill>
            <a:prstDash val="solid"/>
          </a:ln>
        </p:spPr>
      </p:sp>
      <p:sp>
        <p:nvSpPr>
          <p:cNvPr id="8" name="Text 6"/>
          <p:cNvSpPr/>
          <p:nvPr/>
        </p:nvSpPr>
        <p:spPr>
          <a:xfrm>
            <a:off x="841248" y="1828800"/>
            <a:ext cx="1371600" cy="786384"/>
          </a:xfrm>
          <a:prstGeom prst="rect">
            <a:avLst/>
          </a:prstGeom>
          <a:noFill/>
          <a:ln/>
        </p:spPr>
        <p:txBody>
          <a:bodyPr wrap="square" lIns="0" tIns="0" rIns="0" bIns="0" rtlCol="0" anchor="ctr"/>
          <a:lstStyle/>
          <a:p>
            <a:pPr indent="0" marL="0">
              <a:buNone/>
            </a:pPr>
            <a:r>
              <a:rPr lang="en-US" sz="1350" b="1" dirty="0">
                <a:solidFill>
                  <a:srgbClr val="A85705"/>
                </a:solidFill>
                <a:latin typeface="Meiryo" pitchFamily="34" charset="0"/>
                <a:ea typeface="Meiryo" pitchFamily="34" charset="-122"/>
                <a:cs typeface="Meiryo" pitchFamily="34" charset="-120"/>
              </a:rPr>
              <a:t>対象</a:t>
            </a:r>
            <a:endParaRPr lang="en-US" sz="1350" dirty="0"/>
          </a:p>
        </p:txBody>
      </p:sp>
      <p:sp>
        <p:nvSpPr>
          <p:cNvPr id="9" name="Text 7"/>
          <p:cNvSpPr/>
          <p:nvPr/>
        </p:nvSpPr>
        <p:spPr>
          <a:xfrm>
            <a:off x="2304288" y="1828800"/>
            <a:ext cx="5120640" cy="786384"/>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経営企画・管理部門・情報システム・経営者の方。エンジニアでない方を前提に話します。</a:t>
            </a:r>
            <a:endParaRPr lang="en-US" sz="1200" dirty="0"/>
          </a:p>
        </p:txBody>
      </p:sp>
      <p:sp>
        <p:nvSpPr>
          <p:cNvPr id="10" name="Shape 8"/>
          <p:cNvSpPr/>
          <p:nvPr/>
        </p:nvSpPr>
        <p:spPr>
          <a:xfrm>
            <a:off x="566928" y="2743200"/>
            <a:ext cx="7040880" cy="786384"/>
          </a:xfrm>
          <a:prstGeom prst="roundRect">
            <a:avLst>
              <a:gd name="adj" fmla="val 8140"/>
            </a:avLst>
          </a:prstGeom>
          <a:solidFill>
            <a:srgbClr val="FFFFFF"/>
          </a:solidFill>
          <a:ln w="12700">
            <a:solidFill>
              <a:srgbClr val="E4E9ED"/>
            </a:solidFill>
            <a:prstDash val="solid"/>
          </a:ln>
        </p:spPr>
      </p:sp>
      <p:sp>
        <p:nvSpPr>
          <p:cNvPr id="11" name="Text 9"/>
          <p:cNvSpPr/>
          <p:nvPr/>
        </p:nvSpPr>
        <p:spPr>
          <a:xfrm>
            <a:off x="841248" y="2743200"/>
            <a:ext cx="1371600" cy="786384"/>
          </a:xfrm>
          <a:prstGeom prst="rect">
            <a:avLst/>
          </a:prstGeom>
          <a:noFill/>
          <a:ln/>
        </p:spPr>
        <p:txBody>
          <a:bodyPr wrap="square" lIns="0" tIns="0" rIns="0" bIns="0" rtlCol="0" anchor="ctr"/>
          <a:lstStyle/>
          <a:p>
            <a:pPr indent="0" marL="0">
              <a:buNone/>
            </a:pPr>
            <a:r>
              <a:rPr lang="en-US" sz="1350" b="1" dirty="0">
                <a:solidFill>
                  <a:srgbClr val="A85705"/>
                </a:solidFill>
                <a:latin typeface="Meiryo" pitchFamily="34" charset="0"/>
                <a:ea typeface="Meiryo" pitchFamily="34" charset="-122"/>
                <a:cs typeface="Meiryo" pitchFamily="34" charset="-120"/>
              </a:rPr>
              <a:t>前提知識</a:t>
            </a:r>
            <a:endParaRPr lang="en-US" sz="1350" dirty="0"/>
          </a:p>
        </p:txBody>
      </p:sp>
      <p:sp>
        <p:nvSpPr>
          <p:cNvPr id="12" name="Text 10"/>
          <p:cNvSpPr/>
          <p:nvPr/>
        </p:nvSpPr>
        <p:spPr>
          <a:xfrm>
            <a:off x="2304288" y="2743200"/>
            <a:ext cx="5120640" cy="786384"/>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不要です。専門用語が出たら、その場で日常のことばに言い換えます。</a:t>
            </a:r>
            <a:endParaRPr lang="en-US" sz="1200" dirty="0"/>
          </a:p>
        </p:txBody>
      </p:sp>
      <p:sp>
        <p:nvSpPr>
          <p:cNvPr id="13" name="Shape 11"/>
          <p:cNvSpPr/>
          <p:nvPr/>
        </p:nvSpPr>
        <p:spPr>
          <a:xfrm>
            <a:off x="566928" y="3657600"/>
            <a:ext cx="7040880" cy="786384"/>
          </a:xfrm>
          <a:prstGeom prst="roundRect">
            <a:avLst>
              <a:gd name="adj" fmla="val 8140"/>
            </a:avLst>
          </a:prstGeom>
          <a:solidFill>
            <a:srgbClr val="F2F4F6"/>
          </a:solidFill>
          <a:ln w="12700">
            <a:solidFill>
              <a:srgbClr val="F2F4F6"/>
            </a:solidFill>
            <a:prstDash val="solid"/>
          </a:ln>
        </p:spPr>
      </p:sp>
      <p:sp>
        <p:nvSpPr>
          <p:cNvPr id="14" name="Text 12"/>
          <p:cNvSpPr/>
          <p:nvPr/>
        </p:nvSpPr>
        <p:spPr>
          <a:xfrm>
            <a:off x="841248" y="3657600"/>
            <a:ext cx="1371600" cy="786384"/>
          </a:xfrm>
          <a:prstGeom prst="rect">
            <a:avLst/>
          </a:prstGeom>
          <a:noFill/>
          <a:ln/>
        </p:spPr>
        <p:txBody>
          <a:bodyPr wrap="square" lIns="0" tIns="0" rIns="0" bIns="0" rtlCol="0" anchor="ctr"/>
          <a:lstStyle/>
          <a:p>
            <a:pPr indent="0" marL="0">
              <a:buNone/>
            </a:pPr>
            <a:r>
              <a:rPr lang="en-US" sz="1350" b="1" dirty="0">
                <a:solidFill>
                  <a:srgbClr val="A85705"/>
                </a:solidFill>
                <a:latin typeface="Meiryo" pitchFamily="34" charset="0"/>
                <a:ea typeface="Meiryo" pitchFamily="34" charset="-122"/>
                <a:cs typeface="Meiryo" pitchFamily="34" charset="-120"/>
              </a:rPr>
              <a:t>ご質問</a:t>
            </a:r>
            <a:endParaRPr lang="en-US" sz="1350" dirty="0"/>
          </a:p>
        </p:txBody>
      </p:sp>
      <p:sp>
        <p:nvSpPr>
          <p:cNvPr id="15" name="Text 13"/>
          <p:cNvSpPr/>
          <p:nvPr/>
        </p:nvSpPr>
        <p:spPr>
          <a:xfrm>
            <a:off x="2304288" y="3657600"/>
            <a:ext cx="5120640" cy="786384"/>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チャット欄へいつでもどうぞ。第5部のあとにまとめてお答えします。</a:t>
            </a:r>
            <a:endParaRPr lang="en-US" sz="1200" dirty="0"/>
          </a:p>
        </p:txBody>
      </p:sp>
      <p:sp>
        <p:nvSpPr>
          <p:cNvPr id="16" name="Shape 14"/>
          <p:cNvSpPr/>
          <p:nvPr/>
        </p:nvSpPr>
        <p:spPr>
          <a:xfrm>
            <a:off x="566928" y="4572000"/>
            <a:ext cx="7040880" cy="786384"/>
          </a:xfrm>
          <a:prstGeom prst="roundRect">
            <a:avLst>
              <a:gd name="adj" fmla="val 8140"/>
            </a:avLst>
          </a:prstGeom>
          <a:solidFill>
            <a:srgbClr val="FFFFFF"/>
          </a:solidFill>
          <a:ln w="12700">
            <a:solidFill>
              <a:srgbClr val="E4E9ED"/>
            </a:solidFill>
            <a:prstDash val="solid"/>
          </a:ln>
        </p:spPr>
      </p:sp>
      <p:sp>
        <p:nvSpPr>
          <p:cNvPr id="17" name="Text 15"/>
          <p:cNvSpPr/>
          <p:nvPr/>
        </p:nvSpPr>
        <p:spPr>
          <a:xfrm>
            <a:off x="841248" y="4572000"/>
            <a:ext cx="1371600" cy="786384"/>
          </a:xfrm>
          <a:prstGeom prst="rect">
            <a:avLst/>
          </a:prstGeom>
          <a:noFill/>
          <a:ln/>
        </p:spPr>
        <p:txBody>
          <a:bodyPr wrap="square" lIns="0" tIns="0" rIns="0" bIns="0" rtlCol="0" anchor="ctr"/>
          <a:lstStyle/>
          <a:p>
            <a:pPr indent="0" marL="0">
              <a:buNone/>
            </a:pPr>
            <a:r>
              <a:rPr lang="en-US" sz="1350" b="1" dirty="0">
                <a:solidFill>
                  <a:srgbClr val="A85705"/>
                </a:solidFill>
                <a:latin typeface="Meiryo" pitchFamily="34" charset="0"/>
                <a:ea typeface="Meiryo" pitchFamily="34" charset="-122"/>
                <a:cs typeface="Meiryo" pitchFamily="34" charset="-120"/>
              </a:rPr>
              <a:t>録画</a:t>
            </a:r>
            <a:endParaRPr lang="en-US" sz="1350" dirty="0"/>
          </a:p>
        </p:txBody>
      </p:sp>
      <p:sp>
        <p:nvSpPr>
          <p:cNvPr id="18" name="Text 16"/>
          <p:cNvSpPr/>
          <p:nvPr/>
        </p:nvSpPr>
        <p:spPr>
          <a:xfrm>
            <a:off x="2304288" y="4572000"/>
            <a:ext cx="5120640" cy="786384"/>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アーカイブを配信します。当日途中で抜けられても後から追いつけます。</a:t>
            </a:r>
            <a:endParaRPr lang="en-US" sz="1200" dirty="0"/>
          </a:p>
        </p:txBody>
      </p:sp>
      <p:sp>
        <p:nvSpPr>
          <p:cNvPr id="19" name="Shape 17"/>
          <p:cNvSpPr/>
          <p:nvPr/>
        </p:nvSpPr>
        <p:spPr>
          <a:xfrm>
            <a:off x="7882128" y="1828800"/>
            <a:ext cx="3742639" cy="3529584"/>
          </a:xfrm>
          <a:prstGeom prst="roundRect">
            <a:avLst>
              <a:gd name="adj" fmla="val 1813"/>
            </a:avLst>
          </a:prstGeom>
          <a:solidFill>
            <a:srgbClr val="16202B"/>
          </a:solidFill>
          <a:ln w="12700">
            <a:solidFill>
              <a:srgbClr val="16202B"/>
            </a:solidFill>
            <a:prstDash val="solid"/>
          </a:ln>
        </p:spPr>
      </p:sp>
      <p:sp>
        <p:nvSpPr>
          <p:cNvPr id="20" name="Text 18"/>
          <p:cNvSpPr/>
          <p:nvPr/>
        </p:nvSpPr>
        <p:spPr>
          <a:xfrm>
            <a:off x="8174736" y="2103120"/>
            <a:ext cx="3157423" cy="822960"/>
          </a:xfrm>
          <a:prstGeom prst="rect">
            <a:avLst/>
          </a:prstGeom>
          <a:noFill/>
          <a:ln/>
        </p:spPr>
        <p:txBody>
          <a:bodyPr wrap="square" lIns="0" tIns="0" rIns="0" bIns="0" rtlCol="0" anchor="t"/>
          <a:lstStyle/>
          <a:p>
            <a:pPr indent="0" marL="0">
              <a:lnSpc>
                <a:spcPts val="2200"/>
              </a:lnSpc>
              <a:buNone/>
            </a:pPr>
            <a:r>
              <a:rPr lang="en-US" sz="1300" b="1" dirty="0">
                <a:solidFill>
                  <a:srgbClr val="D97612"/>
                </a:solidFill>
                <a:latin typeface="Meiryo" pitchFamily="34" charset="0"/>
                <a:ea typeface="Meiryo" pitchFamily="34" charset="-122"/>
                <a:cs typeface="Meiryo" pitchFamily="34" charset="-120"/>
              </a:rPr>
              <a:t>本日いちばん</a:t>
            </a:r>
            <a:endParaRPr lang="en-US" sz="1300" dirty="0"/>
          </a:p>
          <a:p>
            <a:pPr indent="0" marL="0">
              <a:lnSpc>
                <a:spcPts val="2200"/>
              </a:lnSpc>
              <a:buNone/>
            </a:pPr>
            <a:r>
              <a:rPr lang="en-US" sz="1300" b="1" dirty="0">
                <a:solidFill>
                  <a:srgbClr val="D97612"/>
                </a:solidFill>
                <a:latin typeface="Meiryo" pitchFamily="34" charset="0"/>
                <a:ea typeface="Meiryo" pitchFamily="34" charset="-122"/>
                <a:cs typeface="Meiryo" pitchFamily="34" charset="-120"/>
              </a:rPr>
              <a:t>お伝えしたいこと</a:t>
            </a:r>
            <a:endParaRPr lang="en-US" sz="1300" dirty="0"/>
          </a:p>
        </p:txBody>
      </p:sp>
      <p:sp>
        <p:nvSpPr>
          <p:cNvPr id="21" name="Text 19"/>
          <p:cNvSpPr/>
          <p:nvPr/>
        </p:nvSpPr>
        <p:spPr>
          <a:xfrm>
            <a:off x="8174736" y="3035808"/>
            <a:ext cx="3157423" cy="1463040"/>
          </a:xfrm>
          <a:prstGeom prst="rect">
            <a:avLst/>
          </a:prstGeom>
          <a:noFill/>
          <a:ln/>
        </p:spPr>
        <p:txBody>
          <a:bodyPr wrap="square" lIns="0" tIns="0" rIns="0" bIns="0" rtlCol="0" anchor="t"/>
          <a:lstStyle/>
          <a:p>
            <a:pPr indent="0" marL="0">
              <a:lnSpc>
                <a:spcPts val="3200"/>
              </a:lnSpc>
              <a:buNone/>
            </a:pPr>
            <a:r>
              <a:rPr lang="en-US" sz="2100" b="1" dirty="0">
                <a:solidFill>
                  <a:srgbClr val="FFFFFF"/>
                </a:solidFill>
                <a:latin typeface="Meiryo" pitchFamily="34" charset="0"/>
                <a:ea typeface="Meiryo" pitchFamily="34" charset="-122"/>
                <a:cs typeface="Meiryo" pitchFamily="34" charset="-120"/>
              </a:rPr>
              <a:t>AIの成果は</a:t>
            </a:r>
            <a:endParaRPr lang="en-US" sz="2100" dirty="0"/>
          </a:p>
          <a:p>
            <a:pPr indent="0" marL="0">
              <a:lnSpc>
                <a:spcPts val="3200"/>
              </a:lnSpc>
              <a:buNone/>
            </a:pPr>
            <a:r>
              <a:rPr lang="en-US" sz="2100" b="1" dirty="0">
                <a:solidFill>
                  <a:srgbClr val="FFFFFF"/>
                </a:solidFill>
                <a:latin typeface="Meiryo" pitchFamily="34" charset="0"/>
                <a:ea typeface="Meiryo" pitchFamily="34" charset="-122"/>
                <a:cs typeface="Meiryo" pitchFamily="34" charset="-120"/>
              </a:rPr>
              <a:t>「頭脳」ではなく</a:t>
            </a:r>
            <a:endParaRPr lang="en-US" sz="2100" dirty="0"/>
          </a:p>
          <a:p>
            <a:pPr indent="0" marL="0">
              <a:lnSpc>
                <a:spcPts val="3200"/>
              </a:lnSpc>
              <a:buNone/>
            </a:pPr>
            <a:r>
              <a:rPr lang="en-US" sz="2100" b="1" dirty="0">
                <a:solidFill>
                  <a:srgbClr val="FFFFFF"/>
                </a:solidFill>
                <a:latin typeface="Meiryo" pitchFamily="34" charset="0"/>
                <a:ea typeface="Meiryo" pitchFamily="34" charset="-122"/>
                <a:cs typeface="Meiryo" pitchFamily="34" charset="-120"/>
              </a:rPr>
              <a:t>「記録」で決まる。</a:t>
            </a:r>
            <a:endParaRPr lang="en-US" sz="2100" dirty="0"/>
          </a:p>
        </p:txBody>
      </p:sp>
      <p:sp>
        <p:nvSpPr>
          <p:cNvPr id="22" name="Text 20"/>
          <p:cNvSpPr/>
          <p:nvPr/>
        </p:nvSpPr>
        <p:spPr>
          <a:xfrm>
            <a:off x="8174736" y="4626864"/>
            <a:ext cx="3157423" cy="548640"/>
          </a:xfrm>
          <a:prstGeom prst="rect">
            <a:avLst/>
          </a:prstGeom>
          <a:noFill/>
          <a:ln/>
        </p:spPr>
        <p:txBody>
          <a:bodyPr wrap="square" lIns="0" tIns="0" rIns="0" bIns="0" rtlCol="0" anchor="t"/>
          <a:lstStyle/>
          <a:p>
            <a:pPr indent="0" marL="0">
              <a:lnSpc>
                <a:spcPts val="1800"/>
              </a:lnSpc>
              <a:buNone/>
            </a:pPr>
            <a:r>
              <a:rPr lang="en-US" sz="1100" dirty="0">
                <a:solidFill>
                  <a:srgbClr val="B9C4CF"/>
                </a:solidFill>
                <a:latin typeface="Meiryo" pitchFamily="34" charset="0"/>
                <a:ea typeface="Meiryo" pitchFamily="34" charset="-122"/>
                <a:cs typeface="Meiryo" pitchFamily="34" charset="-120"/>
              </a:rPr>
              <a:t>この1行を、60分かけて説明します。</a:t>
            </a:r>
            <a:endParaRPr lang="en-US" sz="1100" dirty="0"/>
          </a:p>
        </p:txBody>
      </p:sp>
      <p:sp>
        <p:nvSpPr>
          <p:cNvPr id="23" name="Shape 21"/>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24" name="Shape 22"/>
          <p:cNvSpPr/>
          <p:nvPr/>
        </p:nvSpPr>
        <p:spPr>
          <a:xfrm>
            <a:off x="804672" y="5760720"/>
            <a:ext cx="219456" cy="219456"/>
          </a:xfrm>
          <a:prstGeom prst="ellipse">
            <a:avLst/>
          </a:prstGeom>
          <a:solidFill>
            <a:srgbClr val="12695D"/>
          </a:solidFill>
          <a:ln w="12700">
            <a:solidFill>
              <a:srgbClr val="12695D"/>
            </a:solidFill>
            <a:prstDash val="solid"/>
          </a:ln>
        </p:spPr>
      </p:sp>
      <p:sp>
        <p:nvSpPr>
          <p:cNvPr id="25" name="Text 23"/>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この60分は「ツールの使い方講座」ではありません。何を整えれば成果につながるのか、という順番の話をします。</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Text 1"/>
          <p:cNvSpPr/>
          <p:nvPr/>
        </p:nvSpPr>
        <p:spPr>
          <a:xfrm>
            <a:off x="8332927" y="1280160"/>
            <a:ext cx="3291840" cy="4023360"/>
          </a:xfrm>
          <a:prstGeom prst="rect">
            <a:avLst/>
          </a:prstGeom>
          <a:noFill/>
          <a:ln/>
        </p:spPr>
        <p:txBody>
          <a:bodyPr wrap="square" lIns="0" tIns="0" rIns="0" bIns="0" rtlCol="0" anchor="ctr"/>
          <a:lstStyle/>
          <a:p>
            <a:pPr algn="r" indent="0" marL="0">
              <a:buNone/>
            </a:pPr>
            <a:r>
              <a:rPr lang="en-US" sz="20000" b="1" dirty="0">
                <a:solidFill>
                  <a:srgbClr val="223140"/>
                </a:solidFill>
                <a:latin typeface="Meiryo" pitchFamily="34" charset="0"/>
                <a:ea typeface="Meiryo" pitchFamily="34" charset="-122"/>
                <a:cs typeface="Meiryo" pitchFamily="34" charset="-120"/>
              </a:rPr>
              <a:t>01</a:t>
            </a:r>
            <a:endParaRPr lang="en-US" sz="20000" dirty="0"/>
          </a:p>
        </p:txBody>
      </p:sp>
      <p:sp>
        <p:nvSpPr>
          <p:cNvPr id="4" name="Shape 2"/>
          <p:cNvSpPr/>
          <p:nvPr/>
        </p:nvSpPr>
        <p:spPr>
          <a:xfrm>
            <a:off x="566928" y="2103120"/>
            <a:ext cx="713232" cy="713232"/>
          </a:xfrm>
          <a:prstGeom prst="ellipse">
            <a:avLst/>
          </a:prstGeom>
          <a:solidFill>
            <a:srgbClr val="D97612"/>
          </a:solidFill>
          <a:ln w="12700">
            <a:solidFill>
              <a:srgbClr val="D97612"/>
            </a:solidFill>
            <a:prstDash val="solid"/>
          </a:ln>
        </p:spPr>
      </p:sp>
      <p:sp>
        <p:nvSpPr>
          <p:cNvPr id="5" name="Text 3"/>
          <p:cNvSpPr/>
          <p:nvPr/>
        </p:nvSpPr>
        <p:spPr>
          <a:xfrm>
            <a:off x="566928" y="2103120"/>
            <a:ext cx="713232"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6" name="Text 4"/>
          <p:cNvSpPr/>
          <p:nvPr/>
        </p:nvSpPr>
        <p:spPr>
          <a:xfrm>
            <a:off x="1536192" y="2103120"/>
            <a:ext cx="3657600" cy="237744"/>
          </a:xfrm>
          <a:prstGeom prst="rect">
            <a:avLst/>
          </a:prstGeom>
          <a:noFill/>
          <a:ln/>
        </p:spPr>
        <p:txBody>
          <a:bodyPr wrap="square" lIns="0" tIns="0" rIns="0" bIns="0" rtlCol="0" anchor="ctr"/>
          <a:lstStyle/>
          <a:p>
            <a:pPr indent="0" marL="0">
              <a:buNone/>
            </a:pPr>
            <a:r>
              <a:rPr lang="en-US" sz="1000" b="1" spc="200" kern="0" dirty="0">
                <a:solidFill>
                  <a:srgbClr val="D97612"/>
                </a:solidFill>
                <a:latin typeface="Meiryo" pitchFamily="34" charset="0"/>
                <a:ea typeface="Meiryo" pitchFamily="34" charset="-122"/>
                <a:cs typeface="Meiryo" pitchFamily="34" charset="-120"/>
              </a:rPr>
              <a:t>SECTION</a:t>
            </a:r>
            <a:endParaRPr lang="en-US" sz="1000" dirty="0"/>
          </a:p>
        </p:txBody>
      </p:sp>
      <p:sp>
        <p:nvSpPr>
          <p:cNvPr id="7" name="Text 5"/>
          <p:cNvSpPr/>
          <p:nvPr/>
        </p:nvSpPr>
        <p:spPr>
          <a:xfrm>
            <a:off x="1536192" y="2359152"/>
            <a:ext cx="10088575"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いまAI活用で起きていること</a:t>
            </a:r>
            <a:endParaRPr lang="en-US" sz="3200" dirty="0"/>
          </a:p>
        </p:txBody>
      </p:sp>
      <p:sp>
        <p:nvSpPr>
          <p:cNvPr id="8" name="Text 6"/>
          <p:cNvSpPr/>
          <p:nvPr/>
        </p:nvSpPr>
        <p:spPr>
          <a:xfrm>
            <a:off x="1536192" y="3054096"/>
            <a:ext cx="9594799" cy="384048"/>
          </a:xfrm>
          <a:prstGeom prst="rect">
            <a:avLst/>
          </a:prstGeom>
          <a:noFill/>
          <a:ln/>
        </p:spPr>
        <p:txBody>
          <a:bodyPr wrap="square" lIns="0" tIns="0" rIns="0" bIns="0" rtlCol="0" anchor="ctr"/>
          <a:lstStyle/>
          <a:p>
            <a:pPr indent="0" marL="0">
              <a:buNone/>
            </a:pPr>
            <a:r>
              <a:rPr lang="en-US" sz="1400" dirty="0">
                <a:solidFill>
                  <a:srgbClr val="B9C4CF"/>
                </a:solidFill>
                <a:latin typeface="Meiryo" pitchFamily="34" charset="0"/>
                <a:ea typeface="Meiryo" pitchFamily="34" charset="-122"/>
                <a:cs typeface="Meiryo" pitchFamily="34" charset="-120"/>
              </a:rPr>
              <a:t>「入れたのに変わらない」の正体を、3つに分けて整理します</a:t>
            </a:r>
            <a:endParaRPr lang="en-US" sz="1400" dirty="0"/>
          </a:p>
        </p:txBody>
      </p:sp>
      <p:sp>
        <p:nvSpPr>
          <p:cNvPr id="9" name="Shape 7"/>
          <p:cNvSpPr/>
          <p:nvPr/>
        </p:nvSpPr>
        <p:spPr>
          <a:xfrm>
            <a:off x="1536192" y="3675888"/>
            <a:ext cx="5852160" cy="566928"/>
          </a:xfrm>
          <a:prstGeom prst="roundRect">
            <a:avLst>
              <a:gd name="adj" fmla="val 11290"/>
            </a:avLst>
          </a:prstGeom>
          <a:solidFill>
            <a:srgbClr val="223140"/>
          </a:solidFill>
          <a:ln w="12700">
            <a:solidFill>
              <a:srgbClr val="223140"/>
            </a:solidFill>
            <a:prstDash val="solid"/>
          </a:ln>
        </p:spPr>
      </p:sp>
      <p:sp>
        <p:nvSpPr>
          <p:cNvPr id="10" name="Text 8"/>
          <p:cNvSpPr/>
          <p:nvPr/>
        </p:nvSpPr>
        <p:spPr>
          <a:xfrm>
            <a:off x="1719072" y="3675888"/>
            <a:ext cx="5486400" cy="566928"/>
          </a:xfrm>
          <a:prstGeom prst="rect">
            <a:avLst/>
          </a:prstGeom>
          <a:noFill/>
          <a:ln/>
        </p:spPr>
        <p:txBody>
          <a:bodyPr wrap="square" lIns="0" tIns="0" rIns="0" bIns="0" rtlCol="0" anchor="ctr"/>
          <a:lstStyle/>
          <a:p>
            <a:pPr indent="0" marL="0">
              <a:buNone/>
            </a:pPr>
            <a:r>
              <a:rPr lang="en-US" sz="1150" dirty="0">
                <a:solidFill>
                  <a:srgbClr val="E4E9ED"/>
                </a:solidFill>
                <a:latin typeface="Meiryo" pitchFamily="34" charset="0"/>
                <a:ea typeface="Meiryo" pitchFamily="34" charset="-122"/>
                <a:cs typeface="Meiryo" pitchFamily="34" charset="-120"/>
              </a:rPr>
              <a:t>この部では当社サービスの話はしません。一般論として整理します。</a:t>
            </a:r>
            <a:endParaRPr lang="en-US" sz="1150" dirty="0"/>
          </a:p>
        </p:txBody>
      </p:sp>
      <p:sp>
        <p:nvSpPr>
          <p:cNvPr id="11" name="Text 9"/>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6B7684"/>
                </a:solidFill>
                <a:latin typeface="Meiryo" pitchFamily="34" charset="0"/>
                <a:ea typeface="Meiryo" pitchFamily="34" charset="-122"/>
                <a:cs typeface="Meiryo"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01</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「導入した」は増えました。「成果が出た」は増えていません</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現場で実際に聞く声と、その裏で起きていること</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6</a:t>
            </a:r>
            <a:endParaRPr lang="en-US" sz="850" dirty="0"/>
          </a:p>
        </p:txBody>
      </p:sp>
      <p:sp>
        <p:nvSpPr>
          <p:cNvPr id="7" name="Shape 5"/>
          <p:cNvSpPr/>
          <p:nvPr/>
        </p:nvSpPr>
        <p:spPr>
          <a:xfrm>
            <a:off x="566928" y="1719072"/>
            <a:ext cx="5349240" cy="3639312"/>
          </a:xfrm>
          <a:prstGeom prst="roundRect">
            <a:avLst>
              <a:gd name="adj" fmla="val 1759"/>
            </a:avLst>
          </a:prstGeom>
          <a:solidFill>
            <a:srgbClr val="F2F4F6"/>
          </a:solidFill>
          <a:ln w="12700">
            <a:solidFill>
              <a:srgbClr val="F2F4F6"/>
            </a:solidFill>
            <a:prstDash val="solid"/>
          </a:ln>
        </p:spPr>
      </p:sp>
      <p:sp>
        <p:nvSpPr>
          <p:cNvPr id="8" name="Text 6"/>
          <p:cNvSpPr/>
          <p:nvPr/>
        </p:nvSpPr>
        <p:spPr>
          <a:xfrm>
            <a:off x="877824" y="1901952"/>
            <a:ext cx="4754880" cy="365760"/>
          </a:xfrm>
          <a:prstGeom prst="rect">
            <a:avLst/>
          </a:prstGeom>
          <a:noFill/>
          <a:ln/>
        </p:spPr>
        <p:txBody>
          <a:bodyPr wrap="square" lIns="0" tIns="0" rIns="0" bIns="0" rtlCol="0" anchor="ctr"/>
          <a:lstStyle/>
          <a:p>
            <a:pPr indent="0" marL="0">
              <a:buNone/>
            </a:pPr>
            <a:r>
              <a:rPr lang="en-US" sz="1400" b="1" dirty="0">
                <a:solidFill>
                  <a:srgbClr val="667382"/>
                </a:solidFill>
                <a:latin typeface="Meiryo" pitchFamily="34" charset="0"/>
                <a:ea typeface="Meiryo" pitchFamily="34" charset="-122"/>
                <a:cs typeface="Meiryo" pitchFamily="34" charset="-120"/>
              </a:rPr>
              <a:t>よく聞くお声</a:t>
            </a:r>
            <a:endParaRPr lang="en-US" sz="1400" dirty="0"/>
          </a:p>
        </p:txBody>
      </p:sp>
      <p:sp>
        <p:nvSpPr>
          <p:cNvPr id="9" name="Text 7"/>
          <p:cNvSpPr/>
          <p:nvPr/>
        </p:nvSpPr>
        <p:spPr>
          <a:xfrm>
            <a:off x="877824" y="2395728"/>
            <a:ext cx="4754880" cy="566928"/>
          </a:xfrm>
          <a:prstGeom prst="rect">
            <a:avLst/>
          </a:prstGeom>
          <a:noFill/>
          <a:ln/>
        </p:spPr>
        <p:txBody>
          <a:bodyPr wrap="square" lIns="0" tIns="0" rIns="0" bIns="0" rtlCol="0" anchor="ctr"/>
          <a:lstStyle/>
          <a:p>
            <a:pPr indent="0" marL="0">
              <a:buNone/>
            </a:pPr>
            <a:r>
              <a:rPr lang="en-US" sz="1300" i="1" dirty="0">
                <a:solidFill>
                  <a:srgbClr val="1B2733"/>
                </a:solidFill>
                <a:latin typeface="Meiryo" pitchFamily="34" charset="0"/>
                <a:ea typeface="Meiryo" pitchFamily="34" charset="-122"/>
                <a:cs typeface="Meiryo" pitchFamily="34" charset="-120"/>
              </a:rPr>
              <a:t>「全社でアカウントは契約しました」</a:t>
            </a:r>
            <a:endParaRPr lang="en-US" sz="1300" dirty="0"/>
          </a:p>
        </p:txBody>
      </p:sp>
      <p:sp>
        <p:nvSpPr>
          <p:cNvPr id="10" name="Shape 8"/>
          <p:cNvSpPr/>
          <p:nvPr/>
        </p:nvSpPr>
        <p:spPr>
          <a:xfrm>
            <a:off x="877824" y="2999232"/>
            <a:ext cx="4754880" cy="0"/>
          </a:xfrm>
          <a:prstGeom prst="line">
            <a:avLst/>
          </a:prstGeom>
          <a:noFill/>
          <a:ln w="12700">
            <a:solidFill>
              <a:srgbClr val="E4E9ED"/>
            </a:solidFill>
            <a:prstDash val="solid"/>
          </a:ln>
        </p:spPr>
      </p:sp>
      <p:sp>
        <p:nvSpPr>
          <p:cNvPr id="11" name="Text 9"/>
          <p:cNvSpPr/>
          <p:nvPr/>
        </p:nvSpPr>
        <p:spPr>
          <a:xfrm>
            <a:off x="877824" y="3090672"/>
            <a:ext cx="4754880" cy="566928"/>
          </a:xfrm>
          <a:prstGeom prst="rect">
            <a:avLst/>
          </a:prstGeom>
          <a:noFill/>
          <a:ln/>
        </p:spPr>
        <p:txBody>
          <a:bodyPr wrap="square" lIns="0" tIns="0" rIns="0" bIns="0" rtlCol="0" anchor="ctr"/>
          <a:lstStyle/>
          <a:p>
            <a:pPr indent="0" marL="0">
              <a:buNone/>
            </a:pPr>
            <a:r>
              <a:rPr lang="en-US" sz="1300" i="1" dirty="0">
                <a:solidFill>
                  <a:srgbClr val="1B2733"/>
                </a:solidFill>
                <a:latin typeface="Meiryo" pitchFamily="34" charset="0"/>
                <a:ea typeface="Meiryo" pitchFamily="34" charset="-122"/>
                <a:cs typeface="Meiryo" pitchFamily="34" charset="-120"/>
              </a:rPr>
              <a:t>「でも、使っているのは一部の人だけです」</a:t>
            </a:r>
            <a:endParaRPr lang="en-US" sz="1300" dirty="0"/>
          </a:p>
        </p:txBody>
      </p:sp>
      <p:sp>
        <p:nvSpPr>
          <p:cNvPr id="12" name="Shape 10"/>
          <p:cNvSpPr/>
          <p:nvPr/>
        </p:nvSpPr>
        <p:spPr>
          <a:xfrm>
            <a:off x="877824" y="3694176"/>
            <a:ext cx="4754880" cy="0"/>
          </a:xfrm>
          <a:prstGeom prst="line">
            <a:avLst/>
          </a:prstGeom>
          <a:noFill/>
          <a:ln w="12700">
            <a:solidFill>
              <a:srgbClr val="E4E9ED"/>
            </a:solidFill>
            <a:prstDash val="solid"/>
          </a:ln>
        </p:spPr>
      </p:sp>
      <p:sp>
        <p:nvSpPr>
          <p:cNvPr id="13" name="Text 11"/>
          <p:cNvSpPr/>
          <p:nvPr/>
        </p:nvSpPr>
        <p:spPr>
          <a:xfrm>
            <a:off x="877824" y="3785616"/>
            <a:ext cx="4754880" cy="566928"/>
          </a:xfrm>
          <a:prstGeom prst="rect">
            <a:avLst/>
          </a:prstGeom>
          <a:noFill/>
          <a:ln/>
        </p:spPr>
        <p:txBody>
          <a:bodyPr wrap="square" lIns="0" tIns="0" rIns="0" bIns="0" rtlCol="0" anchor="ctr"/>
          <a:lstStyle/>
          <a:p>
            <a:pPr indent="0" marL="0">
              <a:buNone/>
            </a:pPr>
            <a:r>
              <a:rPr lang="en-US" sz="1300" i="1" dirty="0">
                <a:solidFill>
                  <a:srgbClr val="1B2733"/>
                </a:solidFill>
                <a:latin typeface="Meiryo" pitchFamily="34" charset="0"/>
                <a:ea typeface="Meiryo" pitchFamily="34" charset="-122"/>
                <a:cs typeface="Meiryo" pitchFamily="34" charset="-120"/>
              </a:rPr>
              <a:t>「議事録の要約くらいしか用途がありません」</a:t>
            </a:r>
            <a:endParaRPr lang="en-US" sz="1300" dirty="0"/>
          </a:p>
        </p:txBody>
      </p:sp>
      <p:sp>
        <p:nvSpPr>
          <p:cNvPr id="14" name="Shape 12"/>
          <p:cNvSpPr/>
          <p:nvPr/>
        </p:nvSpPr>
        <p:spPr>
          <a:xfrm>
            <a:off x="877824" y="4389120"/>
            <a:ext cx="4754880" cy="0"/>
          </a:xfrm>
          <a:prstGeom prst="line">
            <a:avLst/>
          </a:prstGeom>
          <a:noFill/>
          <a:ln w="12700">
            <a:solidFill>
              <a:srgbClr val="E4E9ED"/>
            </a:solidFill>
            <a:prstDash val="solid"/>
          </a:ln>
        </p:spPr>
      </p:sp>
      <p:sp>
        <p:nvSpPr>
          <p:cNvPr id="15" name="Text 13"/>
          <p:cNvSpPr/>
          <p:nvPr/>
        </p:nvSpPr>
        <p:spPr>
          <a:xfrm>
            <a:off x="877824" y="4480560"/>
            <a:ext cx="4754880" cy="566928"/>
          </a:xfrm>
          <a:prstGeom prst="rect">
            <a:avLst/>
          </a:prstGeom>
          <a:noFill/>
          <a:ln/>
        </p:spPr>
        <p:txBody>
          <a:bodyPr wrap="square" lIns="0" tIns="0" rIns="0" bIns="0" rtlCol="0" anchor="ctr"/>
          <a:lstStyle/>
          <a:p>
            <a:pPr indent="0" marL="0">
              <a:buNone/>
            </a:pPr>
            <a:r>
              <a:rPr lang="en-US" sz="1300" i="1" dirty="0">
                <a:solidFill>
                  <a:srgbClr val="1B2733"/>
                </a:solidFill>
                <a:latin typeface="Meiryo" pitchFamily="34" charset="0"/>
                <a:ea typeface="Meiryo" pitchFamily="34" charset="-122"/>
                <a:cs typeface="Meiryo" pitchFamily="34" charset="-120"/>
              </a:rPr>
              <a:t>「効果を数字で説明できません」</a:t>
            </a:r>
            <a:endParaRPr lang="en-US" sz="1300" dirty="0"/>
          </a:p>
        </p:txBody>
      </p:sp>
      <p:sp>
        <p:nvSpPr>
          <p:cNvPr id="16" name="Shape 14"/>
          <p:cNvSpPr/>
          <p:nvPr/>
        </p:nvSpPr>
        <p:spPr>
          <a:xfrm>
            <a:off x="6272784" y="1719072"/>
            <a:ext cx="5349240" cy="3639312"/>
          </a:xfrm>
          <a:prstGeom prst="roundRect">
            <a:avLst>
              <a:gd name="adj" fmla="val 1759"/>
            </a:avLst>
          </a:prstGeom>
          <a:solidFill>
            <a:srgbClr val="16202B"/>
          </a:solidFill>
          <a:ln w="12700">
            <a:solidFill>
              <a:srgbClr val="16202B"/>
            </a:solidFill>
            <a:prstDash val="solid"/>
          </a:ln>
        </p:spPr>
      </p:sp>
      <p:sp>
        <p:nvSpPr>
          <p:cNvPr id="17" name="Text 15"/>
          <p:cNvSpPr/>
          <p:nvPr/>
        </p:nvSpPr>
        <p:spPr>
          <a:xfrm>
            <a:off x="6583680" y="1901952"/>
            <a:ext cx="4754880" cy="365760"/>
          </a:xfrm>
          <a:prstGeom prst="rect">
            <a:avLst/>
          </a:prstGeom>
          <a:noFill/>
          <a:ln/>
        </p:spPr>
        <p:txBody>
          <a:bodyPr wrap="square" lIns="0" tIns="0" rIns="0" bIns="0" rtlCol="0" anchor="ctr"/>
          <a:lstStyle/>
          <a:p>
            <a:pPr indent="0" marL="0">
              <a:buNone/>
            </a:pPr>
            <a:r>
              <a:rPr lang="en-US" sz="1400" b="1" dirty="0">
                <a:solidFill>
                  <a:srgbClr val="D97612"/>
                </a:solidFill>
                <a:latin typeface="Meiryo" pitchFamily="34" charset="0"/>
                <a:ea typeface="Meiryo" pitchFamily="34" charset="-122"/>
                <a:cs typeface="Meiryo" pitchFamily="34" charset="-120"/>
              </a:rPr>
              <a:t>その裏で起きていること</a:t>
            </a:r>
            <a:endParaRPr lang="en-US" sz="1400" dirty="0"/>
          </a:p>
        </p:txBody>
      </p:sp>
      <p:sp>
        <p:nvSpPr>
          <p:cNvPr id="18" name="Shape 16"/>
          <p:cNvSpPr/>
          <p:nvPr/>
        </p:nvSpPr>
        <p:spPr>
          <a:xfrm>
            <a:off x="6583680" y="2487168"/>
            <a:ext cx="329184" cy="329184"/>
          </a:xfrm>
          <a:prstGeom prst="ellipse">
            <a:avLst/>
          </a:prstGeom>
          <a:solidFill>
            <a:srgbClr val="D97612"/>
          </a:solidFill>
          <a:ln w="12700">
            <a:solidFill>
              <a:srgbClr val="D97612"/>
            </a:solidFill>
            <a:prstDash val="solid"/>
          </a:ln>
        </p:spPr>
      </p:sp>
      <p:sp>
        <p:nvSpPr>
          <p:cNvPr id="19" name="Text 17"/>
          <p:cNvSpPr/>
          <p:nvPr/>
        </p:nvSpPr>
        <p:spPr>
          <a:xfrm>
            <a:off x="6583680" y="24871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20" name="Text 18"/>
          <p:cNvSpPr/>
          <p:nvPr/>
        </p:nvSpPr>
        <p:spPr>
          <a:xfrm>
            <a:off x="7059168" y="2395728"/>
            <a:ext cx="4297680" cy="749808"/>
          </a:xfrm>
          <a:prstGeom prst="rect">
            <a:avLst/>
          </a:prstGeom>
          <a:noFill/>
          <a:ln/>
        </p:spPr>
        <p:txBody>
          <a:bodyPr wrap="square" lIns="0" tIns="0" rIns="0" bIns="0" rtlCol="0" anchor="ctr"/>
          <a:lstStyle/>
          <a:p>
            <a:pPr indent="0" marL="0">
              <a:lnSpc>
                <a:spcPts val="2000"/>
              </a:lnSpc>
              <a:buNone/>
            </a:pPr>
            <a:r>
              <a:rPr lang="en-US" sz="1250" dirty="0">
                <a:solidFill>
                  <a:srgbClr val="E4E9ED"/>
                </a:solidFill>
                <a:latin typeface="Meiryo" pitchFamily="34" charset="0"/>
                <a:ea typeface="Meiryo" pitchFamily="34" charset="-122"/>
                <a:cs typeface="Meiryo" pitchFamily="34" charset="-120"/>
              </a:rPr>
              <a:t>AIは「自社の事情」をいっさい知らないまま使われている</a:t>
            </a:r>
            <a:endParaRPr lang="en-US" sz="1250" dirty="0"/>
          </a:p>
        </p:txBody>
      </p:sp>
      <p:sp>
        <p:nvSpPr>
          <p:cNvPr id="21" name="Shape 19"/>
          <p:cNvSpPr/>
          <p:nvPr/>
        </p:nvSpPr>
        <p:spPr>
          <a:xfrm>
            <a:off x="6583680" y="3401568"/>
            <a:ext cx="329184" cy="329184"/>
          </a:xfrm>
          <a:prstGeom prst="ellipse">
            <a:avLst/>
          </a:prstGeom>
          <a:solidFill>
            <a:srgbClr val="D97612"/>
          </a:solidFill>
          <a:ln w="12700">
            <a:solidFill>
              <a:srgbClr val="D97612"/>
            </a:solidFill>
            <a:prstDash val="solid"/>
          </a:ln>
        </p:spPr>
      </p:sp>
      <p:sp>
        <p:nvSpPr>
          <p:cNvPr id="22" name="Text 20"/>
          <p:cNvSpPr/>
          <p:nvPr/>
        </p:nvSpPr>
        <p:spPr>
          <a:xfrm>
            <a:off x="6583680" y="34015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23" name="Text 21"/>
          <p:cNvSpPr/>
          <p:nvPr/>
        </p:nvSpPr>
        <p:spPr>
          <a:xfrm>
            <a:off x="7059168" y="3310128"/>
            <a:ext cx="4297680" cy="749808"/>
          </a:xfrm>
          <a:prstGeom prst="rect">
            <a:avLst/>
          </a:prstGeom>
          <a:noFill/>
          <a:ln/>
        </p:spPr>
        <p:txBody>
          <a:bodyPr wrap="square" lIns="0" tIns="0" rIns="0" bIns="0" rtlCol="0" anchor="ctr"/>
          <a:lstStyle/>
          <a:p>
            <a:pPr indent="0" marL="0">
              <a:lnSpc>
                <a:spcPts val="2000"/>
              </a:lnSpc>
              <a:buNone/>
            </a:pPr>
            <a:r>
              <a:rPr lang="en-US" sz="1250" dirty="0">
                <a:solidFill>
                  <a:srgbClr val="E4E9ED"/>
                </a:solidFill>
                <a:latin typeface="Meiryo" pitchFamily="34" charset="0"/>
                <a:ea typeface="Meiryo" pitchFamily="34" charset="-122"/>
                <a:cs typeface="Meiryo" pitchFamily="34" charset="-120"/>
              </a:rPr>
              <a:t>個人の工夫で止まっていて、業務の手順に入っていない</a:t>
            </a:r>
            <a:endParaRPr lang="en-US" sz="1250" dirty="0"/>
          </a:p>
        </p:txBody>
      </p:sp>
      <p:sp>
        <p:nvSpPr>
          <p:cNvPr id="24" name="Shape 22"/>
          <p:cNvSpPr/>
          <p:nvPr/>
        </p:nvSpPr>
        <p:spPr>
          <a:xfrm>
            <a:off x="6583680" y="4315968"/>
            <a:ext cx="329184" cy="329184"/>
          </a:xfrm>
          <a:prstGeom prst="ellipse">
            <a:avLst/>
          </a:prstGeom>
          <a:solidFill>
            <a:srgbClr val="D97612"/>
          </a:solidFill>
          <a:ln w="12700">
            <a:solidFill>
              <a:srgbClr val="D97612"/>
            </a:solidFill>
            <a:prstDash val="solid"/>
          </a:ln>
        </p:spPr>
      </p:sp>
      <p:sp>
        <p:nvSpPr>
          <p:cNvPr id="25" name="Text 23"/>
          <p:cNvSpPr/>
          <p:nvPr/>
        </p:nvSpPr>
        <p:spPr>
          <a:xfrm>
            <a:off x="6583680" y="43159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6" name="Text 24"/>
          <p:cNvSpPr/>
          <p:nvPr/>
        </p:nvSpPr>
        <p:spPr>
          <a:xfrm>
            <a:off x="7059168" y="4224528"/>
            <a:ext cx="4297680" cy="749808"/>
          </a:xfrm>
          <a:prstGeom prst="rect">
            <a:avLst/>
          </a:prstGeom>
          <a:noFill/>
          <a:ln/>
        </p:spPr>
        <p:txBody>
          <a:bodyPr wrap="square" lIns="0" tIns="0" rIns="0" bIns="0" rtlCol="0" anchor="ctr"/>
          <a:lstStyle/>
          <a:p>
            <a:pPr indent="0" marL="0">
              <a:lnSpc>
                <a:spcPts val="2000"/>
              </a:lnSpc>
              <a:buNone/>
            </a:pPr>
            <a:r>
              <a:rPr lang="en-US" sz="1250" dirty="0">
                <a:solidFill>
                  <a:srgbClr val="E4E9ED"/>
                </a:solidFill>
                <a:latin typeface="Meiryo" pitchFamily="34" charset="0"/>
                <a:ea typeface="Meiryo" pitchFamily="34" charset="-122"/>
                <a:cs typeface="Meiryo" pitchFamily="34" charset="-120"/>
              </a:rPr>
              <a:t>効果を測る前提となる“やる前の数字”が、どこにも残っていない</a:t>
            </a:r>
            <a:endParaRPr lang="en-US" sz="1250" dirty="0"/>
          </a:p>
        </p:txBody>
      </p:sp>
      <p:sp>
        <p:nvSpPr>
          <p:cNvPr id="27" name="Shape 25"/>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28" name="Shape 26"/>
          <p:cNvSpPr/>
          <p:nvPr/>
        </p:nvSpPr>
        <p:spPr>
          <a:xfrm>
            <a:off x="804672" y="5760720"/>
            <a:ext cx="219456" cy="219456"/>
          </a:xfrm>
          <a:prstGeom prst="ellipse">
            <a:avLst/>
          </a:prstGeom>
          <a:solidFill>
            <a:srgbClr val="A85705"/>
          </a:solidFill>
          <a:ln w="12700">
            <a:solidFill>
              <a:srgbClr val="A85705"/>
            </a:solidFill>
            <a:prstDash val="solid"/>
          </a:ln>
        </p:spPr>
      </p:sp>
      <p:sp>
        <p:nvSpPr>
          <p:cNvPr id="29" name="Text 27"/>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差がついているのはツールの性能ではありません。「何を渡しているか」と「業務にどう組み込んだか」の差です。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01</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成果が出ない理由は、3つに分けられます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そして3つとも、AIの賢さの問題ではありません</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7</a:t>
            </a:r>
            <a:endParaRPr lang="en-US" sz="850" dirty="0"/>
          </a:p>
        </p:txBody>
      </p:sp>
      <p:sp>
        <p:nvSpPr>
          <p:cNvPr id="7" name="Shape 5"/>
          <p:cNvSpPr/>
          <p:nvPr/>
        </p:nvSpPr>
        <p:spPr>
          <a:xfrm>
            <a:off x="566928" y="1737360"/>
            <a:ext cx="3503066" cy="3291840"/>
          </a:xfrm>
          <a:prstGeom prst="roundRect">
            <a:avLst>
              <a:gd name="adj" fmla="val 1944"/>
            </a:avLst>
          </a:prstGeom>
          <a:solidFill>
            <a:srgbClr val="F2F4F6"/>
          </a:solidFill>
          <a:ln w="12700">
            <a:solidFill>
              <a:srgbClr val="F2F4F6"/>
            </a:solidFill>
            <a:prstDash val="solid"/>
          </a:ln>
        </p:spPr>
      </p:sp>
      <p:sp>
        <p:nvSpPr>
          <p:cNvPr id="8" name="Shape 6"/>
          <p:cNvSpPr/>
          <p:nvPr/>
        </p:nvSpPr>
        <p:spPr>
          <a:xfrm>
            <a:off x="877824" y="2011680"/>
            <a:ext cx="457200" cy="457200"/>
          </a:xfrm>
          <a:prstGeom prst="ellipse">
            <a:avLst/>
          </a:prstGeom>
          <a:solidFill>
            <a:srgbClr val="223140"/>
          </a:solidFill>
          <a:ln w="12700">
            <a:solidFill>
              <a:srgbClr val="223140"/>
            </a:solidFill>
            <a:prstDash val="solid"/>
          </a:ln>
        </p:spPr>
      </p:sp>
      <p:sp>
        <p:nvSpPr>
          <p:cNvPr id="9" name="Text 7"/>
          <p:cNvSpPr/>
          <p:nvPr/>
        </p:nvSpPr>
        <p:spPr>
          <a:xfrm>
            <a:off x="877824"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10" name="Text 8"/>
          <p:cNvSpPr/>
          <p:nvPr/>
        </p:nvSpPr>
        <p:spPr>
          <a:xfrm>
            <a:off x="877824" y="2633472"/>
            <a:ext cx="2881274" cy="457200"/>
          </a:xfrm>
          <a:prstGeom prst="rect">
            <a:avLst/>
          </a:prstGeom>
          <a:noFill/>
          <a:ln/>
        </p:spPr>
        <p:txBody>
          <a:bodyPr wrap="square" lIns="0" tIns="0" rIns="0" bIns="0" rtlCol="0" anchor="ctr"/>
          <a:lstStyle/>
          <a:p>
            <a:pPr indent="0" marL="0">
              <a:buNone/>
            </a:pPr>
            <a:r>
              <a:rPr lang="en-US" sz="1700" b="1" dirty="0">
                <a:solidFill>
                  <a:srgbClr val="1B2733"/>
                </a:solidFill>
                <a:latin typeface="Meiryo" pitchFamily="34" charset="0"/>
                <a:ea typeface="Meiryo" pitchFamily="34" charset="-122"/>
                <a:cs typeface="Meiryo" pitchFamily="34" charset="-120"/>
              </a:rPr>
              <a:t>つながっていない</a:t>
            </a:r>
            <a:endParaRPr lang="en-US" sz="1700" dirty="0"/>
          </a:p>
        </p:txBody>
      </p:sp>
      <p:sp>
        <p:nvSpPr>
          <p:cNvPr id="11" name="Text 9"/>
          <p:cNvSpPr/>
          <p:nvPr/>
        </p:nvSpPr>
        <p:spPr>
          <a:xfrm>
            <a:off x="877824" y="3182112"/>
            <a:ext cx="2881274" cy="1463040"/>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AIが社内のデータやシステムに触れられない。だから人が毎回、探して・コピーして・貼り付けている。この手間が成果を食い潰します。</a:t>
            </a:r>
            <a:endParaRPr lang="en-US" sz="1200" dirty="0"/>
          </a:p>
        </p:txBody>
      </p:sp>
      <p:sp>
        <p:nvSpPr>
          <p:cNvPr id="12" name="Text 10"/>
          <p:cNvSpPr/>
          <p:nvPr/>
        </p:nvSpPr>
        <p:spPr>
          <a:xfrm>
            <a:off x="877824" y="4517136"/>
            <a:ext cx="2881274" cy="365760"/>
          </a:xfrm>
          <a:prstGeom prst="rect">
            <a:avLst/>
          </a:prstGeom>
          <a:noFill/>
          <a:ln/>
        </p:spPr>
        <p:txBody>
          <a:bodyPr wrap="square" lIns="0" tIns="0" rIns="0" bIns="0" rtlCol="0" anchor="ctr"/>
          <a:lstStyle/>
          <a:p>
            <a:pPr indent="0" marL="0">
              <a:buNone/>
            </a:pPr>
            <a:r>
              <a:rPr lang="en-US" sz="1150" b="1" dirty="0">
                <a:solidFill>
                  <a:srgbClr val="A85705"/>
                </a:solidFill>
                <a:latin typeface="Meiryo" pitchFamily="34" charset="0"/>
                <a:ea typeface="Meiryo" pitchFamily="34" charset="-122"/>
                <a:cs typeface="Meiryo" pitchFamily="34" charset="-120"/>
              </a:rPr>
              <a:t>→ 第2部で扱います</a:t>
            </a:r>
            <a:endParaRPr lang="en-US" sz="1150" dirty="0"/>
          </a:p>
        </p:txBody>
      </p:sp>
      <p:sp>
        <p:nvSpPr>
          <p:cNvPr id="13" name="Shape 11"/>
          <p:cNvSpPr/>
          <p:nvPr/>
        </p:nvSpPr>
        <p:spPr>
          <a:xfrm>
            <a:off x="4344314" y="1737360"/>
            <a:ext cx="3503066" cy="3291840"/>
          </a:xfrm>
          <a:prstGeom prst="roundRect">
            <a:avLst>
              <a:gd name="adj" fmla="val 1944"/>
            </a:avLst>
          </a:prstGeom>
          <a:solidFill>
            <a:srgbClr val="16202B"/>
          </a:solidFill>
          <a:ln w="12700">
            <a:solidFill>
              <a:srgbClr val="16202B"/>
            </a:solidFill>
            <a:prstDash val="solid"/>
          </a:ln>
        </p:spPr>
      </p:sp>
      <p:sp>
        <p:nvSpPr>
          <p:cNvPr id="14" name="Shape 12"/>
          <p:cNvSpPr/>
          <p:nvPr/>
        </p:nvSpPr>
        <p:spPr>
          <a:xfrm>
            <a:off x="4655210" y="2011680"/>
            <a:ext cx="457200" cy="457200"/>
          </a:xfrm>
          <a:prstGeom prst="ellipse">
            <a:avLst/>
          </a:prstGeom>
          <a:solidFill>
            <a:srgbClr val="D97612"/>
          </a:solidFill>
          <a:ln w="12700">
            <a:solidFill>
              <a:srgbClr val="D97612"/>
            </a:solidFill>
            <a:prstDash val="solid"/>
          </a:ln>
        </p:spPr>
      </p:sp>
      <p:sp>
        <p:nvSpPr>
          <p:cNvPr id="15" name="Text 13"/>
          <p:cNvSpPr/>
          <p:nvPr/>
        </p:nvSpPr>
        <p:spPr>
          <a:xfrm>
            <a:off x="4655210"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16" name="Text 14"/>
          <p:cNvSpPr/>
          <p:nvPr/>
        </p:nvSpPr>
        <p:spPr>
          <a:xfrm>
            <a:off x="4655210" y="2633472"/>
            <a:ext cx="2881274" cy="45720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記録がない</a:t>
            </a:r>
            <a:endParaRPr lang="en-US" sz="1700" dirty="0"/>
          </a:p>
        </p:txBody>
      </p:sp>
      <p:sp>
        <p:nvSpPr>
          <p:cNvPr id="17" name="Text 15"/>
          <p:cNvSpPr/>
          <p:nvPr/>
        </p:nvSpPr>
        <p:spPr>
          <a:xfrm>
            <a:off x="4655210" y="3182112"/>
            <a:ext cx="2881274" cy="1463040"/>
          </a:xfrm>
          <a:prstGeom prst="rect">
            <a:avLst/>
          </a:prstGeom>
          <a:noFill/>
          <a:ln/>
        </p:spPr>
        <p:txBody>
          <a:bodyPr wrap="square" lIns="0" tIns="0" rIns="0" bIns="0" rtlCol="0" anchor="t"/>
          <a:lstStyle/>
          <a:p>
            <a:pPr indent="0" marL="0">
              <a:lnSpc>
                <a:spcPts val="2000"/>
              </a:lnSpc>
              <a:buNone/>
            </a:pPr>
            <a:r>
              <a:rPr lang="en-US" sz="1200" dirty="0">
                <a:solidFill>
                  <a:srgbClr val="C6D0DA"/>
                </a:solidFill>
                <a:latin typeface="Meiryo" pitchFamily="34" charset="0"/>
                <a:ea typeface="Meiryo" pitchFamily="34" charset="-122"/>
                <a:cs typeface="Meiryo" pitchFamily="34" charset="-120"/>
              </a:rPr>
              <a:t>そもそも渡せる事実が社内にない。工数・進捗・判断の経緯が、担当者の頭の中にしかなくデータになっていない。</a:t>
            </a:r>
            <a:endParaRPr lang="en-US" sz="1200" dirty="0"/>
          </a:p>
        </p:txBody>
      </p:sp>
      <p:sp>
        <p:nvSpPr>
          <p:cNvPr id="18" name="Text 16"/>
          <p:cNvSpPr/>
          <p:nvPr/>
        </p:nvSpPr>
        <p:spPr>
          <a:xfrm>
            <a:off x="4655210" y="4517136"/>
            <a:ext cx="2881274" cy="365760"/>
          </a:xfrm>
          <a:prstGeom prst="rect">
            <a:avLst/>
          </a:prstGeom>
          <a:noFill/>
          <a:ln/>
        </p:spPr>
        <p:txBody>
          <a:bodyPr wrap="square" lIns="0" tIns="0" rIns="0" bIns="0" rtlCol="0" anchor="ctr"/>
          <a:lstStyle/>
          <a:p>
            <a:pPr indent="0" marL="0">
              <a:buNone/>
            </a:pPr>
            <a:r>
              <a:rPr lang="en-US" sz="1150" b="1" dirty="0">
                <a:solidFill>
                  <a:srgbClr val="D97612"/>
                </a:solidFill>
                <a:latin typeface="Meiryo" pitchFamily="34" charset="0"/>
                <a:ea typeface="Meiryo" pitchFamily="34" charset="-122"/>
                <a:cs typeface="Meiryo" pitchFamily="34" charset="-120"/>
              </a:rPr>
              <a:t>→ 第3部で扱います</a:t>
            </a:r>
            <a:endParaRPr lang="en-US" sz="1150" dirty="0"/>
          </a:p>
        </p:txBody>
      </p:sp>
      <p:sp>
        <p:nvSpPr>
          <p:cNvPr id="19" name="Shape 17"/>
          <p:cNvSpPr/>
          <p:nvPr/>
        </p:nvSpPr>
        <p:spPr>
          <a:xfrm>
            <a:off x="8121701" y="1737360"/>
            <a:ext cx="3503066" cy="3291840"/>
          </a:xfrm>
          <a:prstGeom prst="roundRect">
            <a:avLst>
              <a:gd name="adj" fmla="val 1944"/>
            </a:avLst>
          </a:prstGeom>
          <a:solidFill>
            <a:srgbClr val="F2F4F6"/>
          </a:solidFill>
          <a:ln w="12700">
            <a:solidFill>
              <a:srgbClr val="F2F4F6"/>
            </a:solidFill>
            <a:prstDash val="solid"/>
          </a:ln>
        </p:spPr>
      </p:sp>
      <p:sp>
        <p:nvSpPr>
          <p:cNvPr id="20" name="Shape 18"/>
          <p:cNvSpPr/>
          <p:nvPr/>
        </p:nvSpPr>
        <p:spPr>
          <a:xfrm>
            <a:off x="8432597" y="2011680"/>
            <a:ext cx="457200" cy="457200"/>
          </a:xfrm>
          <a:prstGeom prst="ellipse">
            <a:avLst/>
          </a:prstGeom>
          <a:solidFill>
            <a:srgbClr val="223140"/>
          </a:solidFill>
          <a:ln w="12700">
            <a:solidFill>
              <a:srgbClr val="223140"/>
            </a:solidFill>
            <a:prstDash val="solid"/>
          </a:ln>
        </p:spPr>
      </p:sp>
      <p:sp>
        <p:nvSpPr>
          <p:cNvPr id="21" name="Text 19"/>
          <p:cNvSpPr/>
          <p:nvPr/>
        </p:nvSpPr>
        <p:spPr>
          <a:xfrm>
            <a:off x="8432597"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22" name="Text 20"/>
          <p:cNvSpPr/>
          <p:nvPr/>
        </p:nvSpPr>
        <p:spPr>
          <a:xfrm>
            <a:off x="8432597" y="2633472"/>
            <a:ext cx="2881274" cy="457200"/>
          </a:xfrm>
          <a:prstGeom prst="rect">
            <a:avLst/>
          </a:prstGeom>
          <a:noFill/>
          <a:ln/>
        </p:spPr>
        <p:txBody>
          <a:bodyPr wrap="square" lIns="0" tIns="0" rIns="0" bIns="0" rtlCol="0" anchor="ctr"/>
          <a:lstStyle/>
          <a:p>
            <a:pPr indent="0" marL="0">
              <a:buNone/>
            </a:pPr>
            <a:r>
              <a:rPr lang="en-US" sz="1700" b="1" dirty="0">
                <a:solidFill>
                  <a:srgbClr val="1B2733"/>
                </a:solidFill>
                <a:latin typeface="Meiryo" pitchFamily="34" charset="0"/>
                <a:ea typeface="Meiryo" pitchFamily="34" charset="-122"/>
                <a:cs typeface="Meiryo" pitchFamily="34" charset="-120"/>
              </a:rPr>
              <a:t>業務に入っていない</a:t>
            </a:r>
            <a:endParaRPr lang="en-US" sz="1700" dirty="0"/>
          </a:p>
        </p:txBody>
      </p:sp>
      <p:sp>
        <p:nvSpPr>
          <p:cNvPr id="23" name="Text 21"/>
          <p:cNvSpPr/>
          <p:nvPr/>
        </p:nvSpPr>
        <p:spPr>
          <a:xfrm>
            <a:off x="8432597" y="3182112"/>
            <a:ext cx="2881274" cy="1463040"/>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使う／使わないが個人任せ。標準の手順に組み込まれていないので、成果が個人の中で消えて積み上がらない。</a:t>
            </a:r>
            <a:endParaRPr lang="en-US" sz="1200" dirty="0"/>
          </a:p>
        </p:txBody>
      </p:sp>
      <p:sp>
        <p:nvSpPr>
          <p:cNvPr id="24" name="Text 22"/>
          <p:cNvSpPr/>
          <p:nvPr/>
        </p:nvSpPr>
        <p:spPr>
          <a:xfrm>
            <a:off x="8432597" y="4517136"/>
            <a:ext cx="2881274" cy="365760"/>
          </a:xfrm>
          <a:prstGeom prst="rect">
            <a:avLst/>
          </a:prstGeom>
          <a:noFill/>
          <a:ln/>
        </p:spPr>
        <p:txBody>
          <a:bodyPr wrap="square" lIns="0" tIns="0" rIns="0" bIns="0" rtlCol="0" anchor="ctr"/>
          <a:lstStyle/>
          <a:p>
            <a:pPr indent="0" marL="0">
              <a:buNone/>
            </a:pPr>
            <a:r>
              <a:rPr lang="en-US" sz="1150" b="1" dirty="0">
                <a:solidFill>
                  <a:srgbClr val="A85705"/>
                </a:solidFill>
                <a:latin typeface="Meiryo" pitchFamily="34" charset="0"/>
                <a:ea typeface="Meiryo" pitchFamily="34" charset="-122"/>
                <a:cs typeface="Meiryo" pitchFamily="34" charset="-120"/>
              </a:rPr>
              <a:t>→ 第4部で扱います</a:t>
            </a:r>
            <a:endParaRPr lang="en-US" sz="1150" dirty="0"/>
          </a:p>
        </p:txBody>
      </p:sp>
      <p:sp>
        <p:nvSpPr>
          <p:cNvPr id="25" name="Shape 23"/>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26" name="Shape 24"/>
          <p:cNvSpPr/>
          <p:nvPr/>
        </p:nvSpPr>
        <p:spPr>
          <a:xfrm>
            <a:off x="804672" y="5760720"/>
            <a:ext cx="219456" cy="219456"/>
          </a:xfrm>
          <a:prstGeom prst="ellipse">
            <a:avLst/>
          </a:prstGeom>
          <a:solidFill>
            <a:srgbClr val="12695D"/>
          </a:solidFill>
          <a:ln w="12700">
            <a:solidFill>
              <a:srgbClr val="12695D"/>
            </a:solidFill>
            <a:prstDash val="solid"/>
          </a:ln>
        </p:spPr>
      </p:sp>
      <p:sp>
        <p:nvSpPr>
          <p:cNvPr id="27" name="Text 25"/>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本日はこの3つを、第2部・第3部・第4部で順番に潰していきます。いちばん根が深いのは②です。</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01</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「チャットAI」と「AIエージェント」は別物です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同じモデルを使っていても、できることが変わります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8</a:t>
            </a:r>
            <a:endParaRPr lang="en-US" sz="850" dirty="0"/>
          </a:p>
        </p:txBody>
      </p:sp>
      <p:sp>
        <p:nvSpPr>
          <p:cNvPr id="7" name="Shape 5"/>
          <p:cNvSpPr/>
          <p:nvPr/>
        </p:nvSpPr>
        <p:spPr>
          <a:xfrm>
            <a:off x="2761488" y="1700784"/>
            <a:ext cx="4297680" cy="3657600"/>
          </a:xfrm>
          <a:prstGeom prst="roundRect">
            <a:avLst>
              <a:gd name="adj" fmla="val 1750"/>
            </a:avLst>
          </a:prstGeom>
          <a:solidFill>
            <a:srgbClr val="F2F4F6"/>
          </a:solidFill>
          <a:ln w="12700">
            <a:solidFill>
              <a:srgbClr val="F2F4F6"/>
            </a:solidFill>
            <a:prstDash val="solid"/>
          </a:ln>
        </p:spPr>
      </p:sp>
      <p:sp>
        <p:nvSpPr>
          <p:cNvPr id="8" name="Shape 6"/>
          <p:cNvSpPr/>
          <p:nvPr/>
        </p:nvSpPr>
        <p:spPr>
          <a:xfrm>
            <a:off x="7242048" y="1700784"/>
            <a:ext cx="4379976" cy="3657600"/>
          </a:xfrm>
          <a:prstGeom prst="roundRect">
            <a:avLst>
              <a:gd name="adj" fmla="val 1750"/>
            </a:avLst>
          </a:prstGeom>
          <a:solidFill>
            <a:srgbClr val="16202B"/>
          </a:solidFill>
          <a:ln w="12700">
            <a:solidFill>
              <a:srgbClr val="16202B"/>
            </a:solidFill>
            <a:prstDash val="solid"/>
          </a:ln>
        </p:spPr>
      </p:sp>
      <p:sp>
        <p:nvSpPr>
          <p:cNvPr id="9" name="Text 7"/>
          <p:cNvSpPr/>
          <p:nvPr/>
        </p:nvSpPr>
        <p:spPr>
          <a:xfrm>
            <a:off x="3035808" y="1847088"/>
            <a:ext cx="3749040" cy="384048"/>
          </a:xfrm>
          <a:prstGeom prst="rect">
            <a:avLst/>
          </a:prstGeom>
          <a:noFill/>
          <a:ln/>
        </p:spPr>
        <p:txBody>
          <a:bodyPr wrap="square" lIns="0" tIns="0" rIns="0" bIns="0" rtlCol="0" anchor="ctr"/>
          <a:lstStyle/>
          <a:p>
            <a:pPr indent="0" marL="0">
              <a:buNone/>
            </a:pPr>
            <a:r>
              <a:rPr lang="en-US" sz="1300" b="1" dirty="0">
                <a:solidFill>
                  <a:srgbClr val="667382"/>
                </a:solidFill>
                <a:latin typeface="Meiryo" pitchFamily="34" charset="0"/>
                <a:ea typeface="Meiryo" pitchFamily="34" charset="-122"/>
                <a:cs typeface="Meiryo" pitchFamily="34" charset="-120"/>
              </a:rPr>
              <a:t>チャットAI（これまでの使い方）</a:t>
            </a:r>
            <a:endParaRPr lang="en-US" sz="1300" dirty="0"/>
          </a:p>
        </p:txBody>
      </p:sp>
      <p:sp>
        <p:nvSpPr>
          <p:cNvPr id="10" name="Text 8"/>
          <p:cNvSpPr/>
          <p:nvPr/>
        </p:nvSpPr>
        <p:spPr>
          <a:xfrm>
            <a:off x="7516368" y="1847088"/>
            <a:ext cx="3840480" cy="384048"/>
          </a:xfrm>
          <a:prstGeom prst="rect">
            <a:avLst/>
          </a:prstGeom>
          <a:noFill/>
          <a:ln/>
        </p:spPr>
        <p:txBody>
          <a:bodyPr wrap="square" lIns="0" tIns="0" rIns="0" bIns="0" rtlCol="0" anchor="ctr"/>
          <a:lstStyle/>
          <a:p>
            <a:pPr indent="0" marL="0">
              <a:buNone/>
            </a:pPr>
            <a:r>
              <a:rPr lang="en-US" sz="1300" b="1" dirty="0">
                <a:solidFill>
                  <a:srgbClr val="D97612"/>
                </a:solidFill>
                <a:latin typeface="Meiryo" pitchFamily="34" charset="0"/>
                <a:ea typeface="Meiryo" pitchFamily="34" charset="-122"/>
                <a:cs typeface="Meiryo" pitchFamily="34" charset="-120"/>
              </a:rPr>
              <a:t>AIエージェント（これからの使い方）</a:t>
            </a:r>
            <a:endParaRPr lang="en-US" sz="1300" dirty="0"/>
          </a:p>
        </p:txBody>
      </p:sp>
      <p:sp>
        <p:nvSpPr>
          <p:cNvPr id="11" name="Text 9"/>
          <p:cNvSpPr/>
          <p:nvPr/>
        </p:nvSpPr>
        <p:spPr>
          <a:xfrm>
            <a:off x="566928" y="2432304"/>
            <a:ext cx="2011680" cy="603504"/>
          </a:xfrm>
          <a:prstGeom prst="rect">
            <a:avLst/>
          </a:prstGeom>
          <a:noFill/>
          <a:ln/>
        </p:spPr>
        <p:txBody>
          <a:bodyPr wrap="square" lIns="0" tIns="0" rIns="0" bIns="0" rtlCol="0" anchor="ctr"/>
          <a:lstStyle/>
          <a:p>
            <a:pPr algn="r" indent="0" marL="0">
              <a:buNone/>
            </a:pPr>
            <a:r>
              <a:rPr lang="en-US" sz="1200" b="1" dirty="0">
                <a:solidFill>
                  <a:srgbClr val="1B2733"/>
                </a:solidFill>
                <a:latin typeface="Meiryo" pitchFamily="34" charset="0"/>
                <a:ea typeface="Meiryo" pitchFamily="34" charset="-122"/>
                <a:cs typeface="Meiryo" pitchFamily="34" charset="-120"/>
              </a:rPr>
              <a:t>できること</a:t>
            </a:r>
            <a:endParaRPr lang="en-US" sz="1200" dirty="0"/>
          </a:p>
        </p:txBody>
      </p:sp>
      <p:sp>
        <p:nvSpPr>
          <p:cNvPr id="12" name="Text 10"/>
          <p:cNvSpPr/>
          <p:nvPr/>
        </p:nvSpPr>
        <p:spPr>
          <a:xfrm>
            <a:off x="3035808" y="2432304"/>
            <a:ext cx="3749040" cy="603504"/>
          </a:xfrm>
          <a:prstGeom prst="rect">
            <a:avLst/>
          </a:prstGeom>
          <a:noFill/>
          <a:ln/>
        </p:spPr>
        <p:txBody>
          <a:bodyPr wrap="square" lIns="0" tIns="0" rIns="0" bIns="0" rtlCol="0" anchor="ctr"/>
          <a:lstStyle/>
          <a:p>
            <a:pPr indent="0" marL="0">
              <a:lnSpc>
                <a:spcPts val="1800"/>
              </a:lnSpc>
              <a:buNone/>
            </a:pPr>
            <a:r>
              <a:rPr lang="en-US" sz="1200" dirty="0">
                <a:solidFill>
                  <a:srgbClr val="1B2733"/>
                </a:solidFill>
                <a:latin typeface="Meiryo" pitchFamily="34" charset="0"/>
                <a:ea typeface="Meiryo" pitchFamily="34" charset="-122"/>
                <a:cs typeface="Meiryo" pitchFamily="34" charset="-120"/>
              </a:rPr>
              <a:t>聞く・書かせる・要約させる</a:t>
            </a:r>
            <a:endParaRPr lang="en-US" sz="1200" dirty="0"/>
          </a:p>
        </p:txBody>
      </p:sp>
      <p:sp>
        <p:nvSpPr>
          <p:cNvPr id="13" name="Text 11"/>
          <p:cNvSpPr/>
          <p:nvPr/>
        </p:nvSpPr>
        <p:spPr>
          <a:xfrm>
            <a:off x="7516368" y="2432304"/>
            <a:ext cx="3840480" cy="603504"/>
          </a:xfrm>
          <a:prstGeom prst="rect">
            <a:avLst/>
          </a:prstGeom>
          <a:noFill/>
          <a:ln/>
        </p:spPr>
        <p:txBody>
          <a:bodyPr wrap="square" lIns="0" tIns="0" rIns="0" bIns="0" rtlCol="0" anchor="ctr"/>
          <a:lstStyle/>
          <a:p>
            <a:pPr indent="0" marL="0">
              <a:lnSpc>
                <a:spcPts val="1800"/>
              </a:lnSpc>
              <a:buNone/>
            </a:pPr>
            <a:r>
              <a:rPr lang="en-US" sz="1200" dirty="0">
                <a:solidFill>
                  <a:srgbClr val="E4E9ED"/>
                </a:solidFill>
                <a:latin typeface="Meiryo" pitchFamily="34" charset="0"/>
                <a:ea typeface="Meiryo" pitchFamily="34" charset="-122"/>
                <a:cs typeface="Meiryo" pitchFamily="34" charset="-120"/>
              </a:rPr>
              <a:t>目的を渡すと、手順に分けて自分で進める</a:t>
            </a:r>
            <a:endParaRPr lang="en-US" sz="1200" dirty="0"/>
          </a:p>
        </p:txBody>
      </p:sp>
      <p:sp>
        <p:nvSpPr>
          <p:cNvPr id="14" name="Text 12"/>
          <p:cNvSpPr/>
          <p:nvPr/>
        </p:nvSpPr>
        <p:spPr>
          <a:xfrm>
            <a:off x="566928" y="3145536"/>
            <a:ext cx="2011680" cy="603504"/>
          </a:xfrm>
          <a:prstGeom prst="rect">
            <a:avLst/>
          </a:prstGeom>
          <a:noFill/>
          <a:ln/>
        </p:spPr>
        <p:txBody>
          <a:bodyPr wrap="square" lIns="0" tIns="0" rIns="0" bIns="0" rtlCol="0" anchor="ctr"/>
          <a:lstStyle/>
          <a:p>
            <a:pPr algn="r" indent="0" marL="0">
              <a:buNone/>
            </a:pPr>
            <a:r>
              <a:rPr lang="en-US" sz="1200" b="1" dirty="0">
                <a:solidFill>
                  <a:srgbClr val="1B2733"/>
                </a:solidFill>
                <a:latin typeface="Meiryo" pitchFamily="34" charset="0"/>
                <a:ea typeface="Meiryo" pitchFamily="34" charset="-122"/>
                <a:cs typeface="Meiryo" pitchFamily="34" charset="-120"/>
              </a:rPr>
              <a:t>情報源</a:t>
            </a:r>
            <a:endParaRPr lang="en-US" sz="1200" dirty="0"/>
          </a:p>
        </p:txBody>
      </p:sp>
      <p:sp>
        <p:nvSpPr>
          <p:cNvPr id="15" name="Text 13"/>
          <p:cNvSpPr/>
          <p:nvPr/>
        </p:nvSpPr>
        <p:spPr>
          <a:xfrm>
            <a:off x="3035808" y="3145536"/>
            <a:ext cx="3749040" cy="603504"/>
          </a:xfrm>
          <a:prstGeom prst="rect">
            <a:avLst/>
          </a:prstGeom>
          <a:noFill/>
          <a:ln/>
        </p:spPr>
        <p:txBody>
          <a:bodyPr wrap="square" lIns="0" tIns="0" rIns="0" bIns="0" rtlCol="0" anchor="ctr"/>
          <a:lstStyle/>
          <a:p>
            <a:pPr indent="0" marL="0">
              <a:lnSpc>
                <a:spcPts val="1800"/>
              </a:lnSpc>
              <a:buNone/>
            </a:pPr>
            <a:r>
              <a:rPr lang="en-US" sz="1200" dirty="0">
                <a:solidFill>
                  <a:srgbClr val="1B2733"/>
                </a:solidFill>
                <a:latin typeface="Meiryo" pitchFamily="34" charset="0"/>
                <a:ea typeface="Meiryo" pitchFamily="34" charset="-122"/>
                <a:cs typeface="Meiryo" pitchFamily="34" charset="-120"/>
              </a:rPr>
              <a:t>人が貼り付けた文章だけ</a:t>
            </a:r>
            <a:endParaRPr lang="en-US" sz="1200" dirty="0"/>
          </a:p>
        </p:txBody>
      </p:sp>
      <p:sp>
        <p:nvSpPr>
          <p:cNvPr id="16" name="Text 14"/>
          <p:cNvSpPr/>
          <p:nvPr/>
        </p:nvSpPr>
        <p:spPr>
          <a:xfrm>
            <a:off x="7516368" y="3145536"/>
            <a:ext cx="3840480" cy="603504"/>
          </a:xfrm>
          <a:prstGeom prst="rect">
            <a:avLst/>
          </a:prstGeom>
          <a:noFill/>
          <a:ln/>
        </p:spPr>
        <p:txBody>
          <a:bodyPr wrap="square" lIns="0" tIns="0" rIns="0" bIns="0" rtlCol="0" anchor="ctr"/>
          <a:lstStyle/>
          <a:p>
            <a:pPr indent="0" marL="0">
              <a:lnSpc>
                <a:spcPts val="1800"/>
              </a:lnSpc>
              <a:buNone/>
            </a:pPr>
            <a:r>
              <a:rPr lang="en-US" sz="1200" dirty="0">
                <a:solidFill>
                  <a:srgbClr val="E4E9ED"/>
                </a:solidFill>
                <a:latin typeface="Meiryo" pitchFamily="34" charset="0"/>
                <a:ea typeface="Meiryo" pitchFamily="34" charset="-122"/>
                <a:cs typeface="Meiryo" pitchFamily="34" charset="-120"/>
              </a:rPr>
              <a:t>許可されたシステムから自分で取りに行く</a:t>
            </a:r>
            <a:endParaRPr lang="en-US" sz="1200" dirty="0"/>
          </a:p>
        </p:txBody>
      </p:sp>
      <p:sp>
        <p:nvSpPr>
          <p:cNvPr id="17" name="Text 15"/>
          <p:cNvSpPr/>
          <p:nvPr/>
        </p:nvSpPr>
        <p:spPr>
          <a:xfrm>
            <a:off x="566928" y="3858768"/>
            <a:ext cx="2011680" cy="603504"/>
          </a:xfrm>
          <a:prstGeom prst="rect">
            <a:avLst/>
          </a:prstGeom>
          <a:noFill/>
          <a:ln/>
        </p:spPr>
        <p:txBody>
          <a:bodyPr wrap="square" lIns="0" tIns="0" rIns="0" bIns="0" rtlCol="0" anchor="ctr"/>
          <a:lstStyle/>
          <a:p>
            <a:pPr algn="r" indent="0" marL="0">
              <a:buNone/>
            </a:pPr>
            <a:r>
              <a:rPr lang="en-US" sz="1200" b="1" dirty="0">
                <a:solidFill>
                  <a:srgbClr val="1B2733"/>
                </a:solidFill>
                <a:latin typeface="Meiryo" pitchFamily="34" charset="0"/>
                <a:ea typeface="Meiryo" pitchFamily="34" charset="-122"/>
                <a:cs typeface="Meiryo" pitchFamily="34" charset="-120"/>
              </a:rPr>
              <a:t>作業の実行</a:t>
            </a:r>
            <a:endParaRPr lang="en-US" sz="1200" dirty="0"/>
          </a:p>
        </p:txBody>
      </p:sp>
      <p:sp>
        <p:nvSpPr>
          <p:cNvPr id="18" name="Text 16"/>
          <p:cNvSpPr/>
          <p:nvPr/>
        </p:nvSpPr>
        <p:spPr>
          <a:xfrm>
            <a:off x="3035808" y="3858768"/>
            <a:ext cx="3749040" cy="603504"/>
          </a:xfrm>
          <a:prstGeom prst="rect">
            <a:avLst/>
          </a:prstGeom>
          <a:noFill/>
          <a:ln/>
        </p:spPr>
        <p:txBody>
          <a:bodyPr wrap="square" lIns="0" tIns="0" rIns="0" bIns="0" rtlCol="0" anchor="ctr"/>
          <a:lstStyle/>
          <a:p>
            <a:pPr indent="0" marL="0">
              <a:lnSpc>
                <a:spcPts val="1800"/>
              </a:lnSpc>
              <a:buNone/>
            </a:pPr>
            <a:r>
              <a:rPr lang="en-US" sz="1200" dirty="0">
                <a:solidFill>
                  <a:srgbClr val="1B2733"/>
                </a:solidFill>
                <a:latin typeface="Meiryo" pitchFamily="34" charset="0"/>
                <a:ea typeface="Meiryo" pitchFamily="34" charset="-122"/>
                <a:cs typeface="Meiryo" pitchFamily="34" charset="-120"/>
              </a:rPr>
              <a:t>実行するのは人</a:t>
            </a:r>
            <a:endParaRPr lang="en-US" sz="1200" dirty="0"/>
          </a:p>
        </p:txBody>
      </p:sp>
      <p:sp>
        <p:nvSpPr>
          <p:cNvPr id="19" name="Text 17"/>
          <p:cNvSpPr/>
          <p:nvPr/>
        </p:nvSpPr>
        <p:spPr>
          <a:xfrm>
            <a:off x="7516368" y="3858768"/>
            <a:ext cx="3840480" cy="603504"/>
          </a:xfrm>
          <a:prstGeom prst="rect">
            <a:avLst/>
          </a:prstGeom>
          <a:noFill/>
          <a:ln/>
        </p:spPr>
        <p:txBody>
          <a:bodyPr wrap="square" lIns="0" tIns="0" rIns="0" bIns="0" rtlCol="0" anchor="ctr"/>
          <a:lstStyle/>
          <a:p>
            <a:pPr indent="0" marL="0">
              <a:lnSpc>
                <a:spcPts val="1800"/>
              </a:lnSpc>
              <a:buNone/>
            </a:pPr>
            <a:r>
              <a:rPr lang="en-US" sz="1200" dirty="0">
                <a:solidFill>
                  <a:srgbClr val="E4E9ED"/>
                </a:solidFill>
                <a:latin typeface="Meiryo" pitchFamily="34" charset="0"/>
                <a:ea typeface="Meiryo" pitchFamily="34" charset="-122"/>
                <a:cs typeface="Meiryo" pitchFamily="34" charset="-120"/>
              </a:rPr>
              <a:t>集計・下書き・登録まで実行する</a:t>
            </a:r>
            <a:endParaRPr lang="en-US" sz="1200" dirty="0"/>
          </a:p>
        </p:txBody>
      </p:sp>
      <p:sp>
        <p:nvSpPr>
          <p:cNvPr id="20" name="Text 18"/>
          <p:cNvSpPr/>
          <p:nvPr/>
        </p:nvSpPr>
        <p:spPr>
          <a:xfrm>
            <a:off x="566928" y="4572000"/>
            <a:ext cx="2011680" cy="603504"/>
          </a:xfrm>
          <a:prstGeom prst="rect">
            <a:avLst/>
          </a:prstGeom>
          <a:noFill/>
          <a:ln/>
        </p:spPr>
        <p:txBody>
          <a:bodyPr wrap="square" lIns="0" tIns="0" rIns="0" bIns="0" rtlCol="0" anchor="ctr"/>
          <a:lstStyle/>
          <a:p>
            <a:pPr algn="r" indent="0" marL="0">
              <a:buNone/>
            </a:pPr>
            <a:r>
              <a:rPr lang="en-US" sz="1200" b="1" dirty="0">
                <a:solidFill>
                  <a:srgbClr val="1B2733"/>
                </a:solidFill>
                <a:latin typeface="Meiryo" pitchFamily="34" charset="0"/>
                <a:ea typeface="Meiryo" pitchFamily="34" charset="-122"/>
                <a:cs typeface="Meiryo" pitchFamily="34" charset="-120"/>
              </a:rPr>
              <a:t>成果の上限</a:t>
            </a:r>
            <a:endParaRPr lang="en-US" sz="1200" dirty="0"/>
          </a:p>
        </p:txBody>
      </p:sp>
      <p:sp>
        <p:nvSpPr>
          <p:cNvPr id="21" name="Text 19"/>
          <p:cNvSpPr/>
          <p:nvPr/>
        </p:nvSpPr>
        <p:spPr>
          <a:xfrm>
            <a:off x="3035808" y="4572000"/>
            <a:ext cx="3749040" cy="603504"/>
          </a:xfrm>
          <a:prstGeom prst="rect">
            <a:avLst/>
          </a:prstGeom>
          <a:noFill/>
          <a:ln/>
        </p:spPr>
        <p:txBody>
          <a:bodyPr wrap="square" lIns="0" tIns="0" rIns="0" bIns="0" rtlCol="0" anchor="ctr"/>
          <a:lstStyle/>
          <a:p>
            <a:pPr indent="0" marL="0">
              <a:lnSpc>
                <a:spcPts val="1800"/>
              </a:lnSpc>
              <a:buNone/>
            </a:pPr>
            <a:r>
              <a:rPr lang="en-US" sz="1200" dirty="0">
                <a:solidFill>
                  <a:srgbClr val="1B2733"/>
                </a:solidFill>
                <a:latin typeface="Meiryo" pitchFamily="34" charset="0"/>
                <a:ea typeface="Meiryo" pitchFamily="34" charset="-122"/>
                <a:cs typeface="Meiryo" pitchFamily="34" charset="-120"/>
              </a:rPr>
              <a:t>使う人のスキルと手間</a:t>
            </a:r>
            <a:endParaRPr lang="en-US" sz="1200" dirty="0"/>
          </a:p>
        </p:txBody>
      </p:sp>
      <p:sp>
        <p:nvSpPr>
          <p:cNvPr id="22" name="Text 20"/>
          <p:cNvSpPr/>
          <p:nvPr/>
        </p:nvSpPr>
        <p:spPr>
          <a:xfrm>
            <a:off x="7516368" y="4572000"/>
            <a:ext cx="3840480" cy="603504"/>
          </a:xfrm>
          <a:prstGeom prst="rect">
            <a:avLst/>
          </a:prstGeom>
          <a:noFill/>
          <a:ln/>
        </p:spPr>
        <p:txBody>
          <a:bodyPr wrap="square" lIns="0" tIns="0" rIns="0" bIns="0" rtlCol="0" anchor="ctr"/>
          <a:lstStyle/>
          <a:p>
            <a:pPr indent="0" marL="0">
              <a:lnSpc>
                <a:spcPts val="1800"/>
              </a:lnSpc>
              <a:buNone/>
            </a:pPr>
            <a:r>
              <a:rPr lang="en-US" sz="1200" dirty="0">
                <a:solidFill>
                  <a:srgbClr val="E4E9ED"/>
                </a:solidFill>
                <a:latin typeface="Meiryo" pitchFamily="34" charset="0"/>
                <a:ea typeface="Meiryo" pitchFamily="34" charset="-122"/>
                <a:cs typeface="Meiryo" pitchFamily="34" charset="-120"/>
              </a:rPr>
              <a:t>つながっている記録の量と質</a:t>
            </a:r>
            <a:endParaRPr lang="en-US" sz="1200" dirty="0"/>
          </a:p>
        </p:txBody>
      </p:sp>
      <p:sp>
        <p:nvSpPr>
          <p:cNvPr id="23" name="Shape 21"/>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24" name="Shape 22"/>
          <p:cNvSpPr/>
          <p:nvPr/>
        </p:nvSpPr>
        <p:spPr>
          <a:xfrm>
            <a:off x="804672" y="5760720"/>
            <a:ext cx="219456" cy="219456"/>
          </a:xfrm>
          <a:prstGeom prst="ellipse">
            <a:avLst/>
          </a:prstGeom>
          <a:solidFill>
            <a:srgbClr val="A85705"/>
          </a:solidFill>
          <a:ln w="12700">
            <a:solidFill>
              <a:srgbClr val="A85705"/>
            </a:solidFill>
            <a:prstDash val="solid"/>
          </a:ln>
        </p:spPr>
      </p:sp>
      <p:sp>
        <p:nvSpPr>
          <p:cNvPr id="25" name="Text 23"/>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違いは「賢さ」ではなく、手足があるかどうか。手足をつなぐための共通規格が、次にお話しするMCPです。</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01</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AIエージェントは、3つの要素でできています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どこで差がつくのかを、先に押さえておきましょう</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9</a:t>
            </a:r>
            <a:endParaRPr lang="en-US" sz="850" dirty="0"/>
          </a:p>
        </p:txBody>
      </p:sp>
      <p:sp>
        <p:nvSpPr>
          <p:cNvPr id="7" name="Shape 5"/>
          <p:cNvSpPr/>
          <p:nvPr/>
        </p:nvSpPr>
        <p:spPr>
          <a:xfrm>
            <a:off x="566928" y="1755648"/>
            <a:ext cx="3472586" cy="3419856"/>
          </a:xfrm>
          <a:prstGeom prst="roundRect">
            <a:avLst>
              <a:gd name="adj" fmla="val 1872"/>
            </a:avLst>
          </a:prstGeom>
          <a:solidFill>
            <a:srgbClr val="F2F4F6"/>
          </a:solidFill>
          <a:ln w="12700">
            <a:solidFill>
              <a:srgbClr val="F2F4F6"/>
            </a:solidFill>
            <a:prstDash val="solid"/>
          </a:ln>
        </p:spPr>
      </p:sp>
      <p:sp>
        <p:nvSpPr>
          <p:cNvPr id="8" name="Shape 6"/>
          <p:cNvSpPr/>
          <p:nvPr/>
        </p:nvSpPr>
        <p:spPr>
          <a:xfrm>
            <a:off x="877824" y="2029968"/>
            <a:ext cx="768096" cy="768096"/>
          </a:xfrm>
          <a:prstGeom prst="ellipse">
            <a:avLst/>
          </a:prstGeom>
          <a:solidFill>
            <a:srgbClr val="223140"/>
          </a:solidFill>
          <a:ln w="12700">
            <a:solidFill>
              <a:srgbClr val="223140"/>
            </a:solidFill>
            <a:prstDash val="solid"/>
          </a:ln>
        </p:spPr>
      </p:sp>
      <p:sp>
        <p:nvSpPr>
          <p:cNvPr id="9" name="Text 7"/>
          <p:cNvSpPr/>
          <p:nvPr/>
        </p:nvSpPr>
        <p:spPr>
          <a:xfrm>
            <a:off x="877824" y="2029968"/>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頭脳</a:t>
            </a:r>
            <a:endParaRPr lang="en-US" sz="1500" dirty="0"/>
          </a:p>
        </p:txBody>
      </p:sp>
      <p:sp>
        <p:nvSpPr>
          <p:cNvPr id="10" name="Text 8"/>
          <p:cNvSpPr/>
          <p:nvPr/>
        </p:nvSpPr>
        <p:spPr>
          <a:xfrm>
            <a:off x="1755648" y="2029968"/>
            <a:ext cx="1972970" cy="76809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モデル</a:t>
            </a:r>
            <a:endParaRPr lang="en-US" sz="1500" dirty="0"/>
          </a:p>
        </p:txBody>
      </p:sp>
      <p:sp>
        <p:nvSpPr>
          <p:cNvPr id="11" name="Text 9"/>
          <p:cNvSpPr/>
          <p:nvPr/>
        </p:nvSpPr>
        <p:spPr>
          <a:xfrm>
            <a:off x="877824" y="2999232"/>
            <a:ext cx="2850794" cy="1371600"/>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考える・文章にする部分。ChatGPTやClaudeなど。性能は各社で急速に横並びになりつつあり、お金で買えます。</a:t>
            </a:r>
            <a:endParaRPr lang="en-US" sz="1200" dirty="0"/>
          </a:p>
        </p:txBody>
      </p:sp>
      <p:sp>
        <p:nvSpPr>
          <p:cNvPr id="12" name="Shape 10"/>
          <p:cNvSpPr/>
          <p:nvPr/>
        </p:nvSpPr>
        <p:spPr>
          <a:xfrm>
            <a:off x="877824" y="4498848"/>
            <a:ext cx="1371600" cy="402336"/>
          </a:xfrm>
          <a:prstGeom prst="roundRect">
            <a:avLst>
              <a:gd name="adj" fmla="val 15909"/>
            </a:avLst>
          </a:prstGeom>
          <a:solidFill>
            <a:srgbClr val="223140"/>
          </a:solidFill>
          <a:ln w="12700">
            <a:solidFill>
              <a:srgbClr val="223140"/>
            </a:solidFill>
            <a:prstDash val="solid"/>
          </a:ln>
        </p:spPr>
      </p:sp>
      <p:sp>
        <p:nvSpPr>
          <p:cNvPr id="13" name="Text 11"/>
          <p:cNvSpPr/>
          <p:nvPr/>
        </p:nvSpPr>
        <p:spPr>
          <a:xfrm>
            <a:off x="877824" y="4498848"/>
            <a:ext cx="1371600"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買える</a:t>
            </a:r>
            <a:endParaRPr lang="en-US" sz="1150" dirty="0"/>
          </a:p>
        </p:txBody>
      </p:sp>
      <p:sp>
        <p:nvSpPr>
          <p:cNvPr id="14" name="Shape 12"/>
          <p:cNvSpPr/>
          <p:nvPr/>
        </p:nvSpPr>
        <p:spPr>
          <a:xfrm>
            <a:off x="4359554" y="1755648"/>
            <a:ext cx="3472586" cy="3419856"/>
          </a:xfrm>
          <a:prstGeom prst="roundRect">
            <a:avLst>
              <a:gd name="adj" fmla="val 1872"/>
            </a:avLst>
          </a:prstGeom>
          <a:solidFill>
            <a:srgbClr val="F2F4F6"/>
          </a:solidFill>
          <a:ln w="12700">
            <a:solidFill>
              <a:srgbClr val="F2F4F6"/>
            </a:solidFill>
            <a:prstDash val="solid"/>
          </a:ln>
        </p:spPr>
      </p:sp>
      <p:sp>
        <p:nvSpPr>
          <p:cNvPr id="15" name="Shape 13"/>
          <p:cNvSpPr/>
          <p:nvPr/>
        </p:nvSpPr>
        <p:spPr>
          <a:xfrm>
            <a:off x="4670450" y="2029968"/>
            <a:ext cx="768096" cy="768096"/>
          </a:xfrm>
          <a:prstGeom prst="ellipse">
            <a:avLst/>
          </a:prstGeom>
          <a:solidFill>
            <a:srgbClr val="12695D"/>
          </a:solidFill>
          <a:ln w="12700">
            <a:solidFill>
              <a:srgbClr val="12695D"/>
            </a:solidFill>
            <a:prstDash val="solid"/>
          </a:ln>
        </p:spPr>
      </p:sp>
      <p:sp>
        <p:nvSpPr>
          <p:cNvPr id="16" name="Text 14"/>
          <p:cNvSpPr/>
          <p:nvPr/>
        </p:nvSpPr>
        <p:spPr>
          <a:xfrm>
            <a:off x="4670450" y="2029968"/>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手足</a:t>
            </a:r>
            <a:endParaRPr lang="en-US" sz="1500" dirty="0"/>
          </a:p>
        </p:txBody>
      </p:sp>
      <p:sp>
        <p:nvSpPr>
          <p:cNvPr id="17" name="Text 15"/>
          <p:cNvSpPr/>
          <p:nvPr/>
        </p:nvSpPr>
        <p:spPr>
          <a:xfrm>
            <a:off x="5548274" y="2029968"/>
            <a:ext cx="1972970" cy="76809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ツール接続</a:t>
            </a:r>
            <a:endParaRPr lang="en-US" sz="1500" dirty="0"/>
          </a:p>
        </p:txBody>
      </p:sp>
      <p:sp>
        <p:nvSpPr>
          <p:cNvPr id="18" name="Text 16"/>
          <p:cNvSpPr/>
          <p:nvPr/>
        </p:nvSpPr>
        <p:spPr>
          <a:xfrm>
            <a:off x="4670450" y="2999232"/>
            <a:ext cx="2850794" cy="1371600"/>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社内システムを読む・書く部分。ここをつなぐための共通規格が MCP です。整備すれば誰でも使えます。</a:t>
            </a:r>
            <a:endParaRPr lang="en-US" sz="1200" dirty="0"/>
          </a:p>
        </p:txBody>
      </p:sp>
      <p:sp>
        <p:nvSpPr>
          <p:cNvPr id="19" name="Shape 17"/>
          <p:cNvSpPr/>
          <p:nvPr/>
        </p:nvSpPr>
        <p:spPr>
          <a:xfrm>
            <a:off x="4670450" y="4498848"/>
            <a:ext cx="1371600" cy="402336"/>
          </a:xfrm>
          <a:prstGeom prst="roundRect">
            <a:avLst>
              <a:gd name="adj" fmla="val 15909"/>
            </a:avLst>
          </a:prstGeom>
          <a:solidFill>
            <a:srgbClr val="12695D"/>
          </a:solidFill>
          <a:ln w="12700">
            <a:solidFill>
              <a:srgbClr val="12695D"/>
            </a:solidFill>
            <a:prstDash val="solid"/>
          </a:ln>
        </p:spPr>
      </p:sp>
      <p:sp>
        <p:nvSpPr>
          <p:cNvPr id="20" name="Text 18"/>
          <p:cNvSpPr/>
          <p:nvPr/>
        </p:nvSpPr>
        <p:spPr>
          <a:xfrm>
            <a:off x="4670450" y="4498848"/>
            <a:ext cx="1371600"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つなげる</a:t>
            </a:r>
            <a:endParaRPr lang="en-US" sz="1150" dirty="0"/>
          </a:p>
        </p:txBody>
      </p:sp>
      <p:sp>
        <p:nvSpPr>
          <p:cNvPr id="21" name="Shape 19"/>
          <p:cNvSpPr/>
          <p:nvPr/>
        </p:nvSpPr>
        <p:spPr>
          <a:xfrm>
            <a:off x="8152181" y="1755648"/>
            <a:ext cx="3472586" cy="3419856"/>
          </a:xfrm>
          <a:prstGeom prst="roundRect">
            <a:avLst>
              <a:gd name="adj" fmla="val 1872"/>
            </a:avLst>
          </a:prstGeom>
          <a:solidFill>
            <a:srgbClr val="FDF1E2"/>
          </a:solidFill>
          <a:ln w="12700">
            <a:solidFill>
              <a:srgbClr val="FDF1E2"/>
            </a:solidFill>
            <a:prstDash val="solid"/>
          </a:ln>
        </p:spPr>
      </p:sp>
      <p:sp>
        <p:nvSpPr>
          <p:cNvPr id="22" name="Shape 20"/>
          <p:cNvSpPr/>
          <p:nvPr/>
        </p:nvSpPr>
        <p:spPr>
          <a:xfrm>
            <a:off x="8463077" y="2029968"/>
            <a:ext cx="768096" cy="768096"/>
          </a:xfrm>
          <a:prstGeom prst="ellipse">
            <a:avLst/>
          </a:prstGeom>
          <a:solidFill>
            <a:srgbClr val="D97612"/>
          </a:solidFill>
          <a:ln w="12700">
            <a:solidFill>
              <a:srgbClr val="D97612"/>
            </a:solidFill>
            <a:prstDash val="solid"/>
          </a:ln>
        </p:spPr>
      </p:sp>
      <p:sp>
        <p:nvSpPr>
          <p:cNvPr id="23" name="Text 21"/>
          <p:cNvSpPr/>
          <p:nvPr/>
        </p:nvSpPr>
        <p:spPr>
          <a:xfrm>
            <a:off x="8463077" y="2029968"/>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記憶</a:t>
            </a:r>
            <a:endParaRPr lang="en-US" sz="1500" dirty="0"/>
          </a:p>
        </p:txBody>
      </p:sp>
      <p:sp>
        <p:nvSpPr>
          <p:cNvPr id="24" name="Text 22"/>
          <p:cNvSpPr/>
          <p:nvPr/>
        </p:nvSpPr>
        <p:spPr>
          <a:xfrm>
            <a:off x="9340901" y="2029968"/>
            <a:ext cx="1972970" cy="76809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事実・記録</a:t>
            </a:r>
            <a:endParaRPr lang="en-US" sz="1500" dirty="0"/>
          </a:p>
        </p:txBody>
      </p:sp>
      <p:sp>
        <p:nvSpPr>
          <p:cNvPr id="25" name="Text 23"/>
          <p:cNvSpPr/>
          <p:nvPr/>
        </p:nvSpPr>
        <p:spPr>
          <a:xfrm>
            <a:off x="8463077" y="2999232"/>
            <a:ext cx="2850794" cy="1371600"/>
          </a:xfrm>
          <a:prstGeom prst="rect">
            <a:avLst/>
          </a:prstGeom>
          <a:noFill/>
          <a:ln/>
        </p:spPr>
        <p:txBody>
          <a:bodyPr wrap="square" lIns="0" tIns="0" rIns="0" bIns="0" rtlCol="0" anchor="t"/>
          <a:lstStyle/>
          <a:p>
            <a:pPr indent="0" marL="0">
              <a:lnSpc>
                <a:spcPts val="2000"/>
              </a:lnSpc>
              <a:buNone/>
            </a:pPr>
            <a:r>
              <a:rPr lang="en-US" sz="1200" dirty="0">
                <a:solidFill>
                  <a:srgbClr val="6B4A24"/>
                </a:solidFill>
                <a:latin typeface="Meiryo" pitchFamily="34" charset="0"/>
                <a:ea typeface="Meiryo" pitchFamily="34" charset="-122"/>
                <a:cs typeface="Meiryo" pitchFamily="34" charset="-120"/>
              </a:rPr>
              <a:t>判断の材料になる自社の事実。他社は絶対に持っていません。そして、いちばん放置されています。</a:t>
            </a:r>
            <a:endParaRPr lang="en-US" sz="1200" dirty="0"/>
          </a:p>
        </p:txBody>
      </p:sp>
      <p:sp>
        <p:nvSpPr>
          <p:cNvPr id="26" name="Shape 24"/>
          <p:cNvSpPr/>
          <p:nvPr/>
        </p:nvSpPr>
        <p:spPr>
          <a:xfrm>
            <a:off x="8463077" y="4498848"/>
            <a:ext cx="1371600" cy="402336"/>
          </a:xfrm>
          <a:prstGeom prst="roundRect">
            <a:avLst>
              <a:gd name="adj" fmla="val 15909"/>
            </a:avLst>
          </a:prstGeom>
          <a:solidFill>
            <a:srgbClr val="D97612"/>
          </a:solidFill>
          <a:ln w="12700">
            <a:solidFill>
              <a:srgbClr val="D97612"/>
            </a:solidFill>
            <a:prstDash val="solid"/>
          </a:ln>
        </p:spPr>
      </p:sp>
      <p:sp>
        <p:nvSpPr>
          <p:cNvPr id="27" name="Text 25"/>
          <p:cNvSpPr/>
          <p:nvPr/>
        </p:nvSpPr>
        <p:spPr>
          <a:xfrm>
            <a:off x="8463077" y="4498848"/>
            <a:ext cx="1371600"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買えない</a:t>
            </a:r>
            <a:endParaRPr lang="en-US" sz="1150" dirty="0"/>
          </a:p>
        </p:txBody>
      </p:sp>
      <p:sp>
        <p:nvSpPr>
          <p:cNvPr id="28" name="Shape 26"/>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29" name="Shape 27"/>
          <p:cNvSpPr/>
          <p:nvPr/>
        </p:nvSpPr>
        <p:spPr>
          <a:xfrm>
            <a:off x="804672" y="5760720"/>
            <a:ext cx="219456" cy="219456"/>
          </a:xfrm>
          <a:prstGeom prst="ellipse">
            <a:avLst/>
          </a:prstGeom>
          <a:solidFill>
            <a:srgbClr val="A85705"/>
          </a:solidFill>
          <a:ln w="12700">
            <a:solidFill>
              <a:srgbClr val="A85705"/>
            </a:solidFill>
            <a:prstDash val="solid"/>
          </a:ln>
        </p:spPr>
      </p:sp>
      <p:sp>
        <p:nvSpPr>
          <p:cNvPr id="30" name="Text 28"/>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3つのうち、他社と差がつくのは「記憶」だけです。頭脳は買えますが、自社の記録は買えません。</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01</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たとえ話：電話しか使えない新入社員</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いまの多くの職場で起きているのは、これに近い状況です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10</a:t>
            </a:r>
            <a:endParaRPr lang="en-US" sz="850" dirty="0"/>
          </a:p>
        </p:txBody>
      </p:sp>
      <p:sp>
        <p:nvSpPr>
          <p:cNvPr id="7" name="Shape 5"/>
          <p:cNvSpPr/>
          <p:nvPr/>
        </p:nvSpPr>
        <p:spPr>
          <a:xfrm>
            <a:off x="566928" y="1737360"/>
            <a:ext cx="5349240" cy="3200400"/>
          </a:xfrm>
          <a:prstGeom prst="roundRect">
            <a:avLst>
              <a:gd name="adj" fmla="val 2000"/>
            </a:avLst>
          </a:prstGeom>
          <a:solidFill>
            <a:srgbClr val="F2F4F6"/>
          </a:solidFill>
          <a:ln w="12700">
            <a:solidFill>
              <a:srgbClr val="F2F4F6"/>
            </a:solidFill>
            <a:prstDash val="solid"/>
          </a:ln>
        </p:spPr>
      </p:sp>
      <p:sp>
        <p:nvSpPr>
          <p:cNvPr id="8" name="Shape 6"/>
          <p:cNvSpPr/>
          <p:nvPr/>
        </p:nvSpPr>
        <p:spPr>
          <a:xfrm>
            <a:off x="877824" y="2011680"/>
            <a:ext cx="822960" cy="822960"/>
          </a:xfrm>
          <a:prstGeom prst="ellipse">
            <a:avLst/>
          </a:prstGeom>
          <a:solidFill>
            <a:srgbClr val="667382"/>
          </a:solidFill>
          <a:ln w="12700">
            <a:solidFill>
              <a:srgbClr val="667382"/>
            </a:solidFill>
            <a:prstDash val="solid"/>
          </a:ln>
        </p:spPr>
      </p:sp>
      <p:sp>
        <p:nvSpPr>
          <p:cNvPr id="9" name="Text 7"/>
          <p:cNvSpPr/>
          <p:nvPr/>
        </p:nvSpPr>
        <p:spPr>
          <a:xfrm>
            <a:off x="877824" y="201168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現状</a:t>
            </a:r>
            <a:endParaRPr lang="en-US" sz="1500" dirty="0"/>
          </a:p>
        </p:txBody>
      </p:sp>
      <p:sp>
        <p:nvSpPr>
          <p:cNvPr id="10" name="Text 8"/>
          <p:cNvSpPr/>
          <p:nvPr/>
        </p:nvSpPr>
        <p:spPr>
          <a:xfrm>
            <a:off x="1865376" y="1975104"/>
            <a:ext cx="3749040" cy="914400"/>
          </a:xfrm>
          <a:prstGeom prst="rect">
            <a:avLst/>
          </a:prstGeom>
          <a:noFill/>
          <a:ln/>
        </p:spPr>
        <p:txBody>
          <a:bodyPr wrap="square" lIns="0" tIns="0" rIns="0" bIns="0" rtlCol="0" anchor="ctr"/>
          <a:lstStyle/>
          <a:p>
            <a:pPr indent="0" marL="0">
              <a:lnSpc>
                <a:spcPts val="2400"/>
              </a:lnSpc>
              <a:buNone/>
            </a:pPr>
            <a:r>
              <a:rPr lang="en-US" sz="1600" b="1" dirty="0">
                <a:solidFill>
                  <a:srgbClr val="1B2733"/>
                </a:solidFill>
                <a:latin typeface="Meiryo" pitchFamily="34" charset="0"/>
                <a:ea typeface="Meiryo" pitchFamily="34" charset="-122"/>
                <a:cs typeface="Meiryo" pitchFamily="34" charset="-120"/>
              </a:rPr>
              <a:t>優秀だけれど、</a:t>
            </a:r>
            <a:endParaRPr lang="en-US" sz="1600" dirty="0"/>
          </a:p>
          <a:p>
            <a:pPr indent="0" marL="0">
              <a:lnSpc>
                <a:spcPts val="2400"/>
              </a:lnSpc>
              <a:buNone/>
            </a:pPr>
            <a:r>
              <a:rPr lang="en-US" sz="1600" b="1" dirty="0">
                <a:solidFill>
                  <a:srgbClr val="1B2733"/>
                </a:solidFill>
                <a:latin typeface="Meiryo" pitchFamily="34" charset="0"/>
                <a:ea typeface="Meiryo" pitchFamily="34" charset="-122"/>
                <a:cs typeface="Meiryo" pitchFamily="34" charset="-120"/>
              </a:rPr>
              <a:t>社内が何も見えない新人</a:t>
            </a:r>
            <a:endParaRPr lang="en-US" sz="1600" dirty="0"/>
          </a:p>
        </p:txBody>
      </p:sp>
      <p:sp>
        <p:nvSpPr>
          <p:cNvPr id="11" name="Text 9"/>
          <p:cNvSpPr/>
          <p:nvPr/>
        </p:nvSpPr>
        <p:spPr>
          <a:xfrm>
            <a:off x="877824" y="3108960"/>
            <a:ext cx="4754880" cy="1554480"/>
          </a:xfrm>
          <a:prstGeom prst="rect">
            <a:avLst/>
          </a:prstGeom>
          <a:noFill/>
          <a:ln/>
        </p:spPr>
        <p:txBody>
          <a:bodyPr wrap="square" lIns="0" tIns="0" rIns="0" bIns="0" rtlCol="0" anchor="t"/>
          <a:lstStyle/>
          <a:p>
            <a:pPr indent="0" marL="0">
              <a:lnSpc>
                <a:spcPts val="2400"/>
              </a:lnSpc>
              <a:buNone/>
            </a:pPr>
            <a:r>
              <a:rPr lang="en-US" sz="1250" dirty="0">
                <a:solidFill>
                  <a:srgbClr val="667382"/>
                </a:solidFill>
                <a:latin typeface="Meiryo" pitchFamily="34" charset="0"/>
                <a:ea typeface="Meiryo" pitchFamily="34" charset="-122"/>
                <a:cs typeface="Meiryo" pitchFamily="34" charset="-120"/>
              </a:rPr>
              <a:t>・社内のファイルもシステムも見られない</a:t>
            </a:r>
            <a:endParaRPr lang="en-US" sz="1250" dirty="0"/>
          </a:p>
          <a:p>
            <a:pPr indent="0" marL="0">
              <a:lnSpc>
                <a:spcPts val="2400"/>
              </a:lnSpc>
              <a:buNone/>
            </a:pPr>
            <a:r>
              <a:rPr lang="en-US" sz="1250" dirty="0">
                <a:solidFill>
                  <a:srgbClr val="667382"/>
                </a:solidFill>
                <a:latin typeface="Meiryo" pitchFamily="34" charset="0"/>
                <a:ea typeface="Meiryo" pitchFamily="34" charset="-122"/>
                <a:cs typeface="Meiryo" pitchFamily="34" charset="-120"/>
              </a:rPr>
              <a:t>・電話で口頭で聞いたことだけで答える</a:t>
            </a:r>
            <a:endParaRPr lang="en-US" sz="1250" dirty="0"/>
          </a:p>
          <a:p>
            <a:pPr indent="0" marL="0">
              <a:lnSpc>
                <a:spcPts val="2400"/>
              </a:lnSpc>
              <a:buNone/>
            </a:pPr>
            <a:r>
              <a:rPr lang="en-US" sz="1250" dirty="0">
                <a:solidFill>
                  <a:srgbClr val="667382"/>
                </a:solidFill>
                <a:latin typeface="Meiryo" pitchFamily="34" charset="0"/>
                <a:ea typeface="Meiryo" pitchFamily="34" charset="-122"/>
                <a:cs typeface="Meiryo" pitchFamily="34" charset="-120"/>
              </a:rPr>
              <a:t>・だから、答えは立派でも実務では使えない</a:t>
            </a:r>
            <a:endParaRPr lang="en-US" sz="1250" dirty="0"/>
          </a:p>
        </p:txBody>
      </p:sp>
      <p:sp>
        <p:nvSpPr>
          <p:cNvPr id="12" name="Shape 10"/>
          <p:cNvSpPr/>
          <p:nvPr/>
        </p:nvSpPr>
        <p:spPr>
          <a:xfrm>
            <a:off x="6272784" y="1737360"/>
            <a:ext cx="5349240" cy="3200400"/>
          </a:xfrm>
          <a:prstGeom prst="roundRect">
            <a:avLst>
              <a:gd name="adj" fmla="val 2000"/>
            </a:avLst>
          </a:prstGeom>
          <a:solidFill>
            <a:srgbClr val="16202B"/>
          </a:solidFill>
          <a:ln w="12700">
            <a:solidFill>
              <a:srgbClr val="16202B"/>
            </a:solidFill>
            <a:prstDash val="solid"/>
          </a:ln>
        </p:spPr>
      </p:sp>
      <p:sp>
        <p:nvSpPr>
          <p:cNvPr id="13" name="Shape 11"/>
          <p:cNvSpPr/>
          <p:nvPr/>
        </p:nvSpPr>
        <p:spPr>
          <a:xfrm>
            <a:off x="6583680" y="2011680"/>
            <a:ext cx="822960" cy="822960"/>
          </a:xfrm>
          <a:prstGeom prst="ellipse">
            <a:avLst/>
          </a:prstGeom>
          <a:solidFill>
            <a:srgbClr val="D97612"/>
          </a:solidFill>
          <a:ln w="12700">
            <a:solidFill>
              <a:srgbClr val="D97612"/>
            </a:solidFill>
            <a:prstDash val="solid"/>
          </a:ln>
        </p:spPr>
      </p:sp>
      <p:sp>
        <p:nvSpPr>
          <p:cNvPr id="14" name="Text 12"/>
          <p:cNvSpPr/>
          <p:nvPr/>
        </p:nvSpPr>
        <p:spPr>
          <a:xfrm>
            <a:off x="6583680" y="201168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理想</a:t>
            </a:r>
            <a:endParaRPr lang="en-US" sz="1500" dirty="0"/>
          </a:p>
        </p:txBody>
      </p:sp>
      <p:sp>
        <p:nvSpPr>
          <p:cNvPr id="15" name="Text 13"/>
          <p:cNvSpPr/>
          <p:nvPr/>
        </p:nvSpPr>
        <p:spPr>
          <a:xfrm>
            <a:off x="7571232" y="1975104"/>
            <a:ext cx="3749040" cy="914400"/>
          </a:xfrm>
          <a:prstGeom prst="rect">
            <a:avLst/>
          </a:prstGeom>
          <a:noFill/>
          <a:ln/>
        </p:spPr>
        <p:txBody>
          <a:bodyPr wrap="square" lIns="0" tIns="0" rIns="0" bIns="0" rtlCol="0" anchor="ctr"/>
          <a:lstStyle/>
          <a:p>
            <a:pPr indent="0" marL="0">
              <a:lnSpc>
                <a:spcPts val="2400"/>
              </a:lnSpc>
              <a:buNone/>
            </a:pPr>
            <a:r>
              <a:rPr lang="en-US" sz="1600" b="1" dirty="0">
                <a:solidFill>
                  <a:srgbClr val="FFFFFF"/>
                </a:solidFill>
                <a:latin typeface="Meiryo" pitchFamily="34" charset="0"/>
                <a:ea typeface="Meiryo" pitchFamily="34" charset="-122"/>
                <a:cs typeface="Meiryo" pitchFamily="34" charset="-120"/>
              </a:rPr>
              <a:t>入館証と資料棚を</a:t>
            </a:r>
            <a:endParaRPr lang="en-US" sz="1600" dirty="0"/>
          </a:p>
          <a:p>
            <a:pPr indent="0" marL="0">
              <a:lnSpc>
                <a:spcPts val="2400"/>
              </a:lnSpc>
              <a:buNone/>
            </a:pPr>
            <a:r>
              <a:rPr lang="en-US" sz="1600" b="1" dirty="0">
                <a:solidFill>
                  <a:srgbClr val="FFFFFF"/>
                </a:solidFill>
                <a:latin typeface="Meiryo" pitchFamily="34" charset="0"/>
                <a:ea typeface="Meiryo" pitchFamily="34" charset="-122"/>
                <a:cs typeface="Meiryo" pitchFamily="34" charset="-120"/>
              </a:rPr>
              <a:t>渡された新人</a:t>
            </a:r>
            <a:endParaRPr lang="en-US" sz="1600" dirty="0"/>
          </a:p>
        </p:txBody>
      </p:sp>
      <p:sp>
        <p:nvSpPr>
          <p:cNvPr id="16" name="Text 14"/>
          <p:cNvSpPr/>
          <p:nvPr/>
        </p:nvSpPr>
        <p:spPr>
          <a:xfrm>
            <a:off x="6583680" y="3108960"/>
            <a:ext cx="4754880" cy="1554480"/>
          </a:xfrm>
          <a:prstGeom prst="rect">
            <a:avLst/>
          </a:prstGeom>
          <a:noFill/>
          <a:ln/>
        </p:spPr>
        <p:txBody>
          <a:bodyPr wrap="square" lIns="0" tIns="0" rIns="0" bIns="0" rtlCol="0" anchor="t"/>
          <a:lstStyle/>
          <a:p>
            <a:pPr indent="0" marL="0">
              <a:lnSpc>
                <a:spcPts val="2400"/>
              </a:lnSpc>
              <a:buNone/>
            </a:pPr>
            <a:r>
              <a:rPr lang="en-US" sz="1250" dirty="0">
                <a:solidFill>
                  <a:srgbClr val="C6D0DA"/>
                </a:solidFill>
                <a:latin typeface="Meiryo" pitchFamily="34" charset="0"/>
                <a:ea typeface="Meiryo" pitchFamily="34" charset="-122"/>
                <a:cs typeface="Meiryo" pitchFamily="34" charset="-120"/>
              </a:rPr>
              <a:t>・見てよい範囲の資料を、自分で見に行ける</a:t>
            </a:r>
            <a:endParaRPr lang="en-US" sz="1250" dirty="0"/>
          </a:p>
          <a:p>
            <a:pPr indent="0" marL="0">
              <a:lnSpc>
                <a:spcPts val="2400"/>
              </a:lnSpc>
              <a:buNone/>
            </a:pPr>
            <a:r>
              <a:rPr lang="en-US" sz="1250" dirty="0">
                <a:solidFill>
                  <a:srgbClr val="C6D0DA"/>
                </a:solidFill>
                <a:latin typeface="Meiryo" pitchFamily="34" charset="0"/>
                <a:ea typeface="Meiryo" pitchFamily="34" charset="-122"/>
                <a:cs typeface="Meiryo" pitchFamily="34" charset="-120"/>
              </a:rPr>
              <a:t>・過去の記録を参照して、前提を踏まえて書ける</a:t>
            </a:r>
            <a:endParaRPr lang="en-US" sz="1250" dirty="0"/>
          </a:p>
          <a:p>
            <a:pPr indent="0" marL="0">
              <a:lnSpc>
                <a:spcPts val="2400"/>
              </a:lnSpc>
              <a:buNone/>
            </a:pPr>
            <a:r>
              <a:rPr lang="en-US" sz="1250" dirty="0">
                <a:solidFill>
                  <a:srgbClr val="C6D0DA"/>
                </a:solidFill>
                <a:latin typeface="Meiryo" pitchFamily="34" charset="0"/>
                <a:ea typeface="Meiryo" pitchFamily="34" charset="-122"/>
                <a:cs typeface="Meiryo" pitchFamily="34" charset="-120"/>
              </a:rPr>
              <a:t>・社内フォーマットに沿った資料を作れる</a:t>
            </a:r>
            <a:endParaRPr lang="en-US" sz="1250" dirty="0"/>
          </a:p>
        </p:txBody>
      </p:sp>
      <p:sp>
        <p:nvSpPr>
          <p:cNvPr id="17" name="Shape 15"/>
          <p:cNvSpPr/>
          <p:nvPr/>
        </p:nvSpPr>
        <p:spPr>
          <a:xfrm>
            <a:off x="566928" y="5138928"/>
            <a:ext cx="11057839" cy="1060704"/>
          </a:xfrm>
          <a:prstGeom prst="roundRect">
            <a:avLst>
              <a:gd name="adj" fmla="val 6034"/>
            </a:avLst>
          </a:prstGeom>
          <a:solidFill>
            <a:srgbClr val="FDF1E2"/>
          </a:solidFill>
          <a:ln w="12700">
            <a:solidFill>
              <a:srgbClr val="FDF1E2"/>
            </a:solidFill>
            <a:prstDash val="solid"/>
          </a:ln>
        </p:spPr>
      </p:sp>
      <p:sp>
        <p:nvSpPr>
          <p:cNvPr id="18" name="Text 16"/>
          <p:cNvSpPr/>
          <p:nvPr/>
        </p:nvSpPr>
        <p:spPr>
          <a:xfrm>
            <a:off x="932688" y="5138928"/>
            <a:ext cx="10326319" cy="1060704"/>
          </a:xfrm>
          <a:prstGeom prst="rect">
            <a:avLst/>
          </a:prstGeom>
          <a:noFill/>
          <a:ln/>
        </p:spPr>
        <p:txBody>
          <a:bodyPr wrap="square" lIns="0" tIns="0" rIns="0" bIns="0" rtlCol="0" anchor="ctr"/>
          <a:lstStyle/>
          <a:p>
            <a:pPr indent="0" marL="0">
              <a:lnSpc>
                <a:spcPts val="2600"/>
              </a:lnSpc>
              <a:buNone/>
            </a:pPr>
            <a:r>
              <a:rPr lang="en-US" sz="1300" dirty="0">
                <a:solidFill>
                  <a:srgbClr val="6B4A24"/>
                </a:solidFill>
                <a:latin typeface="Meiryo" pitchFamily="34" charset="0"/>
                <a:ea typeface="Meiryo" pitchFamily="34" charset="-122"/>
                <a:cs typeface="Meiryo" pitchFamily="34" charset="-120"/>
              </a:rPr>
              <a:t>つまり、効くのは「指示の上手さ」ではありません。</a:t>
            </a:r>
            <a:endParaRPr lang="en-US" sz="1300" dirty="0"/>
          </a:p>
          <a:p>
            <a:pPr indent="0" marL="0">
              <a:lnSpc>
                <a:spcPts val="2600"/>
              </a:lnSpc>
              <a:buNone/>
            </a:pPr>
            <a:r>
              <a:rPr lang="en-US" sz="1700" b="1" dirty="0">
                <a:solidFill>
                  <a:srgbClr val="A85705"/>
                </a:solidFill>
                <a:latin typeface="Meiryo" pitchFamily="34" charset="0"/>
                <a:ea typeface="Meiryo" pitchFamily="34" charset="-122"/>
                <a:cs typeface="Meiryo" pitchFamily="34" charset="-120"/>
              </a:rPr>
              <a:t>渡すべきは、入館証（権限）と、資料棚（記録）です。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Text 1"/>
          <p:cNvSpPr/>
          <p:nvPr/>
        </p:nvSpPr>
        <p:spPr>
          <a:xfrm>
            <a:off x="8332927" y="1280160"/>
            <a:ext cx="3291840" cy="4023360"/>
          </a:xfrm>
          <a:prstGeom prst="rect">
            <a:avLst/>
          </a:prstGeom>
          <a:noFill/>
          <a:ln/>
        </p:spPr>
        <p:txBody>
          <a:bodyPr wrap="square" lIns="0" tIns="0" rIns="0" bIns="0" rtlCol="0" anchor="ctr"/>
          <a:lstStyle/>
          <a:p>
            <a:pPr algn="r" indent="0" marL="0">
              <a:buNone/>
            </a:pPr>
            <a:r>
              <a:rPr lang="en-US" sz="20000" b="1" dirty="0">
                <a:solidFill>
                  <a:srgbClr val="223140"/>
                </a:solidFill>
                <a:latin typeface="Meiryo" pitchFamily="34" charset="0"/>
                <a:ea typeface="Meiryo" pitchFamily="34" charset="-122"/>
                <a:cs typeface="Meiryo" pitchFamily="34" charset="-120"/>
              </a:rPr>
              <a:t>02</a:t>
            </a:r>
            <a:endParaRPr lang="en-US" sz="20000" dirty="0"/>
          </a:p>
        </p:txBody>
      </p:sp>
      <p:sp>
        <p:nvSpPr>
          <p:cNvPr id="4" name="Shape 2"/>
          <p:cNvSpPr/>
          <p:nvPr/>
        </p:nvSpPr>
        <p:spPr>
          <a:xfrm>
            <a:off x="566928" y="2103120"/>
            <a:ext cx="713232" cy="713232"/>
          </a:xfrm>
          <a:prstGeom prst="ellipse">
            <a:avLst/>
          </a:prstGeom>
          <a:solidFill>
            <a:srgbClr val="D97612"/>
          </a:solidFill>
          <a:ln w="12700">
            <a:solidFill>
              <a:srgbClr val="D97612"/>
            </a:solidFill>
            <a:prstDash val="solid"/>
          </a:ln>
        </p:spPr>
      </p:sp>
      <p:sp>
        <p:nvSpPr>
          <p:cNvPr id="5" name="Text 3"/>
          <p:cNvSpPr/>
          <p:nvPr/>
        </p:nvSpPr>
        <p:spPr>
          <a:xfrm>
            <a:off x="566928" y="2103120"/>
            <a:ext cx="713232"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6" name="Text 4"/>
          <p:cNvSpPr/>
          <p:nvPr/>
        </p:nvSpPr>
        <p:spPr>
          <a:xfrm>
            <a:off x="1536192" y="2103120"/>
            <a:ext cx="3657600" cy="237744"/>
          </a:xfrm>
          <a:prstGeom prst="rect">
            <a:avLst/>
          </a:prstGeom>
          <a:noFill/>
          <a:ln/>
        </p:spPr>
        <p:txBody>
          <a:bodyPr wrap="square" lIns="0" tIns="0" rIns="0" bIns="0" rtlCol="0" anchor="ctr"/>
          <a:lstStyle/>
          <a:p>
            <a:pPr indent="0" marL="0">
              <a:buNone/>
            </a:pPr>
            <a:r>
              <a:rPr lang="en-US" sz="1000" b="1" spc="200" kern="0" dirty="0">
                <a:solidFill>
                  <a:srgbClr val="D97612"/>
                </a:solidFill>
                <a:latin typeface="Meiryo" pitchFamily="34" charset="0"/>
                <a:ea typeface="Meiryo" pitchFamily="34" charset="-122"/>
                <a:cs typeface="Meiryo" pitchFamily="34" charset="-120"/>
              </a:rPr>
              <a:t>SECTION</a:t>
            </a:r>
            <a:endParaRPr lang="en-US" sz="1000" dirty="0"/>
          </a:p>
        </p:txBody>
      </p:sp>
      <p:sp>
        <p:nvSpPr>
          <p:cNvPr id="7" name="Text 5"/>
          <p:cNvSpPr/>
          <p:nvPr/>
        </p:nvSpPr>
        <p:spPr>
          <a:xfrm>
            <a:off x="1536192" y="2359152"/>
            <a:ext cx="10088575"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MCPとは何か</a:t>
            </a:r>
            <a:endParaRPr lang="en-US" sz="3200" dirty="0"/>
          </a:p>
        </p:txBody>
      </p:sp>
      <p:sp>
        <p:nvSpPr>
          <p:cNvPr id="8" name="Text 6"/>
          <p:cNvSpPr/>
          <p:nvPr/>
        </p:nvSpPr>
        <p:spPr>
          <a:xfrm>
            <a:off x="1536192" y="3054096"/>
            <a:ext cx="9594799" cy="384048"/>
          </a:xfrm>
          <a:prstGeom prst="rect">
            <a:avLst/>
          </a:prstGeom>
          <a:noFill/>
          <a:ln/>
        </p:spPr>
        <p:txBody>
          <a:bodyPr wrap="square" lIns="0" tIns="0" rIns="0" bIns="0" rtlCol="0" anchor="ctr"/>
          <a:lstStyle/>
          <a:p>
            <a:pPr indent="0" marL="0">
              <a:buNone/>
            </a:pPr>
            <a:r>
              <a:rPr lang="en-US" sz="1400" dirty="0">
                <a:solidFill>
                  <a:srgbClr val="B9C4CF"/>
                </a:solidFill>
                <a:latin typeface="Meiryo" pitchFamily="34" charset="0"/>
                <a:ea typeface="Meiryo" pitchFamily="34" charset="-122"/>
                <a:cs typeface="Meiryo" pitchFamily="34" charset="-120"/>
              </a:rPr>
              <a:t>「AIと社内システムをつなぐ共通規格」— これだけ押さえれば十分です</a:t>
            </a:r>
            <a:endParaRPr lang="en-US" sz="1400" dirty="0"/>
          </a:p>
        </p:txBody>
      </p:sp>
      <p:sp>
        <p:nvSpPr>
          <p:cNvPr id="9" name="Shape 7"/>
          <p:cNvSpPr/>
          <p:nvPr/>
        </p:nvSpPr>
        <p:spPr>
          <a:xfrm>
            <a:off x="1536192" y="3675888"/>
            <a:ext cx="5852160" cy="566928"/>
          </a:xfrm>
          <a:prstGeom prst="roundRect">
            <a:avLst>
              <a:gd name="adj" fmla="val 11290"/>
            </a:avLst>
          </a:prstGeom>
          <a:solidFill>
            <a:srgbClr val="223140"/>
          </a:solidFill>
          <a:ln w="12700">
            <a:solidFill>
              <a:srgbClr val="223140"/>
            </a:solidFill>
            <a:prstDash val="solid"/>
          </a:ln>
        </p:spPr>
      </p:sp>
      <p:sp>
        <p:nvSpPr>
          <p:cNvPr id="10" name="Text 8"/>
          <p:cNvSpPr/>
          <p:nvPr/>
        </p:nvSpPr>
        <p:spPr>
          <a:xfrm>
            <a:off x="1719072" y="3675888"/>
            <a:ext cx="5486400" cy="566928"/>
          </a:xfrm>
          <a:prstGeom prst="rect">
            <a:avLst/>
          </a:prstGeom>
          <a:noFill/>
          <a:ln/>
        </p:spPr>
        <p:txBody>
          <a:bodyPr wrap="square" lIns="0" tIns="0" rIns="0" bIns="0" rtlCol="0" anchor="ctr"/>
          <a:lstStyle/>
          <a:p>
            <a:pPr indent="0" marL="0">
              <a:buNone/>
            </a:pPr>
            <a:r>
              <a:rPr lang="en-US" sz="1150" dirty="0">
                <a:solidFill>
                  <a:srgbClr val="E4E9ED"/>
                </a:solidFill>
                <a:latin typeface="Meiryo" pitchFamily="34" charset="0"/>
                <a:ea typeface="Meiryo" pitchFamily="34" charset="-122"/>
                <a:cs typeface="Meiryo" pitchFamily="34" charset="-120"/>
              </a:rPr>
              <a:t>製品名ではありません。ここが最大の誤解ポイントです。</a:t>
            </a:r>
            <a:endParaRPr lang="en-US" sz="1150" dirty="0"/>
          </a:p>
        </p:txBody>
      </p:sp>
      <p:sp>
        <p:nvSpPr>
          <p:cNvPr id="11" name="Text 9"/>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6B7684"/>
                </a:solidFill>
                <a:latin typeface="Meiryo" pitchFamily="34" charset="0"/>
                <a:ea typeface="Meiryo" pitchFamily="34" charset="-122"/>
                <a:cs typeface="Meiryo"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02</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MCPをひとことで言うと</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Model Context Protocol の頭文字です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12</a:t>
            </a:r>
            <a:endParaRPr lang="en-US" sz="850" dirty="0"/>
          </a:p>
        </p:txBody>
      </p:sp>
      <p:sp>
        <p:nvSpPr>
          <p:cNvPr id="7" name="Shape 5"/>
          <p:cNvSpPr/>
          <p:nvPr/>
        </p:nvSpPr>
        <p:spPr>
          <a:xfrm>
            <a:off x="566928" y="1719072"/>
            <a:ext cx="11057839" cy="1572768"/>
          </a:xfrm>
          <a:prstGeom prst="roundRect">
            <a:avLst>
              <a:gd name="adj" fmla="val 4070"/>
            </a:avLst>
          </a:prstGeom>
          <a:solidFill>
            <a:srgbClr val="16202B"/>
          </a:solidFill>
          <a:ln w="12700">
            <a:solidFill>
              <a:srgbClr val="16202B"/>
            </a:solidFill>
            <a:prstDash val="solid"/>
          </a:ln>
        </p:spPr>
      </p:sp>
      <p:sp>
        <p:nvSpPr>
          <p:cNvPr id="8" name="Text 6"/>
          <p:cNvSpPr/>
          <p:nvPr/>
        </p:nvSpPr>
        <p:spPr>
          <a:xfrm>
            <a:off x="969264" y="1719072"/>
            <a:ext cx="10253167" cy="1572768"/>
          </a:xfrm>
          <a:prstGeom prst="rect">
            <a:avLst/>
          </a:prstGeom>
          <a:noFill/>
          <a:ln/>
        </p:spPr>
        <p:txBody>
          <a:bodyPr wrap="square" lIns="0" tIns="0" rIns="0" bIns="0" rtlCol="0" anchor="ctr"/>
          <a:lstStyle/>
          <a:p>
            <a:pPr indent="0" marL="0">
              <a:lnSpc>
                <a:spcPts val="3400"/>
              </a:lnSpc>
              <a:buNone/>
            </a:pPr>
            <a:r>
              <a:rPr lang="en-US" sz="2400" b="1" dirty="0">
                <a:solidFill>
                  <a:srgbClr val="D97612"/>
                </a:solidFill>
                <a:latin typeface="Meiryo" pitchFamily="34" charset="0"/>
                <a:ea typeface="Meiryo" pitchFamily="34" charset="-122"/>
                <a:cs typeface="Meiryo" pitchFamily="34" charset="-120"/>
              </a:rPr>
              <a:t>MCP ＝ </a:t>
            </a:r>
            <a:pPr indent="0" marL="0">
              <a:lnSpc>
                <a:spcPts val="3400"/>
              </a:lnSpc>
              <a:buNone/>
            </a:pPr>
            <a:r>
              <a:rPr lang="en-US" sz="2100" b="1" dirty="0">
                <a:solidFill>
                  <a:srgbClr val="FFFFFF"/>
                </a:solidFill>
                <a:latin typeface="Meiryo" pitchFamily="34" charset="0"/>
                <a:ea typeface="Meiryo" pitchFamily="34" charset="-122"/>
                <a:cs typeface="Meiryo" pitchFamily="34" charset="-120"/>
              </a:rPr>
              <a:t>AIと、社内のデータやツールをつなぐための</a:t>
            </a:r>
            <a:endParaRPr lang="en-US" sz="2400" dirty="0"/>
          </a:p>
          <a:p>
            <a:pPr indent="0" marL="0">
              <a:lnSpc>
                <a:spcPts val="3400"/>
              </a:lnSpc>
              <a:buNone/>
            </a:pPr>
            <a:r>
              <a:rPr lang="en-US" sz="2100" b="1" dirty="0">
                <a:solidFill>
                  <a:srgbClr val="FFFFFF"/>
                </a:solidFill>
                <a:latin typeface="Meiryo" pitchFamily="34" charset="0"/>
                <a:ea typeface="Meiryo" pitchFamily="34" charset="-122"/>
                <a:cs typeface="Meiryo" pitchFamily="34" charset="-120"/>
              </a:rPr>
              <a:t>「共通の作法」を決めた取り決め（規格）</a:t>
            </a:r>
            <a:endParaRPr lang="en-US" sz="2400" dirty="0"/>
          </a:p>
        </p:txBody>
      </p:sp>
      <p:sp>
        <p:nvSpPr>
          <p:cNvPr id="9" name="Text 7"/>
          <p:cNvSpPr/>
          <p:nvPr/>
        </p:nvSpPr>
        <p:spPr>
          <a:xfrm>
            <a:off x="566928" y="3419856"/>
            <a:ext cx="11057839" cy="310896"/>
          </a:xfrm>
          <a:prstGeom prst="rect">
            <a:avLst/>
          </a:prstGeom>
          <a:noFill/>
          <a:ln/>
        </p:spPr>
        <p:txBody>
          <a:bodyPr wrap="square" lIns="0" tIns="0" rIns="0" bIns="0" rtlCol="0" anchor="ctr"/>
          <a:lstStyle/>
          <a:p>
            <a:pPr indent="0" marL="0">
              <a:buNone/>
            </a:pPr>
            <a:r>
              <a:rPr lang="en-US" sz="1200" dirty="0">
                <a:solidFill>
                  <a:srgbClr val="667382"/>
                </a:solidFill>
                <a:latin typeface="Meiryo" pitchFamily="34" charset="0"/>
                <a:ea typeface="Meiryo" pitchFamily="34" charset="-122"/>
                <a:cs typeface="Meiryo" pitchFamily="34" charset="-120"/>
              </a:rPr>
              <a:t>身近なたとえ：USB Type-C や 電源コンセントの規格。「差し口の形を揃えましょう」という約束事にあたります。</a:t>
            </a:r>
            <a:endParaRPr lang="en-US" sz="1200" dirty="0"/>
          </a:p>
        </p:txBody>
      </p:sp>
      <p:sp>
        <p:nvSpPr>
          <p:cNvPr id="10" name="Shape 8"/>
          <p:cNvSpPr/>
          <p:nvPr/>
        </p:nvSpPr>
        <p:spPr>
          <a:xfrm>
            <a:off x="566928" y="3877056"/>
            <a:ext cx="3503066" cy="1536192"/>
          </a:xfrm>
          <a:prstGeom prst="roundRect">
            <a:avLst>
              <a:gd name="adj" fmla="val 4167"/>
            </a:avLst>
          </a:prstGeom>
          <a:solidFill>
            <a:srgbClr val="F2F4F6"/>
          </a:solidFill>
          <a:ln w="12700">
            <a:solidFill>
              <a:srgbClr val="F2F4F6"/>
            </a:solidFill>
            <a:prstDash val="solid"/>
          </a:ln>
        </p:spPr>
      </p:sp>
      <p:sp>
        <p:nvSpPr>
          <p:cNvPr id="11" name="Shape 9"/>
          <p:cNvSpPr/>
          <p:nvPr/>
        </p:nvSpPr>
        <p:spPr>
          <a:xfrm>
            <a:off x="841248" y="4114800"/>
            <a:ext cx="329184" cy="329184"/>
          </a:xfrm>
          <a:prstGeom prst="ellipse">
            <a:avLst/>
          </a:prstGeom>
          <a:solidFill>
            <a:srgbClr val="223140"/>
          </a:solidFill>
          <a:ln w="12700">
            <a:solidFill>
              <a:srgbClr val="223140"/>
            </a:solidFill>
            <a:prstDash val="solid"/>
          </a:ln>
        </p:spPr>
      </p:sp>
      <p:sp>
        <p:nvSpPr>
          <p:cNvPr id="12" name="Text 10"/>
          <p:cNvSpPr/>
          <p:nvPr/>
        </p:nvSpPr>
        <p:spPr>
          <a:xfrm>
            <a:off x="841248" y="41148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3" name="Text 11"/>
          <p:cNvSpPr/>
          <p:nvPr/>
        </p:nvSpPr>
        <p:spPr>
          <a:xfrm>
            <a:off x="1280160" y="4059936"/>
            <a:ext cx="2497226" cy="402336"/>
          </a:xfrm>
          <a:prstGeom prst="rect">
            <a:avLst/>
          </a:prstGeom>
          <a:noFill/>
          <a:ln/>
        </p:spPr>
        <p:txBody>
          <a:bodyPr wrap="square" lIns="0" tIns="0" rIns="0" bIns="0" rtlCol="0" anchor="ctr"/>
          <a:lstStyle/>
          <a:p>
            <a:pPr indent="0" marL="0">
              <a:buNone/>
            </a:pPr>
            <a:r>
              <a:rPr lang="en-US" sz="1300" b="1" dirty="0">
                <a:solidFill>
                  <a:srgbClr val="1B2733"/>
                </a:solidFill>
                <a:latin typeface="Meiryo" pitchFamily="34" charset="0"/>
                <a:ea typeface="Meiryo" pitchFamily="34" charset="-122"/>
                <a:cs typeface="Meiryo" pitchFamily="34" charset="-120"/>
              </a:rPr>
              <a:t>規格である</a:t>
            </a:r>
            <a:endParaRPr lang="en-US" sz="1300" dirty="0"/>
          </a:p>
        </p:txBody>
      </p:sp>
      <p:sp>
        <p:nvSpPr>
          <p:cNvPr id="14" name="Text 12"/>
          <p:cNvSpPr/>
          <p:nvPr/>
        </p:nvSpPr>
        <p:spPr>
          <a:xfrm>
            <a:off x="841248" y="4535424"/>
            <a:ext cx="2954426" cy="786384"/>
          </a:xfrm>
          <a:prstGeom prst="rect">
            <a:avLst/>
          </a:prstGeom>
          <a:noFill/>
          <a:ln/>
        </p:spPr>
        <p:txBody>
          <a:bodyPr wrap="square" lIns="0" tIns="0" rIns="0" bIns="0" rtlCol="0" anchor="t"/>
          <a:lstStyle/>
          <a:p>
            <a:pPr indent="0" marL="0">
              <a:lnSpc>
                <a:spcPts val="1700"/>
              </a:lnSpc>
              <a:buNone/>
            </a:pPr>
            <a:r>
              <a:rPr lang="en-US" sz="1100" dirty="0">
                <a:solidFill>
                  <a:srgbClr val="667382"/>
                </a:solidFill>
                <a:latin typeface="Meiryo" pitchFamily="34" charset="0"/>
                <a:ea typeface="Meiryo" pitchFamily="34" charset="-122"/>
                <a:cs typeface="Meiryo" pitchFamily="34" charset="-120"/>
              </a:rPr>
              <a:t>製品でもサービスでもありません。公開された取り決めで、利用にライセンス料はかかりません。</a:t>
            </a:r>
            <a:endParaRPr lang="en-US" sz="1100" dirty="0"/>
          </a:p>
        </p:txBody>
      </p:sp>
      <p:sp>
        <p:nvSpPr>
          <p:cNvPr id="15" name="Shape 13"/>
          <p:cNvSpPr/>
          <p:nvPr/>
        </p:nvSpPr>
        <p:spPr>
          <a:xfrm>
            <a:off x="4344314" y="3877056"/>
            <a:ext cx="3503066" cy="1536192"/>
          </a:xfrm>
          <a:prstGeom prst="roundRect">
            <a:avLst>
              <a:gd name="adj" fmla="val 4167"/>
            </a:avLst>
          </a:prstGeom>
          <a:solidFill>
            <a:srgbClr val="F2F4F6"/>
          </a:solidFill>
          <a:ln w="12700">
            <a:solidFill>
              <a:srgbClr val="F2F4F6"/>
            </a:solidFill>
            <a:prstDash val="solid"/>
          </a:ln>
        </p:spPr>
      </p:sp>
      <p:sp>
        <p:nvSpPr>
          <p:cNvPr id="16" name="Shape 14"/>
          <p:cNvSpPr/>
          <p:nvPr/>
        </p:nvSpPr>
        <p:spPr>
          <a:xfrm>
            <a:off x="4618634" y="4114800"/>
            <a:ext cx="329184" cy="329184"/>
          </a:xfrm>
          <a:prstGeom prst="ellipse">
            <a:avLst/>
          </a:prstGeom>
          <a:solidFill>
            <a:srgbClr val="223140"/>
          </a:solidFill>
          <a:ln w="12700">
            <a:solidFill>
              <a:srgbClr val="223140"/>
            </a:solidFill>
            <a:prstDash val="solid"/>
          </a:ln>
        </p:spPr>
      </p:sp>
      <p:sp>
        <p:nvSpPr>
          <p:cNvPr id="17" name="Text 15"/>
          <p:cNvSpPr/>
          <p:nvPr/>
        </p:nvSpPr>
        <p:spPr>
          <a:xfrm>
            <a:off x="4618634" y="41148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8" name="Text 16"/>
          <p:cNvSpPr/>
          <p:nvPr/>
        </p:nvSpPr>
        <p:spPr>
          <a:xfrm>
            <a:off x="5057546" y="4059936"/>
            <a:ext cx="2497226" cy="402336"/>
          </a:xfrm>
          <a:prstGeom prst="rect">
            <a:avLst/>
          </a:prstGeom>
          <a:noFill/>
          <a:ln/>
        </p:spPr>
        <p:txBody>
          <a:bodyPr wrap="square" lIns="0" tIns="0" rIns="0" bIns="0" rtlCol="0" anchor="ctr"/>
          <a:lstStyle/>
          <a:p>
            <a:pPr indent="0" marL="0">
              <a:buNone/>
            </a:pPr>
            <a:r>
              <a:rPr lang="en-US" sz="1300" b="1" dirty="0">
                <a:solidFill>
                  <a:srgbClr val="1B2733"/>
                </a:solidFill>
                <a:latin typeface="Meiryo" pitchFamily="34" charset="0"/>
                <a:ea typeface="Meiryo" pitchFamily="34" charset="-122"/>
                <a:cs typeface="Meiryo" pitchFamily="34" charset="-120"/>
              </a:rPr>
              <a:t>つなぐ側とつながれる側</a:t>
            </a:r>
            <a:endParaRPr lang="en-US" sz="1300" dirty="0"/>
          </a:p>
        </p:txBody>
      </p:sp>
      <p:sp>
        <p:nvSpPr>
          <p:cNvPr id="19" name="Text 17"/>
          <p:cNvSpPr/>
          <p:nvPr/>
        </p:nvSpPr>
        <p:spPr>
          <a:xfrm>
            <a:off x="4618634" y="4535424"/>
            <a:ext cx="2954426" cy="786384"/>
          </a:xfrm>
          <a:prstGeom prst="rect">
            <a:avLst/>
          </a:prstGeom>
          <a:noFill/>
          <a:ln/>
        </p:spPr>
        <p:txBody>
          <a:bodyPr wrap="square" lIns="0" tIns="0" rIns="0" bIns="0" rtlCol="0" anchor="t"/>
          <a:lstStyle/>
          <a:p>
            <a:pPr indent="0" marL="0">
              <a:lnSpc>
                <a:spcPts val="1700"/>
              </a:lnSpc>
              <a:buNone/>
            </a:pPr>
            <a:r>
              <a:rPr lang="en-US" sz="1100" dirty="0">
                <a:solidFill>
                  <a:srgbClr val="667382"/>
                </a:solidFill>
                <a:latin typeface="Meiryo" pitchFamily="34" charset="0"/>
                <a:ea typeface="Meiryo" pitchFamily="34" charset="-122"/>
                <a:cs typeface="Meiryo" pitchFamily="34" charset="-120"/>
              </a:rPr>
              <a:t>AI側（クライアント）と、データを出す側（サーバー）の間の約束事です。両方が対応すれば会話できます。</a:t>
            </a:r>
            <a:endParaRPr lang="en-US" sz="1100" dirty="0"/>
          </a:p>
        </p:txBody>
      </p:sp>
      <p:sp>
        <p:nvSpPr>
          <p:cNvPr id="20" name="Shape 18"/>
          <p:cNvSpPr/>
          <p:nvPr/>
        </p:nvSpPr>
        <p:spPr>
          <a:xfrm>
            <a:off x="8121701" y="3877056"/>
            <a:ext cx="3503066" cy="1536192"/>
          </a:xfrm>
          <a:prstGeom prst="roundRect">
            <a:avLst>
              <a:gd name="adj" fmla="val 4167"/>
            </a:avLst>
          </a:prstGeom>
          <a:solidFill>
            <a:srgbClr val="F2F4F6"/>
          </a:solidFill>
          <a:ln w="12700">
            <a:solidFill>
              <a:srgbClr val="F2F4F6"/>
            </a:solidFill>
            <a:prstDash val="solid"/>
          </a:ln>
        </p:spPr>
      </p:sp>
      <p:sp>
        <p:nvSpPr>
          <p:cNvPr id="21" name="Shape 19"/>
          <p:cNvSpPr/>
          <p:nvPr/>
        </p:nvSpPr>
        <p:spPr>
          <a:xfrm>
            <a:off x="8396021" y="4114800"/>
            <a:ext cx="329184" cy="329184"/>
          </a:xfrm>
          <a:prstGeom prst="ellipse">
            <a:avLst/>
          </a:prstGeom>
          <a:solidFill>
            <a:srgbClr val="223140"/>
          </a:solidFill>
          <a:ln w="12700">
            <a:solidFill>
              <a:srgbClr val="223140"/>
            </a:solidFill>
            <a:prstDash val="solid"/>
          </a:ln>
        </p:spPr>
      </p:sp>
      <p:sp>
        <p:nvSpPr>
          <p:cNvPr id="22" name="Text 20"/>
          <p:cNvSpPr/>
          <p:nvPr/>
        </p:nvSpPr>
        <p:spPr>
          <a:xfrm>
            <a:off x="8396021" y="41148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3" name="Text 21"/>
          <p:cNvSpPr/>
          <p:nvPr/>
        </p:nvSpPr>
        <p:spPr>
          <a:xfrm>
            <a:off x="8834933" y="4059936"/>
            <a:ext cx="2497226" cy="402336"/>
          </a:xfrm>
          <a:prstGeom prst="rect">
            <a:avLst/>
          </a:prstGeom>
          <a:noFill/>
          <a:ln/>
        </p:spPr>
        <p:txBody>
          <a:bodyPr wrap="square" lIns="0" tIns="0" rIns="0" bIns="0" rtlCol="0" anchor="ctr"/>
          <a:lstStyle/>
          <a:p>
            <a:pPr indent="0" marL="0">
              <a:buNone/>
            </a:pPr>
            <a:r>
              <a:rPr lang="en-US" sz="1300" b="1" dirty="0">
                <a:solidFill>
                  <a:srgbClr val="1B2733"/>
                </a:solidFill>
                <a:latin typeface="Meiryo" pitchFamily="34" charset="0"/>
                <a:ea typeface="Meiryo" pitchFamily="34" charset="-122"/>
                <a:cs typeface="Meiryo" pitchFamily="34" charset="-120"/>
              </a:rPr>
              <a:t>事実上の標準に</a:t>
            </a:r>
            <a:endParaRPr lang="en-US" sz="1300" dirty="0"/>
          </a:p>
        </p:txBody>
      </p:sp>
      <p:sp>
        <p:nvSpPr>
          <p:cNvPr id="24" name="Text 22"/>
          <p:cNvSpPr/>
          <p:nvPr/>
        </p:nvSpPr>
        <p:spPr>
          <a:xfrm>
            <a:off x="8396021" y="4535424"/>
            <a:ext cx="2954426" cy="786384"/>
          </a:xfrm>
          <a:prstGeom prst="rect">
            <a:avLst/>
          </a:prstGeom>
          <a:noFill/>
          <a:ln/>
        </p:spPr>
        <p:txBody>
          <a:bodyPr wrap="square" lIns="0" tIns="0" rIns="0" bIns="0" rtlCol="0" anchor="t"/>
          <a:lstStyle/>
          <a:p>
            <a:pPr indent="0" marL="0">
              <a:lnSpc>
                <a:spcPts val="1700"/>
              </a:lnSpc>
              <a:buNone/>
            </a:pPr>
            <a:r>
              <a:rPr lang="en-US" sz="1100" dirty="0">
                <a:solidFill>
                  <a:srgbClr val="667382"/>
                </a:solidFill>
                <a:latin typeface="Meiryo" pitchFamily="34" charset="0"/>
                <a:ea typeface="Meiryo" pitchFamily="34" charset="-122"/>
                <a:cs typeface="Meiryo" pitchFamily="34" charset="-120"/>
              </a:rPr>
              <a:t>2024年末に公開され、以降 主要なAIベンダーやSaaSが相次いで対応。いまは標準として扱って差し支えありません。</a:t>
            </a:r>
            <a:endParaRPr lang="en-US" sz="1100" dirty="0"/>
          </a:p>
        </p:txBody>
      </p:sp>
      <p:sp>
        <p:nvSpPr>
          <p:cNvPr id="25" name="Shape 23"/>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26" name="Shape 24"/>
          <p:cNvSpPr/>
          <p:nvPr/>
        </p:nvSpPr>
        <p:spPr>
          <a:xfrm>
            <a:off x="804672" y="5760720"/>
            <a:ext cx="219456" cy="219456"/>
          </a:xfrm>
          <a:prstGeom prst="ellipse">
            <a:avLst/>
          </a:prstGeom>
          <a:solidFill>
            <a:srgbClr val="12695D"/>
          </a:solidFill>
          <a:ln w="12700">
            <a:solidFill>
              <a:srgbClr val="12695D"/>
            </a:solidFill>
            <a:prstDash val="solid"/>
          </a:ln>
        </p:spPr>
      </p:sp>
      <p:sp>
        <p:nvSpPr>
          <p:cNvPr id="27" name="Text 25"/>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覚えていただきたいのは1点だけ。MCPは「つなぎ方の規格」です。つなぐ先に記録がなければ、何も出てきません。</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02</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MCPで何が変わったか：掛け算が足し算になりました</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つなぐ手間の増え方が変わる、という話です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13</a:t>
            </a:r>
            <a:endParaRPr lang="en-US" sz="850" dirty="0"/>
          </a:p>
        </p:txBody>
      </p:sp>
      <p:sp>
        <p:nvSpPr>
          <p:cNvPr id="7" name="Shape 5"/>
          <p:cNvSpPr/>
          <p:nvPr/>
        </p:nvSpPr>
        <p:spPr>
          <a:xfrm>
            <a:off x="566928" y="1700784"/>
            <a:ext cx="5349240" cy="3566160"/>
          </a:xfrm>
          <a:prstGeom prst="roundRect">
            <a:avLst>
              <a:gd name="adj" fmla="val 1795"/>
            </a:avLst>
          </a:prstGeom>
          <a:solidFill>
            <a:srgbClr val="F2F4F6"/>
          </a:solidFill>
          <a:ln w="12700">
            <a:solidFill>
              <a:srgbClr val="F2F4F6"/>
            </a:solidFill>
            <a:prstDash val="solid"/>
          </a:ln>
        </p:spPr>
      </p:sp>
      <p:sp>
        <p:nvSpPr>
          <p:cNvPr id="8" name="Text 6"/>
          <p:cNvSpPr/>
          <p:nvPr/>
        </p:nvSpPr>
        <p:spPr>
          <a:xfrm>
            <a:off x="841248" y="1828800"/>
            <a:ext cx="2743200" cy="365760"/>
          </a:xfrm>
          <a:prstGeom prst="rect">
            <a:avLst/>
          </a:prstGeom>
          <a:noFill/>
          <a:ln/>
        </p:spPr>
        <p:txBody>
          <a:bodyPr wrap="square" lIns="0" tIns="0" rIns="0" bIns="0" rtlCol="0" anchor="ctr"/>
          <a:lstStyle/>
          <a:p>
            <a:pPr indent="0" marL="0">
              <a:buNone/>
            </a:pPr>
            <a:r>
              <a:rPr lang="en-US" sz="1400" b="1" dirty="0">
                <a:solidFill>
                  <a:srgbClr val="667382"/>
                </a:solidFill>
                <a:latin typeface="Meiryo" pitchFamily="34" charset="0"/>
                <a:ea typeface="Meiryo" pitchFamily="34" charset="-122"/>
                <a:cs typeface="Meiryo" pitchFamily="34" charset="-120"/>
              </a:rPr>
              <a:t>MCP以前</a:t>
            </a:r>
            <a:endParaRPr lang="en-US" sz="1400" dirty="0"/>
          </a:p>
        </p:txBody>
      </p:sp>
      <p:sp>
        <p:nvSpPr>
          <p:cNvPr id="9" name="Text 7"/>
          <p:cNvSpPr/>
          <p:nvPr/>
        </p:nvSpPr>
        <p:spPr>
          <a:xfrm>
            <a:off x="2944368" y="1828800"/>
            <a:ext cx="2743200" cy="365760"/>
          </a:xfrm>
          <a:prstGeom prst="rect">
            <a:avLst/>
          </a:prstGeom>
          <a:noFill/>
          <a:ln/>
        </p:spPr>
        <p:txBody>
          <a:bodyPr wrap="square" lIns="0" tIns="0" rIns="0" bIns="0" rtlCol="0" anchor="ctr"/>
          <a:lstStyle/>
          <a:p>
            <a:pPr algn="r" indent="0" marL="0">
              <a:buNone/>
            </a:pPr>
            <a:r>
              <a:rPr lang="en-US" sz="1150" b="1" dirty="0">
                <a:solidFill>
                  <a:srgbClr val="1B2733"/>
                </a:solidFill>
                <a:latin typeface="Meiryo" pitchFamily="34" charset="0"/>
                <a:ea typeface="Meiryo" pitchFamily="34" charset="-122"/>
                <a:cs typeface="Meiryo" pitchFamily="34" charset="-120"/>
              </a:rPr>
              <a:t>4 × 4 ＝ 16 通りを個別開発</a:t>
            </a:r>
            <a:endParaRPr lang="en-US" sz="1150" dirty="0"/>
          </a:p>
        </p:txBody>
      </p:sp>
      <p:sp>
        <p:nvSpPr>
          <p:cNvPr id="10" name="Shape 8"/>
          <p:cNvSpPr/>
          <p:nvPr/>
        </p:nvSpPr>
        <p:spPr>
          <a:xfrm>
            <a:off x="1920240" y="2551176"/>
            <a:ext cx="2624328" cy="0"/>
          </a:xfrm>
          <a:prstGeom prst="line">
            <a:avLst/>
          </a:prstGeom>
          <a:noFill/>
          <a:ln w="7620">
            <a:solidFill>
              <a:srgbClr val="C7D0D9"/>
            </a:solidFill>
            <a:prstDash val="solid"/>
          </a:ln>
        </p:spPr>
      </p:sp>
      <p:sp>
        <p:nvSpPr>
          <p:cNvPr id="11" name="Shape 9"/>
          <p:cNvSpPr/>
          <p:nvPr/>
        </p:nvSpPr>
        <p:spPr>
          <a:xfrm flipV="1">
            <a:off x="1920240" y="2551176"/>
            <a:ext cx="2624328" cy="658368"/>
          </a:xfrm>
          <a:prstGeom prst="line">
            <a:avLst/>
          </a:prstGeom>
          <a:noFill/>
          <a:ln w="7620">
            <a:solidFill>
              <a:srgbClr val="C7D0D9"/>
            </a:solidFill>
            <a:prstDash val="solid"/>
          </a:ln>
        </p:spPr>
      </p:sp>
      <p:sp>
        <p:nvSpPr>
          <p:cNvPr id="12" name="Shape 10"/>
          <p:cNvSpPr/>
          <p:nvPr/>
        </p:nvSpPr>
        <p:spPr>
          <a:xfrm flipV="1">
            <a:off x="1920240" y="2551176"/>
            <a:ext cx="2624328" cy="1316736"/>
          </a:xfrm>
          <a:prstGeom prst="line">
            <a:avLst/>
          </a:prstGeom>
          <a:noFill/>
          <a:ln w="7620">
            <a:solidFill>
              <a:srgbClr val="C7D0D9"/>
            </a:solidFill>
            <a:prstDash val="solid"/>
          </a:ln>
        </p:spPr>
      </p:sp>
      <p:sp>
        <p:nvSpPr>
          <p:cNvPr id="13" name="Shape 11"/>
          <p:cNvSpPr/>
          <p:nvPr/>
        </p:nvSpPr>
        <p:spPr>
          <a:xfrm flipV="1">
            <a:off x="1920240" y="2551176"/>
            <a:ext cx="2624328" cy="1975104"/>
          </a:xfrm>
          <a:prstGeom prst="line">
            <a:avLst/>
          </a:prstGeom>
          <a:noFill/>
          <a:ln w="7620">
            <a:solidFill>
              <a:srgbClr val="C7D0D9"/>
            </a:solidFill>
            <a:prstDash val="solid"/>
          </a:ln>
        </p:spPr>
      </p:sp>
      <p:sp>
        <p:nvSpPr>
          <p:cNvPr id="14" name="Shape 12"/>
          <p:cNvSpPr/>
          <p:nvPr/>
        </p:nvSpPr>
        <p:spPr>
          <a:xfrm>
            <a:off x="1920240" y="2551176"/>
            <a:ext cx="2624328" cy="658368"/>
          </a:xfrm>
          <a:prstGeom prst="line">
            <a:avLst/>
          </a:prstGeom>
          <a:noFill/>
          <a:ln w="7620">
            <a:solidFill>
              <a:srgbClr val="C7D0D9"/>
            </a:solidFill>
            <a:prstDash val="solid"/>
          </a:ln>
        </p:spPr>
      </p:sp>
      <p:sp>
        <p:nvSpPr>
          <p:cNvPr id="15" name="Shape 13"/>
          <p:cNvSpPr/>
          <p:nvPr/>
        </p:nvSpPr>
        <p:spPr>
          <a:xfrm>
            <a:off x="1920240" y="3209544"/>
            <a:ext cx="2624328" cy="0"/>
          </a:xfrm>
          <a:prstGeom prst="line">
            <a:avLst/>
          </a:prstGeom>
          <a:noFill/>
          <a:ln w="7620">
            <a:solidFill>
              <a:srgbClr val="C7D0D9"/>
            </a:solidFill>
            <a:prstDash val="solid"/>
          </a:ln>
        </p:spPr>
      </p:sp>
      <p:sp>
        <p:nvSpPr>
          <p:cNvPr id="16" name="Shape 14"/>
          <p:cNvSpPr/>
          <p:nvPr/>
        </p:nvSpPr>
        <p:spPr>
          <a:xfrm flipV="1">
            <a:off x="1920240" y="3209544"/>
            <a:ext cx="2624328" cy="658368"/>
          </a:xfrm>
          <a:prstGeom prst="line">
            <a:avLst/>
          </a:prstGeom>
          <a:noFill/>
          <a:ln w="7620">
            <a:solidFill>
              <a:srgbClr val="C7D0D9"/>
            </a:solidFill>
            <a:prstDash val="solid"/>
          </a:ln>
        </p:spPr>
      </p:sp>
      <p:sp>
        <p:nvSpPr>
          <p:cNvPr id="17" name="Shape 15"/>
          <p:cNvSpPr/>
          <p:nvPr/>
        </p:nvSpPr>
        <p:spPr>
          <a:xfrm flipV="1">
            <a:off x="1920240" y="3209544"/>
            <a:ext cx="2624328" cy="1316736"/>
          </a:xfrm>
          <a:prstGeom prst="line">
            <a:avLst/>
          </a:prstGeom>
          <a:noFill/>
          <a:ln w="7620">
            <a:solidFill>
              <a:srgbClr val="C7D0D9"/>
            </a:solidFill>
            <a:prstDash val="solid"/>
          </a:ln>
        </p:spPr>
      </p:sp>
      <p:sp>
        <p:nvSpPr>
          <p:cNvPr id="18" name="Shape 16"/>
          <p:cNvSpPr/>
          <p:nvPr/>
        </p:nvSpPr>
        <p:spPr>
          <a:xfrm>
            <a:off x="1920240" y="2551176"/>
            <a:ext cx="2624328" cy="1316736"/>
          </a:xfrm>
          <a:prstGeom prst="line">
            <a:avLst/>
          </a:prstGeom>
          <a:noFill/>
          <a:ln w="7620">
            <a:solidFill>
              <a:srgbClr val="C7D0D9"/>
            </a:solidFill>
            <a:prstDash val="solid"/>
          </a:ln>
        </p:spPr>
      </p:sp>
      <p:sp>
        <p:nvSpPr>
          <p:cNvPr id="19" name="Shape 17"/>
          <p:cNvSpPr/>
          <p:nvPr/>
        </p:nvSpPr>
        <p:spPr>
          <a:xfrm>
            <a:off x="1920240" y="3209544"/>
            <a:ext cx="2624328" cy="658368"/>
          </a:xfrm>
          <a:prstGeom prst="line">
            <a:avLst/>
          </a:prstGeom>
          <a:noFill/>
          <a:ln w="7620">
            <a:solidFill>
              <a:srgbClr val="C7D0D9"/>
            </a:solidFill>
            <a:prstDash val="solid"/>
          </a:ln>
        </p:spPr>
      </p:sp>
      <p:sp>
        <p:nvSpPr>
          <p:cNvPr id="20" name="Shape 18"/>
          <p:cNvSpPr/>
          <p:nvPr/>
        </p:nvSpPr>
        <p:spPr>
          <a:xfrm>
            <a:off x="1920240" y="3867912"/>
            <a:ext cx="2624328" cy="0"/>
          </a:xfrm>
          <a:prstGeom prst="line">
            <a:avLst/>
          </a:prstGeom>
          <a:noFill/>
          <a:ln w="7620">
            <a:solidFill>
              <a:srgbClr val="C7D0D9"/>
            </a:solidFill>
            <a:prstDash val="solid"/>
          </a:ln>
        </p:spPr>
      </p:sp>
      <p:sp>
        <p:nvSpPr>
          <p:cNvPr id="21" name="Shape 19"/>
          <p:cNvSpPr/>
          <p:nvPr/>
        </p:nvSpPr>
        <p:spPr>
          <a:xfrm flipV="1">
            <a:off x="1920240" y="3867912"/>
            <a:ext cx="2624328" cy="658368"/>
          </a:xfrm>
          <a:prstGeom prst="line">
            <a:avLst/>
          </a:prstGeom>
          <a:noFill/>
          <a:ln w="7620">
            <a:solidFill>
              <a:srgbClr val="C7D0D9"/>
            </a:solidFill>
            <a:prstDash val="solid"/>
          </a:ln>
        </p:spPr>
      </p:sp>
      <p:sp>
        <p:nvSpPr>
          <p:cNvPr id="22" name="Shape 20"/>
          <p:cNvSpPr/>
          <p:nvPr/>
        </p:nvSpPr>
        <p:spPr>
          <a:xfrm>
            <a:off x="1920240" y="2551176"/>
            <a:ext cx="2624328" cy="1975104"/>
          </a:xfrm>
          <a:prstGeom prst="line">
            <a:avLst/>
          </a:prstGeom>
          <a:noFill/>
          <a:ln w="7620">
            <a:solidFill>
              <a:srgbClr val="C7D0D9"/>
            </a:solidFill>
            <a:prstDash val="solid"/>
          </a:ln>
        </p:spPr>
      </p:sp>
      <p:sp>
        <p:nvSpPr>
          <p:cNvPr id="23" name="Shape 21"/>
          <p:cNvSpPr/>
          <p:nvPr/>
        </p:nvSpPr>
        <p:spPr>
          <a:xfrm>
            <a:off x="1920240" y="3209544"/>
            <a:ext cx="2624328" cy="1316736"/>
          </a:xfrm>
          <a:prstGeom prst="line">
            <a:avLst/>
          </a:prstGeom>
          <a:noFill/>
          <a:ln w="7620">
            <a:solidFill>
              <a:srgbClr val="C7D0D9"/>
            </a:solidFill>
            <a:prstDash val="solid"/>
          </a:ln>
        </p:spPr>
      </p:sp>
      <p:sp>
        <p:nvSpPr>
          <p:cNvPr id="24" name="Shape 22"/>
          <p:cNvSpPr/>
          <p:nvPr/>
        </p:nvSpPr>
        <p:spPr>
          <a:xfrm>
            <a:off x="1920240" y="3867912"/>
            <a:ext cx="2624328" cy="658368"/>
          </a:xfrm>
          <a:prstGeom prst="line">
            <a:avLst/>
          </a:prstGeom>
          <a:noFill/>
          <a:ln w="7620">
            <a:solidFill>
              <a:srgbClr val="C7D0D9"/>
            </a:solidFill>
            <a:prstDash val="solid"/>
          </a:ln>
        </p:spPr>
      </p:sp>
      <p:sp>
        <p:nvSpPr>
          <p:cNvPr id="25" name="Shape 23"/>
          <p:cNvSpPr/>
          <p:nvPr/>
        </p:nvSpPr>
        <p:spPr>
          <a:xfrm>
            <a:off x="1920240" y="4526280"/>
            <a:ext cx="2624328" cy="0"/>
          </a:xfrm>
          <a:prstGeom prst="line">
            <a:avLst/>
          </a:prstGeom>
          <a:noFill/>
          <a:ln w="7620">
            <a:solidFill>
              <a:srgbClr val="C7D0D9"/>
            </a:solidFill>
            <a:prstDash val="solid"/>
          </a:ln>
        </p:spPr>
      </p:sp>
      <p:sp>
        <p:nvSpPr>
          <p:cNvPr id="26" name="Shape 24"/>
          <p:cNvSpPr/>
          <p:nvPr/>
        </p:nvSpPr>
        <p:spPr>
          <a:xfrm>
            <a:off x="877824" y="2377440"/>
            <a:ext cx="1042416" cy="347472"/>
          </a:xfrm>
          <a:prstGeom prst="roundRect">
            <a:avLst>
              <a:gd name="adj" fmla="val 18421"/>
            </a:avLst>
          </a:prstGeom>
          <a:solidFill>
            <a:srgbClr val="223140"/>
          </a:solidFill>
          <a:ln w="12700">
            <a:solidFill>
              <a:srgbClr val="223140"/>
            </a:solidFill>
            <a:prstDash val="solid"/>
          </a:ln>
        </p:spPr>
      </p:sp>
      <p:sp>
        <p:nvSpPr>
          <p:cNvPr id="27" name="Text 25"/>
          <p:cNvSpPr/>
          <p:nvPr/>
        </p:nvSpPr>
        <p:spPr>
          <a:xfrm>
            <a:off x="877824" y="2377440"/>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AI-A</a:t>
            </a:r>
            <a:endParaRPr lang="en-US" sz="1000" dirty="0"/>
          </a:p>
        </p:txBody>
      </p:sp>
      <p:sp>
        <p:nvSpPr>
          <p:cNvPr id="28" name="Shape 26"/>
          <p:cNvSpPr/>
          <p:nvPr/>
        </p:nvSpPr>
        <p:spPr>
          <a:xfrm>
            <a:off x="877824" y="3035808"/>
            <a:ext cx="1042416" cy="347472"/>
          </a:xfrm>
          <a:prstGeom prst="roundRect">
            <a:avLst>
              <a:gd name="adj" fmla="val 18421"/>
            </a:avLst>
          </a:prstGeom>
          <a:solidFill>
            <a:srgbClr val="223140"/>
          </a:solidFill>
          <a:ln w="12700">
            <a:solidFill>
              <a:srgbClr val="223140"/>
            </a:solidFill>
            <a:prstDash val="solid"/>
          </a:ln>
        </p:spPr>
      </p:sp>
      <p:sp>
        <p:nvSpPr>
          <p:cNvPr id="29" name="Text 27"/>
          <p:cNvSpPr/>
          <p:nvPr/>
        </p:nvSpPr>
        <p:spPr>
          <a:xfrm>
            <a:off x="877824" y="3035808"/>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AI-B</a:t>
            </a:r>
            <a:endParaRPr lang="en-US" sz="1000" dirty="0"/>
          </a:p>
        </p:txBody>
      </p:sp>
      <p:sp>
        <p:nvSpPr>
          <p:cNvPr id="30" name="Shape 28"/>
          <p:cNvSpPr/>
          <p:nvPr/>
        </p:nvSpPr>
        <p:spPr>
          <a:xfrm>
            <a:off x="877824" y="3694176"/>
            <a:ext cx="1042416" cy="347472"/>
          </a:xfrm>
          <a:prstGeom prst="roundRect">
            <a:avLst>
              <a:gd name="adj" fmla="val 18421"/>
            </a:avLst>
          </a:prstGeom>
          <a:solidFill>
            <a:srgbClr val="223140"/>
          </a:solidFill>
          <a:ln w="12700">
            <a:solidFill>
              <a:srgbClr val="223140"/>
            </a:solidFill>
            <a:prstDash val="solid"/>
          </a:ln>
        </p:spPr>
      </p:sp>
      <p:sp>
        <p:nvSpPr>
          <p:cNvPr id="31" name="Text 29"/>
          <p:cNvSpPr/>
          <p:nvPr/>
        </p:nvSpPr>
        <p:spPr>
          <a:xfrm>
            <a:off x="877824" y="3694176"/>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AI-C</a:t>
            </a:r>
            <a:endParaRPr lang="en-US" sz="1000" dirty="0"/>
          </a:p>
        </p:txBody>
      </p:sp>
      <p:sp>
        <p:nvSpPr>
          <p:cNvPr id="32" name="Shape 30"/>
          <p:cNvSpPr/>
          <p:nvPr/>
        </p:nvSpPr>
        <p:spPr>
          <a:xfrm>
            <a:off x="877824" y="4352544"/>
            <a:ext cx="1042416" cy="347472"/>
          </a:xfrm>
          <a:prstGeom prst="roundRect">
            <a:avLst>
              <a:gd name="adj" fmla="val 18421"/>
            </a:avLst>
          </a:prstGeom>
          <a:solidFill>
            <a:srgbClr val="223140"/>
          </a:solidFill>
          <a:ln w="12700">
            <a:solidFill>
              <a:srgbClr val="223140"/>
            </a:solidFill>
            <a:prstDash val="solid"/>
          </a:ln>
        </p:spPr>
      </p:sp>
      <p:sp>
        <p:nvSpPr>
          <p:cNvPr id="33" name="Text 31"/>
          <p:cNvSpPr/>
          <p:nvPr/>
        </p:nvSpPr>
        <p:spPr>
          <a:xfrm>
            <a:off x="877824" y="4352544"/>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AI-D</a:t>
            </a:r>
            <a:endParaRPr lang="en-US" sz="1000" dirty="0"/>
          </a:p>
        </p:txBody>
      </p:sp>
      <p:sp>
        <p:nvSpPr>
          <p:cNvPr id="34" name="Shape 32"/>
          <p:cNvSpPr/>
          <p:nvPr/>
        </p:nvSpPr>
        <p:spPr>
          <a:xfrm>
            <a:off x="4544568" y="2377440"/>
            <a:ext cx="1042416" cy="347472"/>
          </a:xfrm>
          <a:prstGeom prst="roundRect">
            <a:avLst>
              <a:gd name="adj" fmla="val 18421"/>
            </a:avLst>
          </a:prstGeom>
          <a:solidFill>
            <a:srgbClr val="FFFFFF"/>
          </a:solidFill>
          <a:ln w="12700">
            <a:solidFill>
              <a:srgbClr val="8C97A3"/>
            </a:solidFill>
            <a:prstDash val="solid"/>
          </a:ln>
        </p:spPr>
      </p:sp>
      <p:sp>
        <p:nvSpPr>
          <p:cNvPr id="35" name="Text 33"/>
          <p:cNvSpPr/>
          <p:nvPr/>
        </p:nvSpPr>
        <p:spPr>
          <a:xfrm>
            <a:off x="4544568" y="2377440"/>
            <a:ext cx="1042416" cy="347472"/>
          </a:xfrm>
          <a:prstGeom prst="rect">
            <a:avLst/>
          </a:prstGeom>
          <a:noFill/>
          <a:ln/>
        </p:spPr>
        <p:txBody>
          <a:bodyPr wrap="square" lIns="0" tIns="0" rIns="0" bIns="0" rtlCol="0" anchor="ctr"/>
          <a:lstStyle/>
          <a:p>
            <a:pPr algn="ctr" indent="0" marL="0">
              <a:buNone/>
            </a:pPr>
            <a:r>
              <a:rPr lang="en-US" sz="1000" b="1" dirty="0">
                <a:solidFill>
                  <a:srgbClr val="1B2733"/>
                </a:solidFill>
                <a:latin typeface="Meiryo" pitchFamily="34" charset="0"/>
                <a:ea typeface="Meiryo" pitchFamily="34" charset="-122"/>
                <a:cs typeface="Meiryo" pitchFamily="34" charset="-120"/>
              </a:rPr>
              <a:t>会計</a:t>
            </a:r>
            <a:endParaRPr lang="en-US" sz="1000" dirty="0"/>
          </a:p>
        </p:txBody>
      </p:sp>
      <p:sp>
        <p:nvSpPr>
          <p:cNvPr id="36" name="Shape 34"/>
          <p:cNvSpPr/>
          <p:nvPr/>
        </p:nvSpPr>
        <p:spPr>
          <a:xfrm>
            <a:off x="4544568" y="3035808"/>
            <a:ext cx="1042416" cy="347472"/>
          </a:xfrm>
          <a:prstGeom prst="roundRect">
            <a:avLst>
              <a:gd name="adj" fmla="val 18421"/>
            </a:avLst>
          </a:prstGeom>
          <a:solidFill>
            <a:srgbClr val="FFFFFF"/>
          </a:solidFill>
          <a:ln w="12700">
            <a:solidFill>
              <a:srgbClr val="8C97A3"/>
            </a:solidFill>
            <a:prstDash val="solid"/>
          </a:ln>
        </p:spPr>
      </p:sp>
      <p:sp>
        <p:nvSpPr>
          <p:cNvPr id="37" name="Text 35"/>
          <p:cNvSpPr/>
          <p:nvPr/>
        </p:nvSpPr>
        <p:spPr>
          <a:xfrm>
            <a:off x="4544568" y="3035808"/>
            <a:ext cx="1042416" cy="347472"/>
          </a:xfrm>
          <a:prstGeom prst="rect">
            <a:avLst/>
          </a:prstGeom>
          <a:noFill/>
          <a:ln/>
        </p:spPr>
        <p:txBody>
          <a:bodyPr wrap="square" lIns="0" tIns="0" rIns="0" bIns="0" rtlCol="0" anchor="ctr"/>
          <a:lstStyle/>
          <a:p>
            <a:pPr algn="ctr" indent="0" marL="0">
              <a:buNone/>
            </a:pPr>
            <a:r>
              <a:rPr lang="en-US" sz="1000" b="1" dirty="0">
                <a:solidFill>
                  <a:srgbClr val="1B2733"/>
                </a:solidFill>
                <a:latin typeface="Meiryo" pitchFamily="34" charset="0"/>
                <a:ea typeface="Meiryo" pitchFamily="34" charset="-122"/>
                <a:cs typeface="Meiryo" pitchFamily="34" charset="-120"/>
              </a:rPr>
              <a:t>販売</a:t>
            </a:r>
            <a:endParaRPr lang="en-US" sz="1000" dirty="0"/>
          </a:p>
        </p:txBody>
      </p:sp>
      <p:sp>
        <p:nvSpPr>
          <p:cNvPr id="38" name="Shape 36"/>
          <p:cNvSpPr/>
          <p:nvPr/>
        </p:nvSpPr>
        <p:spPr>
          <a:xfrm>
            <a:off x="4544568" y="3694176"/>
            <a:ext cx="1042416" cy="347472"/>
          </a:xfrm>
          <a:prstGeom prst="roundRect">
            <a:avLst>
              <a:gd name="adj" fmla="val 18421"/>
            </a:avLst>
          </a:prstGeom>
          <a:solidFill>
            <a:srgbClr val="FFFFFF"/>
          </a:solidFill>
          <a:ln w="12700">
            <a:solidFill>
              <a:srgbClr val="8C97A3"/>
            </a:solidFill>
            <a:prstDash val="solid"/>
          </a:ln>
        </p:spPr>
      </p:sp>
      <p:sp>
        <p:nvSpPr>
          <p:cNvPr id="39" name="Text 37"/>
          <p:cNvSpPr/>
          <p:nvPr/>
        </p:nvSpPr>
        <p:spPr>
          <a:xfrm>
            <a:off x="4544568" y="3694176"/>
            <a:ext cx="1042416" cy="347472"/>
          </a:xfrm>
          <a:prstGeom prst="rect">
            <a:avLst/>
          </a:prstGeom>
          <a:noFill/>
          <a:ln/>
        </p:spPr>
        <p:txBody>
          <a:bodyPr wrap="square" lIns="0" tIns="0" rIns="0" bIns="0" rtlCol="0" anchor="ctr"/>
          <a:lstStyle/>
          <a:p>
            <a:pPr algn="ctr" indent="0" marL="0">
              <a:buNone/>
            </a:pPr>
            <a:r>
              <a:rPr lang="en-US" sz="1000" b="1" dirty="0">
                <a:solidFill>
                  <a:srgbClr val="1B2733"/>
                </a:solidFill>
                <a:latin typeface="Meiryo" pitchFamily="34" charset="0"/>
                <a:ea typeface="Meiryo" pitchFamily="34" charset="-122"/>
                <a:cs typeface="Meiryo" pitchFamily="34" charset="-120"/>
              </a:rPr>
              <a:t>勤怠</a:t>
            </a:r>
            <a:endParaRPr lang="en-US" sz="1000" dirty="0"/>
          </a:p>
        </p:txBody>
      </p:sp>
      <p:sp>
        <p:nvSpPr>
          <p:cNvPr id="40" name="Shape 38"/>
          <p:cNvSpPr/>
          <p:nvPr/>
        </p:nvSpPr>
        <p:spPr>
          <a:xfrm>
            <a:off x="4544568" y="4352544"/>
            <a:ext cx="1042416" cy="347472"/>
          </a:xfrm>
          <a:prstGeom prst="roundRect">
            <a:avLst>
              <a:gd name="adj" fmla="val 18421"/>
            </a:avLst>
          </a:prstGeom>
          <a:solidFill>
            <a:srgbClr val="FFFFFF"/>
          </a:solidFill>
          <a:ln w="12700">
            <a:solidFill>
              <a:srgbClr val="8C97A3"/>
            </a:solidFill>
            <a:prstDash val="solid"/>
          </a:ln>
        </p:spPr>
      </p:sp>
      <p:sp>
        <p:nvSpPr>
          <p:cNvPr id="41" name="Text 39"/>
          <p:cNvSpPr/>
          <p:nvPr/>
        </p:nvSpPr>
        <p:spPr>
          <a:xfrm>
            <a:off x="4544568" y="4352544"/>
            <a:ext cx="1042416" cy="347472"/>
          </a:xfrm>
          <a:prstGeom prst="rect">
            <a:avLst/>
          </a:prstGeom>
          <a:noFill/>
          <a:ln/>
        </p:spPr>
        <p:txBody>
          <a:bodyPr wrap="square" lIns="0" tIns="0" rIns="0" bIns="0" rtlCol="0" anchor="ctr"/>
          <a:lstStyle/>
          <a:p>
            <a:pPr algn="ctr" indent="0" marL="0">
              <a:buNone/>
            </a:pPr>
            <a:r>
              <a:rPr lang="en-US" sz="1000" b="1" dirty="0">
                <a:solidFill>
                  <a:srgbClr val="1B2733"/>
                </a:solidFill>
                <a:latin typeface="Meiryo" pitchFamily="34" charset="0"/>
                <a:ea typeface="Meiryo" pitchFamily="34" charset="-122"/>
                <a:cs typeface="Meiryo" pitchFamily="34" charset="-120"/>
              </a:rPr>
              <a:t>文書</a:t>
            </a:r>
            <a:endParaRPr lang="en-US" sz="1000" dirty="0"/>
          </a:p>
        </p:txBody>
      </p:sp>
      <p:sp>
        <p:nvSpPr>
          <p:cNvPr id="42" name="Text 40"/>
          <p:cNvSpPr/>
          <p:nvPr/>
        </p:nvSpPr>
        <p:spPr>
          <a:xfrm>
            <a:off x="841248" y="4754880"/>
            <a:ext cx="4800600" cy="310896"/>
          </a:xfrm>
          <a:prstGeom prst="rect">
            <a:avLst/>
          </a:prstGeom>
          <a:noFill/>
          <a:ln/>
        </p:spPr>
        <p:txBody>
          <a:bodyPr wrap="square" lIns="0" tIns="0" rIns="0" bIns="0" rtlCol="0" anchor="ctr"/>
          <a:lstStyle/>
          <a:p>
            <a:pPr indent="0" marL="0">
              <a:buNone/>
            </a:pPr>
            <a:r>
              <a:rPr lang="en-US" sz="1100" dirty="0">
                <a:solidFill>
                  <a:srgbClr val="667382"/>
                </a:solidFill>
                <a:latin typeface="Meiryo" pitchFamily="34" charset="0"/>
                <a:ea typeface="Meiryo" pitchFamily="34" charset="-122"/>
                <a:cs typeface="Meiryo" pitchFamily="34" charset="-120"/>
              </a:rPr>
              <a:t>増えるほど組み合わせが爆発（N × M）</a:t>
            </a:r>
            <a:endParaRPr lang="en-US" sz="1100" dirty="0"/>
          </a:p>
        </p:txBody>
      </p:sp>
      <p:sp>
        <p:nvSpPr>
          <p:cNvPr id="43" name="Shape 41"/>
          <p:cNvSpPr/>
          <p:nvPr/>
        </p:nvSpPr>
        <p:spPr>
          <a:xfrm>
            <a:off x="6272784" y="1700784"/>
            <a:ext cx="5349240" cy="3566160"/>
          </a:xfrm>
          <a:prstGeom prst="roundRect">
            <a:avLst>
              <a:gd name="adj" fmla="val 1795"/>
            </a:avLst>
          </a:prstGeom>
          <a:solidFill>
            <a:srgbClr val="16202B"/>
          </a:solidFill>
          <a:ln w="12700">
            <a:solidFill>
              <a:srgbClr val="16202B"/>
            </a:solidFill>
            <a:prstDash val="solid"/>
          </a:ln>
        </p:spPr>
      </p:sp>
      <p:sp>
        <p:nvSpPr>
          <p:cNvPr id="44" name="Text 42"/>
          <p:cNvSpPr/>
          <p:nvPr/>
        </p:nvSpPr>
        <p:spPr>
          <a:xfrm>
            <a:off x="6547104" y="1828800"/>
            <a:ext cx="2743200" cy="365760"/>
          </a:xfrm>
          <a:prstGeom prst="rect">
            <a:avLst/>
          </a:prstGeom>
          <a:noFill/>
          <a:ln/>
        </p:spPr>
        <p:txBody>
          <a:bodyPr wrap="square" lIns="0" tIns="0" rIns="0" bIns="0" rtlCol="0" anchor="ctr"/>
          <a:lstStyle/>
          <a:p>
            <a:pPr indent="0" marL="0">
              <a:buNone/>
            </a:pPr>
            <a:r>
              <a:rPr lang="en-US" sz="1400" b="1" dirty="0">
                <a:solidFill>
                  <a:srgbClr val="D97612"/>
                </a:solidFill>
                <a:latin typeface="Meiryo" pitchFamily="34" charset="0"/>
                <a:ea typeface="Meiryo" pitchFamily="34" charset="-122"/>
                <a:cs typeface="Meiryo" pitchFamily="34" charset="-120"/>
              </a:rPr>
              <a:t>MCP以後</a:t>
            </a:r>
            <a:endParaRPr lang="en-US" sz="1400" dirty="0"/>
          </a:p>
        </p:txBody>
      </p:sp>
      <p:sp>
        <p:nvSpPr>
          <p:cNvPr id="45" name="Text 43"/>
          <p:cNvSpPr/>
          <p:nvPr/>
        </p:nvSpPr>
        <p:spPr>
          <a:xfrm>
            <a:off x="8613648" y="1828800"/>
            <a:ext cx="2743200" cy="365760"/>
          </a:xfrm>
          <a:prstGeom prst="rect">
            <a:avLst/>
          </a:prstGeom>
          <a:noFill/>
          <a:ln/>
        </p:spPr>
        <p:txBody>
          <a:bodyPr wrap="square" lIns="0" tIns="0" rIns="0" bIns="0" rtlCol="0" anchor="ctr"/>
          <a:lstStyle/>
          <a:p>
            <a:pPr algn="r" indent="0" marL="0">
              <a:buNone/>
            </a:pPr>
            <a:r>
              <a:rPr lang="en-US" sz="1150" b="1" dirty="0">
                <a:solidFill>
                  <a:srgbClr val="FFFFFF"/>
                </a:solidFill>
                <a:latin typeface="Meiryo" pitchFamily="34" charset="0"/>
                <a:ea typeface="Meiryo" pitchFamily="34" charset="-122"/>
                <a:cs typeface="Meiryo" pitchFamily="34" charset="-120"/>
              </a:rPr>
              <a:t>4 ＋ 4 ＝ 8 本の対応でよい</a:t>
            </a:r>
            <a:endParaRPr lang="en-US" sz="1150" dirty="0"/>
          </a:p>
        </p:txBody>
      </p:sp>
      <p:sp>
        <p:nvSpPr>
          <p:cNvPr id="46" name="Shape 44"/>
          <p:cNvSpPr/>
          <p:nvPr/>
        </p:nvSpPr>
        <p:spPr>
          <a:xfrm>
            <a:off x="7626096" y="2551176"/>
            <a:ext cx="1042416" cy="1014984"/>
          </a:xfrm>
          <a:prstGeom prst="line">
            <a:avLst/>
          </a:prstGeom>
          <a:noFill/>
          <a:ln w="11430">
            <a:solidFill>
              <a:srgbClr val="D97612"/>
            </a:solidFill>
            <a:prstDash val="solid"/>
          </a:ln>
        </p:spPr>
      </p:sp>
      <p:sp>
        <p:nvSpPr>
          <p:cNvPr id="47" name="Shape 45"/>
          <p:cNvSpPr/>
          <p:nvPr/>
        </p:nvSpPr>
        <p:spPr>
          <a:xfrm flipV="1">
            <a:off x="9436608" y="2551176"/>
            <a:ext cx="822960" cy="1014984"/>
          </a:xfrm>
          <a:prstGeom prst="line">
            <a:avLst/>
          </a:prstGeom>
          <a:noFill/>
          <a:ln w="11430">
            <a:solidFill>
              <a:srgbClr val="D97612"/>
            </a:solidFill>
            <a:prstDash val="solid"/>
          </a:ln>
        </p:spPr>
      </p:sp>
      <p:sp>
        <p:nvSpPr>
          <p:cNvPr id="48" name="Shape 46"/>
          <p:cNvSpPr/>
          <p:nvPr/>
        </p:nvSpPr>
        <p:spPr>
          <a:xfrm>
            <a:off x="7626096" y="3209544"/>
            <a:ext cx="1042416" cy="356616"/>
          </a:xfrm>
          <a:prstGeom prst="line">
            <a:avLst/>
          </a:prstGeom>
          <a:noFill/>
          <a:ln w="11430">
            <a:solidFill>
              <a:srgbClr val="D97612"/>
            </a:solidFill>
            <a:prstDash val="solid"/>
          </a:ln>
        </p:spPr>
      </p:sp>
      <p:sp>
        <p:nvSpPr>
          <p:cNvPr id="49" name="Shape 47"/>
          <p:cNvSpPr/>
          <p:nvPr/>
        </p:nvSpPr>
        <p:spPr>
          <a:xfrm flipV="1">
            <a:off x="9436608" y="3209544"/>
            <a:ext cx="822960" cy="356616"/>
          </a:xfrm>
          <a:prstGeom prst="line">
            <a:avLst/>
          </a:prstGeom>
          <a:noFill/>
          <a:ln w="11430">
            <a:solidFill>
              <a:srgbClr val="D97612"/>
            </a:solidFill>
            <a:prstDash val="solid"/>
          </a:ln>
        </p:spPr>
      </p:sp>
      <p:sp>
        <p:nvSpPr>
          <p:cNvPr id="50" name="Shape 48"/>
          <p:cNvSpPr/>
          <p:nvPr/>
        </p:nvSpPr>
        <p:spPr>
          <a:xfrm flipV="1">
            <a:off x="7626096" y="3566160"/>
            <a:ext cx="1042416" cy="301752"/>
          </a:xfrm>
          <a:prstGeom prst="line">
            <a:avLst/>
          </a:prstGeom>
          <a:noFill/>
          <a:ln w="11430">
            <a:solidFill>
              <a:srgbClr val="D97612"/>
            </a:solidFill>
            <a:prstDash val="solid"/>
          </a:ln>
        </p:spPr>
      </p:sp>
      <p:sp>
        <p:nvSpPr>
          <p:cNvPr id="51" name="Shape 49"/>
          <p:cNvSpPr/>
          <p:nvPr/>
        </p:nvSpPr>
        <p:spPr>
          <a:xfrm>
            <a:off x="9436608" y="3566160"/>
            <a:ext cx="822960" cy="301752"/>
          </a:xfrm>
          <a:prstGeom prst="line">
            <a:avLst/>
          </a:prstGeom>
          <a:noFill/>
          <a:ln w="11430">
            <a:solidFill>
              <a:srgbClr val="D97612"/>
            </a:solidFill>
            <a:prstDash val="solid"/>
          </a:ln>
        </p:spPr>
      </p:sp>
      <p:sp>
        <p:nvSpPr>
          <p:cNvPr id="52" name="Shape 50"/>
          <p:cNvSpPr/>
          <p:nvPr/>
        </p:nvSpPr>
        <p:spPr>
          <a:xfrm flipV="1">
            <a:off x="7626096" y="3566160"/>
            <a:ext cx="1042416" cy="960120"/>
          </a:xfrm>
          <a:prstGeom prst="line">
            <a:avLst/>
          </a:prstGeom>
          <a:noFill/>
          <a:ln w="11430">
            <a:solidFill>
              <a:srgbClr val="D97612"/>
            </a:solidFill>
            <a:prstDash val="solid"/>
          </a:ln>
        </p:spPr>
      </p:sp>
      <p:sp>
        <p:nvSpPr>
          <p:cNvPr id="53" name="Shape 51"/>
          <p:cNvSpPr/>
          <p:nvPr/>
        </p:nvSpPr>
        <p:spPr>
          <a:xfrm>
            <a:off x="9436608" y="3566160"/>
            <a:ext cx="822960" cy="960120"/>
          </a:xfrm>
          <a:prstGeom prst="line">
            <a:avLst/>
          </a:prstGeom>
          <a:noFill/>
          <a:ln w="11430">
            <a:solidFill>
              <a:srgbClr val="D97612"/>
            </a:solidFill>
            <a:prstDash val="solid"/>
          </a:ln>
        </p:spPr>
      </p:sp>
      <p:sp>
        <p:nvSpPr>
          <p:cNvPr id="54" name="Shape 52"/>
          <p:cNvSpPr/>
          <p:nvPr/>
        </p:nvSpPr>
        <p:spPr>
          <a:xfrm>
            <a:off x="8668512" y="3182112"/>
            <a:ext cx="768096" cy="768096"/>
          </a:xfrm>
          <a:prstGeom prst="ellipse">
            <a:avLst/>
          </a:prstGeom>
          <a:solidFill>
            <a:srgbClr val="D97612"/>
          </a:solidFill>
          <a:ln w="12700">
            <a:solidFill>
              <a:srgbClr val="D97612"/>
            </a:solidFill>
            <a:prstDash val="solid"/>
          </a:ln>
        </p:spPr>
      </p:sp>
      <p:sp>
        <p:nvSpPr>
          <p:cNvPr id="55" name="Text 53"/>
          <p:cNvSpPr/>
          <p:nvPr/>
        </p:nvSpPr>
        <p:spPr>
          <a:xfrm>
            <a:off x="8668512" y="3182112"/>
            <a:ext cx="768096" cy="7680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MCP</a:t>
            </a:r>
            <a:endParaRPr lang="en-US" sz="1050" dirty="0"/>
          </a:p>
        </p:txBody>
      </p:sp>
      <p:sp>
        <p:nvSpPr>
          <p:cNvPr id="56" name="Shape 54"/>
          <p:cNvSpPr/>
          <p:nvPr/>
        </p:nvSpPr>
        <p:spPr>
          <a:xfrm>
            <a:off x="6583680" y="2377440"/>
            <a:ext cx="1042416" cy="347472"/>
          </a:xfrm>
          <a:prstGeom prst="roundRect">
            <a:avLst>
              <a:gd name="adj" fmla="val 18421"/>
            </a:avLst>
          </a:prstGeom>
          <a:solidFill>
            <a:srgbClr val="31465A"/>
          </a:solidFill>
          <a:ln w="12700">
            <a:solidFill>
              <a:srgbClr val="31465A"/>
            </a:solidFill>
            <a:prstDash val="solid"/>
          </a:ln>
        </p:spPr>
      </p:sp>
      <p:sp>
        <p:nvSpPr>
          <p:cNvPr id="57" name="Text 55"/>
          <p:cNvSpPr/>
          <p:nvPr/>
        </p:nvSpPr>
        <p:spPr>
          <a:xfrm>
            <a:off x="6583680" y="2377440"/>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AI-A</a:t>
            </a:r>
            <a:endParaRPr lang="en-US" sz="1000" dirty="0"/>
          </a:p>
        </p:txBody>
      </p:sp>
      <p:sp>
        <p:nvSpPr>
          <p:cNvPr id="58" name="Shape 56"/>
          <p:cNvSpPr/>
          <p:nvPr/>
        </p:nvSpPr>
        <p:spPr>
          <a:xfrm>
            <a:off x="6583680" y="3035808"/>
            <a:ext cx="1042416" cy="347472"/>
          </a:xfrm>
          <a:prstGeom prst="roundRect">
            <a:avLst>
              <a:gd name="adj" fmla="val 18421"/>
            </a:avLst>
          </a:prstGeom>
          <a:solidFill>
            <a:srgbClr val="31465A"/>
          </a:solidFill>
          <a:ln w="12700">
            <a:solidFill>
              <a:srgbClr val="31465A"/>
            </a:solidFill>
            <a:prstDash val="solid"/>
          </a:ln>
        </p:spPr>
      </p:sp>
      <p:sp>
        <p:nvSpPr>
          <p:cNvPr id="59" name="Text 57"/>
          <p:cNvSpPr/>
          <p:nvPr/>
        </p:nvSpPr>
        <p:spPr>
          <a:xfrm>
            <a:off x="6583680" y="3035808"/>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AI-B</a:t>
            </a:r>
            <a:endParaRPr lang="en-US" sz="1000" dirty="0"/>
          </a:p>
        </p:txBody>
      </p:sp>
      <p:sp>
        <p:nvSpPr>
          <p:cNvPr id="60" name="Shape 58"/>
          <p:cNvSpPr/>
          <p:nvPr/>
        </p:nvSpPr>
        <p:spPr>
          <a:xfrm>
            <a:off x="6583680" y="3694176"/>
            <a:ext cx="1042416" cy="347472"/>
          </a:xfrm>
          <a:prstGeom prst="roundRect">
            <a:avLst>
              <a:gd name="adj" fmla="val 18421"/>
            </a:avLst>
          </a:prstGeom>
          <a:solidFill>
            <a:srgbClr val="31465A"/>
          </a:solidFill>
          <a:ln w="12700">
            <a:solidFill>
              <a:srgbClr val="31465A"/>
            </a:solidFill>
            <a:prstDash val="solid"/>
          </a:ln>
        </p:spPr>
      </p:sp>
      <p:sp>
        <p:nvSpPr>
          <p:cNvPr id="61" name="Text 59"/>
          <p:cNvSpPr/>
          <p:nvPr/>
        </p:nvSpPr>
        <p:spPr>
          <a:xfrm>
            <a:off x="6583680" y="3694176"/>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AI-C</a:t>
            </a:r>
            <a:endParaRPr lang="en-US" sz="1000" dirty="0"/>
          </a:p>
        </p:txBody>
      </p:sp>
      <p:sp>
        <p:nvSpPr>
          <p:cNvPr id="62" name="Shape 60"/>
          <p:cNvSpPr/>
          <p:nvPr/>
        </p:nvSpPr>
        <p:spPr>
          <a:xfrm>
            <a:off x="6583680" y="4352544"/>
            <a:ext cx="1042416" cy="347472"/>
          </a:xfrm>
          <a:prstGeom prst="roundRect">
            <a:avLst>
              <a:gd name="adj" fmla="val 18421"/>
            </a:avLst>
          </a:prstGeom>
          <a:solidFill>
            <a:srgbClr val="31465A"/>
          </a:solidFill>
          <a:ln w="12700">
            <a:solidFill>
              <a:srgbClr val="31465A"/>
            </a:solidFill>
            <a:prstDash val="solid"/>
          </a:ln>
        </p:spPr>
      </p:sp>
      <p:sp>
        <p:nvSpPr>
          <p:cNvPr id="63" name="Text 61"/>
          <p:cNvSpPr/>
          <p:nvPr/>
        </p:nvSpPr>
        <p:spPr>
          <a:xfrm>
            <a:off x="6583680" y="4352544"/>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AI-D</a:t>
            </a:r>
            <a:endParaRPr lang="en-US" sz="1000" dirty="0"/>
          </a:p>
        </p:txBody>
      </p:sp>
      <p:sp>
        <p:nvSpPr>
          <p:cNvPr id="64" name="Shape 62"/>
          <p:cNvSpPr/>
          <p:nvPr/>
        </p:nvSpPr>
        <p:spPr>
          <a:xfrm>
            <a:off x="10259568" y="2377440"/>
            <a:ext cx="1042416" cy="347472"/>
          </a:xfrm>
          <a:prstGeom prst="roundRect">
            <a:avLst>
              <a:gd name="adj" fmla="val 18421"/>
            </a:avLst>
          </a:prstGeom>
          <a:solidFill>
            <a:srgbClr val="31465A"/>
          </a:solidFill>
          <a:ln w="12700">
            <a:solidFill>
              <a:srgbClr val="31465A"/>
            </a:solidFill>
            <a:prstDash val="solid"/>
          </a:ln>
        </p:spPr>
      </p:sp>
      <p:sp>
        <p:nvSpPr>
          <p:cNvPr id="65" name="Text 63"/>
          <p:cNvSpPr/>
          <p:nvPr/>
        </p:nvSpPr>
        <p:spPr>
          <a:xfrm>
            <a:off x="10259568" y="2377440"/>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会計</a:t>
            </a:r>
            <a:endParaRPr lang="en-US" sz="1000" dirty="0"/>
          </a:p>
        </p:txBody>
      </p:sp>
      <p:sp>
        <p:nvSpPr>
          <p:cNvPr id="66" name="Shape 64"/>
          <p:cNvSpPr/>
          <p:nvPr/>
        </p:nvSpPr>
        <p:spPr>
          <a:xfrm>
            <a:off x="10259568" y="3035808"/>
            <a:ext cx="1042416" cy="347472"/>
          </a:xfrm>
          <a:prstGeom prst="roundRect">
            <a:avLst>
              <a:gd name="adj" fmla="val 18421"/>
            </a:avLst>
          </a:prstGeom>
          <a:solidFill>
            <a:srgbClr val="31465A"/>
          </a:solidFill>
          <a:ln w="12700">
            <a:solidFill>
              <a:srgbClr val="31465A"/>
            </a:solidFill>
            <a:prstDash val="solid"/>
          </a:ln>
        </p:spPr>
      </p:sp>
      <p:sp>
        <p:nvSpPr>
          <p:cNvPr id="67" name="Text 65"/>
          <p:cNvSpPr/>
          <p:nvPr/>
        </p:nvSpPr>
        <p:spPr>
          <a:xfrm>
            <a:off x="10259568" y="3035808"/>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販売</a:t>
            </a:r>
            <a:endParaRPr lang="en-US" sz="1000" dirty="0"/>
          </a:p>
        </p:txBody>
      </p:sp>
      <p:sp>
        <p:nvSpPr>
          <p:cNvPr id="68" name="Shape 66"/>
          <p:cNvSpPr/>
          <p:nvPr/>
        </p:nvSpPr>
        <p:spPr>
          <a:xfrm>
            <a:off x="10259568" y="3694176"/>
            <a:ext cx="1042416" cy="347472"/>
          </a:xfrm>
          <a:prstGeom prst="roundRect">
            <a:avLst>
              <a:gd name="adj" fmla="val 18421"/>
            </a:avLst>
          </a:prstGeom>
          <a:solidFill>
            <a:srgbClr val="31465A"/>
          </a:solidFill>
          <a:ln w="12700">
            <a:solidFill>
              <a:srgbClr val="31465A"/>
            </a:solidFill>
            <a:prstDash val="solid"/>
          </a:ln>
        </p:spPr>
      </p:sp>
      <p:sp>
        <p:nvSpPr>
          <p:cNvPr id="69" name="Text 67"/>
          <p:cNvSpPr/>
          <p:nvPr/>
        </p:nvSpPr>
        <p:spPr>
          <a:xfrm>
            <a:off x="10259568" y="3694176"/>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勤怠</a:t>
            </a:r>
            <a:endParaRPr lang="en-US" sz="1000" dirty="0"/>
          </a:p>
        </p:txBody>
      </p:sp>
      <p:sp>
        <p:nvSpPr>
          <p:cNvPr id="70" name="Shape 68"/>
          <p:cNvSpPr/>
          <p:nvPr/>
        </p:nvSpPr>
        <p:spPr>
          <a:xfrm>
            <a:off x="10259568" y="4352544"/>
            <a:ext cx="1042416" cy="347472"/>
          </a:xfrm>
          <a:prstGeom prst="roundRect">
            <a:avLst>
              <a:gd name="adj" fmla="val 18421"/>
            </a:avLst>
          </a:prstGeom>
          <a:solidFill>
            <a:srgbClr val="31465A"/>
          </a:solidFill>
          <a:ln w="12700">
            <a:solidFill>
              <a:srgbClr val="31465A"/>
            </a:solidFill>
            <a:prstDash val="solid"/>
          </a:ln>
        </p:spPr>
      </p:sp>
      <p:sp>
        <p:nvSpPr>
          <p:cNvPr id="71" name="Text 69"/>
          <p:cNvSpPr/>
          <p:nvPr/>
        </p:nvSpPr>
        <p:spPr>
          <a:xfrm>
            <a:off x="10259568" y="4352544"/>
            <a:ext cx="1042416"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文書</a:t>
            </a:r>
            <a:endParaRPr lang="en-US" sz="1000" dirty="0"/>
          </a:p>
        </p:txBody>
      </p:sp>
      <p:sp>
        <p:nvSpPr>
          <p:cNvPr id="72" name="Text 70"/>
          <p:cNvSpPr/>
          <p:nvPr/>
        </p:nvSpPr>
        <p:spPr>
          <a:xfrm>
            <a:off x="6547104" y="4754880"/>
            <a:ext cx="4800600" cy="310896"/>
          </a:xfrm>
          <a:prstGeom prst="rect">
            <a:avLst/>
          </a:prstGeom>
          <a:noFill/>
          <a:ln/>
        </p:spPr>
        <p:txBody>
          <a:bodyPr wrap="square" lIns="0" tIns="0" rIns="0" bIns="0" rtlCol="0" anchor="ctr"/>
          <a:lstStyle/>
          <a:p>
            <a:pPr indent="0" marL="0">
              <a:buNone/>
            </a:pPr>
            <a:r>
              <a:rPr lang="en-US" sz="1100" dirty="0">
                <a:solidFill>
                  <a:srgbClr val="B9C4CF"/>
                </a:solidFill>
                <a:latin typeface="Meiryo" pitchFamily="34" charset="0"/>
                <a:ea typeface="Meiryo" pitchFamily="34" charset="-122"/>
                <a:cs typeface="Meiryo" pitchFamily="34" charset="-120"/>
              </a:rPr>
              <a:t>片方を入れ替えても、作り直しにならない（N ＋ M）</a:t>
            </a:r>
            <a:endParaRPr lang="en-US" sz="1100" dirty="0"/>
          </a:p>
        </p:txBody>
      </p:sp>
      <p:sp>
        <p:nvSpPr>
          <p:cNvPr id="73" name="Shape 71"/>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74" name="Shape 72"/>
          <p:cNvSpPr/>
          <p:nvPr/>
        </p:nvSpPr>
        <p:spPr>
          <a:xfrm>
            <a:off x="804672" y="5760720"/>
            <a:ext cx="219456" cy="219456"/>
          </a:xfrm>
          <a:prstGeom prst="ellipse">
            <a:avLst/>
          </a:prstGeom>
          <a:solidFill>
            <a:srgbClr val="A85705"/>
          </a:solidFill>
          <a:ln w="12700">
            <a:solidFill>
              <a:srgbClr val="A85705"/>
            </a:solidFill>
            <a:prstDash val="solid"/>
          </a:ln>
        </p:spPr>
      </p:sp>
      <p:sp>
        <p:nvSpPr>
          <p:cNvPr id="75" name="Text 73"/>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経営企画にとっての意味：AIツールの乗り換えコストが下がります。特定ベンダーに縛られにくくなる、ということです。</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02</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実務は、具体的にこう変わります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変わるのは「人がデータを探して整える時間」です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14</a:t>
            </a:r>
            <a:endParaRPr lang="en-US" sz="850" dirty="0"/>
          </a:p>
        </p:txBody>
      </p:sp>
      <p:sp>
        <p:nvSpPr>
          <p:cNvPr id="7" name="Shape 5"/>
          <p:cNvSpPr/>
          <p:nvPr/>
        </p:nvSpPr>
        <p:spPr>
          <a:xfrm>
            <a:off x="566928" y="1755648"/>
            <a:ext cx="7863840" cy="1060704"/>
          </a:xfrm>
          <a:prstGeom prst="roundRect">
            <a:avLst>
              <a:gd name="adj" fmla="val 6034"/>
            </a:avLst>
          </a:prstGeom>
          <a:solidFill>
            <a:srgbClr val="FDF1E2"/>
          </a:solidFill>
          <a:ln w="12700">
            <a:solidFill>
              <a:srgbClr val="FDF1E2"/>
            </a:solidFill>
            <a:prstDash val="solid"/>
          </a:ln>
        </p:spPr>
      </p:sp>
      <p:sp>
        <p:nvSpPr>
          <p:cNvPr id="8" name="Shape 6"/>
          <p:cNvSpPr/>
          <p:nvPr/>
        </p:nvSpPr>
        <p:spPr>
          <a:xfrm>
            <a:off x="841248" y="2066544"/>
            <a:ext cx="438912" cy="438912"/>
          </a:xfrm>
          <a:prstGeom prst="ellipse">
            <a:avLst/>
          </a:prstGeom>
          <a:solidFill>
            <a:srgbClr val="D97612"/>
          </a:solidFill>
          <a:ln w="12700">
            <a:solidFill>
              <a:srgbClr val="D97612"/>
            </a:solidFill>
            <a:prstDash val="solid"/>
          </a:ln>
        </p:spPr>
      </p:sp>
      <p:sp>
        <p:nvSpPr>
          <p:cNvPr id="9" name="Text 7"/>
          <p:cNvSpPr/>
          <p:nvPr/>
        </p:nvSpPr>
        <p:spPr>
          <a:xfrm>
            <a:off x="841248" y="20665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0" name="Text 8"/>
          <p:cNvSpPr/>
          <p:nvPr/>
        </p:nvSpPr>
        <p:spPr>
          <a:xfrm>
            <a:off x="1444752" y="1865376"/>
            <a:ext cx="2743200" cy="402336"/>
          </a:xfrm>
          <a:prstGeom prst="rect">
            <a:avLst/>
          </a:prstGeom>
          <a:noFill/>
          <a:ln/>
        </p:spPr>
        <p:txBody>
          <a:bodyPr wrap="square" lIns="0" tIns="0" rIns="0" bIns="0" rtlCol="0" anchor="ctr"/>
          <a:lstStyle/>
          <a:p>
            <a:pPr indent="0" marL="0">
              <a:buNone/>
            </a:pPr>
            <a:r>
              <a:rPr lang="en-US" sz="1500" b="1" dirty="0">
                <a:solidFill>
                  <a:srgbClr val="A85705"/>
                </a:solidFill>
                <a:latin typeface="Meiryo" pitchFamily="34" charset="0"/>
                <a:ea typeface="Meiryo" pitchFamily="34" charset="-122"/>
                <a:cs typeface="Meiryo" pitchFamily="34" charset="-120"/>
              </a:rPr>
              <a:t>コピペがなくなる</a:t>
            </a:r>
            <a:endParaRPr lang="en-US" sz="1500" dirty="0"/>
          </a:p>
        </p:txBody>
      </p:sp>
      <p:sp>
        <p:nvSpPr>
          <p:cNvPr id="11" name="Text 9"/>
          <p:cNvSpPr/>
          <p:nvPr/>
        </p:nvSpPr>
        <p:spPr>
          <a:xfrm>
            <a:off x="1444752" y="2249424"/>
            <a:ext cx="6675120" cy="512064"/>
          </a:xfrm>
          <a:prstGeom prst="rect">
            <a:avLst/>
          </a:prstGeom>
          <a:noFill/>
          <a:ln/>
        </p:spPr>
        <p:txBody>
          <a:bodyPr wrap="square" lIns="0" tIns="0" rIns="0" bIns="0" rtlCol="0" anchor="t"/>
          <a:lstStyle/>
          <a:p>
            <a:pPr indent="0" marL="0">
              <a:lnSpc>
                <a:spcPts val="1800"/>
              </a:lnSpc>
              <a:buNone/>
            </a:pPr>
            <a:r>
              <a:rPr lang="en-US" sz="1150" dirty="0">
                <a:solidFill>
                  <a:srgbClr val="6B4A24"/>
                </a:solidFill>
                <a:latin typeface="Meiryo" pitchFamily="34" charset="0"/>
                <a:ea typeface="Meiryo" pitchFamily="34" charset="-122"/>
                <a:cs typeface="Meiryo" pitchFamily="34" charset="-120"/>
              </a:rPr>
              <a:t>「先月の部門別の残業時間を出して」と頼めば、AIが該当するデータを自分で取りに行きます。人が探して貼り付ける工程が消えます。</a:t>
            </a:r>
            <a:endParaRPr lang="en-US" sz="1150" dirty="0"/>
          </a:p>
        </p:txBody>
      </p:sp>
      <p:sp>
        <p:nvSpPr>
          <p:cNvPr id="12" name="Shape 10"/>
          <p:cNvSpPr/>
          <p:nvPr/>
        </p:nvSpPr>
        <p:spPr>
          <a:xfrm>
            <a:off x="566928" y="2980944"/>
            <a:ext cx="7863840" cy="1060704"/>
          </a:xfrm>
          <a:prstGeom prst="roundRect">
            <a:avLst>
              <a:gd name="adj" fmla="val 6034"/>
            </a:avLst>
          </a:prstGeom>
          <a:solidFill>
            <a:srgbClr val="F2F4F6"/>
          </a:solidFill>
          <a:ln w="12700">
            <a:solidFill>
              <a:srgbClr val="F2F4F6"/>
            </a:solidFill>
            <a:prstDash val="solid"/>
          </a:ln>
        </p:spPr>
      </p:sp>
      <p:sp>
        <p:nvSpPr>
          <p:cNvPr id="13" name="Shape 11"/>
          <p:cNvSpPr/>
          <p:nvPr/>
        </p:nvSpPr>
        <p:spPr>
          <a:xfrm>
            <a:off x="841248" y="3291840"/>
            <a:ext cx="438912" cy="438912"/>
          </a:xfrm>
          <a:prstGeom prst="ellipse">
            <a:avLst/>
          </a:prstGeom>
          <a:solidFill>
            <a:srgbClr val="223140"/>
          </a:solidFill>
          <a:ln w="12700">
            <a:solidFill>
              <a:srgbClr val="223140"/>
            </a:solidFill>
            <a:prstDash val="solid"/>
          </a:ln>
        </p:spPr>
      </p:sp>
      <p:sp>
        <p:nvSpPr>
          <p:cNvPr id="14" name="Text 12"/>
          <p:cNvSpPr/>
          <p:nvPr/>
        </p:nvSpPr>
        <p:spPr>
          <a:xfrm>
            <a:off x="841248" y="329184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5" name="Text 13"/>
          <p:cNvSpPr/>
          <p:nvPr/>
        </p:nvSpPr>
        <p:spPr>
          <a:xfrm>
            <a:off x="1444752" y="3090672"/>
            <a:ext cx="2743200"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資料化まで一気に進む</a:t>
            </a:r>
            <a:endParaRPr lang="en-US" sz="1500" dirty="0"/>
          </a:p>
        </p:txBody>
      </p:sp>
      <p:sp>
        <p:nvSpPr>
          <p:cNvPr id="16" name="Text 14"/>
          <p:cNvSpPr/>
          <p:nvPr/>
        </p:nvSpPr>
        <p:spPr>
          <a:xfrm>
            <a:off x="1444752" y="3474720"/>
            <a:ext cx="6675120" cy="512064"/>
          </a:xfrm>
          <a:prstGeom prst="rect">
            <a:avLst/>
          </a:prstGeom>
          <a:noFill/>
          <a:ln/>
        </p:spPr>
        <p:txBody>
          <a:bodyPr wrap="square" lIns="0" tIns="0" rIns="0" bIns="0" rtlCol="0" anchor="t"/>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集計 → グラフ化 → 説明文の下書きまでが、同じ会話の中で終わります。別のツールに移る必要がありません。</a:t>
            </a:r>
            <a:endParaRPr lang="en-US" sz="1150" dirty="0"/>
          </a:p>
        </p:txBody>
      </p:sp>
      <p:sp>
        <p:nvSpPr>
          <p:cNvPr id="17" name="Shape 15"/>
          <p:cNvSpPr/>
          <p:nvPr/>
        </p:nvSpPr>
        <p:spPr>
          <a:xfrm>
            <a:off x="566928" y="4206240"/>
            <a:ext cx="7863840" cy="1060704"/>
          </a:xfrm>
          <a:prstGeom prst="roundRect">
            <a:avLst>
              <a:gd name="adj" fmla="val 6034"/>
            </a:avLst>
          </a:prstGeom>
          <a:solidFill>
            <a:srgbClr val="F2F4F6"/>
          </a:solidFill>
          <a:ln w="12700">
            <a:solidFill>
              <a:srgbClr val="F2F4F6"/>
            </a:solidFill>
            <a:prstDash val="solid"/>
          </a:ln>
        </p:spPr>
      </p:sp>
      <p:sp>
        <p:nvSpPr>
          <p:cNvPr id="18" name="Shape 16"/>
          <p:cNvSpPr/>
          <p:nvPr/>
        </p:nvSpPr>
        <p:spPr>
          <a:xfrm>
            <a:off x="841248" y="4517136"/>
            <a:ext cx="438912" cy="438912"/>
          </a:xfrm>
          <a:prstGeom prst="ellipse">
            <a:avLst/>
          </a:prstGeom>
          <a:solidFill>
            <a:srgbClr val="223140"/>
          </a:solidFill>
          <a:ln w="12700">
            <a:solidFill>
              <a:srgbClr val="223140"/>
            </a:solidFill>
            <a:prstDash val="solid"/>
          </a:ln>
        </p:spPr>
      </p:sp>
      <p:sp>
        <p:nvSpPr>
          <p:cNvPr id="19" name="Text 17"/>
          <p:cNvSpPr/>
          <p:nvPr/>
        </p:nvSpPr>
        <p:spPr>
          <a:xfrm>
            <a:off x="841248" y="4517136"/>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0" name="Text 18"/>
          <p:cNvSpPr/>
          <p:nvPr/>
        </p:nvSpPr>
        <p:spPr>
          <a:xfrm>
            <a:off x="1444752" y="4315968"/>
            <a:ext cx="2743200"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属人化が薄まる</a:t>
            </a:r>
            <a:endParaRPr lang="en-US" sz="1500" dirty="0"/>
          </a:p>
        </p:txBody>
      </p:sp>
      <p:sp>
        <p:nvSpPr>
          <p:cNvPr id="21" name="Text 19"/>
          <p:cNvSpPr/>
          <p:nvPr/>
        </p:nvSpPr>
        <p:spPr>
          <a:xfrm>
            <a:off x="1444752" y="4700016"/>
            <a:ext cx="6675120" cy="512064"/>
          </a:xfrm>
          <a:prstGeom prst="rect">
            <a:avLst/>
          </a:prstGeom>
          <a:noFill/>
          <a:ln/>
        </p:spPr>
        <p:txBody>
          <a:bodyPr wrap="square" lIns="0" tIns="0" rIns="0" bIns="0" rtlCol="0" anchor="t"/>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これまで「Excelの達人」しか出せなかった数字が、日本語で質問できる形になります。担当者が休んでも止まりません。</a:t>
            </a:r>
            <a:endParaRPr lang="en-US" sz="1150" dirty="0"/>
          </a:p>
        </p:txBody>
      </p:sp>
      <p:sp>
        <p:nvSpPr>
          <p:cNvPr id="22" name="Shape 20"/>
          <p:cNvSpPr/>
          <p:nvPr/>
        </p:nvSpPr>
        <p:spPr>
          <a:xfrm>
            <a:off x="8705088" y="1755648"/>
            <a:ext cx="2919679" cy="3639312"/>
          </a:xfrm>
          <a:prstGeom prst="roundRect">
            <a:avLst>
              <a:gd name="adj" fmla="val 2192"/>
            </a:avLst>
          </a:prstGeom>
          <a:solidFill>
            <a:srgbClr val="16202B"/>
          </a:solidFill>
          <a:ln w="12700">
            <a:solidFill>
              <a:srgbClr val="16202B"/>
            </a:solidFill>
            <a:prstDash val="solid"/>
          </a:ln>
        </p:spPr>
      </p:sp>
      <p:sp>
        <p:nvSpPr>
          <p:cNvPr id="23" name="Text 21"/>
          <p:cNvSpPr/>
          <p:nvPr/>
        </p:nvSpPr>
        <p:spPr>
          <a:xfrm>
            <a:off x="8979408" y="2011680"/>
            <a:ext cx="2371039" cy="329184"/>
          </a:xfrm>
          <a:prstGeom prst="rect">
            <a:avLst/>
          </a:prstGeom>
          <a:noFill/>
          <a:ln/>
        </p:spPr>
        <p:txBody>
          <a:bodyPr wrap="square" lIns="0" tIns="0" rIns="0" bIns="0" rtlCol="0" anchor="ctr"/>
          <a:lstStyle/>
          <a:p>
            <a:pPr indent="0" marL="0">
              <a:buNone/>
            </a:pPr>
            <a:r>
              <a:rPr lang="en-US" sz="1200" b="1" dirty="0">
                <a:solidFill>
                  <a:srgbClr val="D97612"/>
                </a:solidFill>
                <a:latin typeface="Meiryo" pitchFamily="34" charset="0"/>
                <a:ea typeface="Meiryo" pitchFamily="34" charset="-122"/>
                <a:cs typeface="Meiryo" pitchFamily="34" charset="-120"/>
              </a:rPr>
              <a:t>いちばん大きい効果</a:t>
            </a:r>
            <a:endParaRPr lang="en-US" sz="1200" dirty="0"/>
          </a:p>
        </p:txBody>
      </p:sp>
      <p:sp>
        <p:nvSpPr>
          <p:cNvPr id="24" name="Text 22"/>
          <p:cNvSpPr/>
          <p:nvPr/>
        </p:nvSpPr>
        <p:spPr>
          <a:xfrm>
            <a:off x="8979408" y="2487168"/>
            <a:ext cx="2371039" cy="1737360"/>
          </a:xfrm>
          <a:prstGeom prst="rect">
            <a:avLst/>
          </a:prstGeom>
          <a:noFill/>
          <a:ln/>
        </p:spPr>
        <p:txBody>
          <a:bodyPr wrap="square" lIns="0" tIns="0" rIns="0" bIns="0" rtlCol="0" anchor="t"/>
          <a:lstStyle/>
          <a:p>
            <a:pPr indent="0" marL="0">
              <a:lnSpc>
                <a:spcPts val="2800"/>
              </a:lnSpc>
              <a:buNone/>
            </a:pPr>
            <a:r>
              <a:rPr lang="en-US" sz="1700" b="1" dirty="0">
                <a:solidFill>
                  <a:srgbClr val="FFFFFF"/>
                </a:solidFill>
                <a:latin typeface="Meiryo" pitchFamily="34" charset="0"/>
                <a:ea typeface="Meiryo" pitchFamily="34" charset="-122"/>
                <a:cs typeface="Meiryo" pitchFamily="34" charset="-120"/>
              </a:rPr>
              <a:t>「人がデータを</a:t>
            </a:r>
            <a:endParaRPr lang="en-US" sz="1700" dirty="0"/>
          </a:p>
          <a:p>
            <a:pPr indent="0" marL="0">
              <a:lnSpc>
                <a:spcPts val="2800"/>
              </a:lnSpc>
              <a:buNone/>
            </a:pPr>
            <a:r>
              <a:rPr lang="en-US" sz="1700" b="1" dirty="0">
                <a:solidFill>
                  <a:srgbClr val="FFFFFF"/>
                </a:solidFill>
                <a:latin typeface="Meiryo" pitchFamily="34" charset="0"/>
                <a:ea typeface="Meiryo" pitchFamily="34" charset="-122"/>
                <a:cs typeface="Meiryo" pitchFamily="34" charset="-120"/>
              </a:rPr>
              <a:t>探して・整えて・</a:t>
            </a:r>
            <a:endParaRPr lang="en-US" sz="1700" dirty="0"/>
          </a:p>
          <a:p>
            <a:pPr indent="0" marL="0">
              <a:lnSpc>
                <a:spcPts val="2800"/>
              </a:lnSpc>
              <a:buNone/>
            </a:pPr>
            <a:r>
              <a:rPr lang="en-US" sz="1700" b="1" dirty="0">
                <a:solidFill>
                  <a:srgbClr val="FFFFFF"/>
                </a:solidFill>
                <a:latin typeface="Meiryo" pitchFamily="34" charset="0"/>
                <a:ea typeface="Meiryo" pitchFamily="34" charset="-122"/>
                <a:cs typeface="Meiryo" pitchFamily="34" charset="-120"/>
              </a:rPr>
              <a:t>渡す」時間が</a:t>
            </a:r>
            <a:endParaRPr lang="en-US" sz="1700" dirty="0"/>
          </a:p>
          <a:p>
            <a:pPr indent="0" marL="0">
              <a:lnSpc>
                <a:spcPts val="2800"/>
              </a:lnSpc>
              <a:buNone/>
            </a:pPr>
            <a:r>
              <a:rPr lang="en-US" sz="1700" b="1" dirty="0">
                <a:solidFill>
                  <a:srgbClr val="FFFFFF"/>
                </a:solidFill>
                <a:latin typeface="Meiryo" pitchFamily="34" charset="0"/>
                <a:ea typeface="Meiryo" pitchFamily="34" charset="-122"/>
                <a:cs typeface="Meiryo" pitchFamily="34" charset="-120"/>
              </a:rPr>
              <a:t>まるごと消える</a:t>
            </a:r>
            <a:endParaRPr lang="en-US" sz="1700" dirty="0"/>
          </a:p>
        </p:txBody>
      </p:sp>
      <p:sp>
        <p:nvSpPr>
          <p:cNvPr id="25" name="Text 23"/>
          <p:cNvSpPr/>
          <p:nvPr/>
        </p:nvSpPr>
        <p:spPr>
          <a:xfrm>
            <a:off x="8979408" y="4370832"/>
            <a:ext cx="2371039" cy="822960"/>
          </a:xfrm>
          <a:prstGeom prst="rect">
            <a:avLst/>
          </a:prstGeom>
          <a:noFill/>
          <a:ln/>
        </p:spPr>
        <p:txBody>
          <a:bodyPr wrap="square" lIns="0" tIns="0" rIns="0" bIns="0" rtlCol="0" anchor="t"/>
          <a:lstStyle/>
          <a:p>
            <a:pPr indent="0" marL="0">
              <a:lnSpc>
                <a:spcPts val="1800"/>
              </a:lnSpc>
              <a:buNone/>
            </a:pPr>
            <a:r>
              <a:rPr lang="en-US" sz="1100" dirty="0">
                <a:solidFill>
                  <a:srgbClr val="B9C4CF"/>
                </a:solidFill>
                <a:latin typeface="Meiryo" pitchFamily="34" charset="0"/>
                <a:ea typeface="Meiryo" pitchFamily="34" charset="-122"/>
                <a:cs typeface="Meiryo" pitchFamily="34" charset="-120"/>
              </a:rPr>
              <a:t>多くの職場で、この前準備が作業時間の大半を占めています。</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02</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よくある誤解を、3つだけ解いておきます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社内で説明するときに、必ず聞かれる3つです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15</a:t>
            </a:r>
            <a:endParaRPr lang="en-US" sz="850" dirty="0"/>
          </a:p>
        </p:txBody>
      </p:sp>
      <p:sp>
        <p:nvSpPr>
          <p:cNvPr id="7" name="Shape 5"/>
          <p:cNvSpPr/>
          <p:nvPr/>
        </p:nvSpPr>
        <p:spPr>
          <a:xfrm>
            <a:off x="566928" y="1737360"/>
            <a:ext cx="11057839" cy="1115568"/>
          </a:xfrm>
          <a:prstGeom prst="roundRect">
            <a:avLst>
              <a:gd name="adj" fmla="val 5738"/>
            </a:avLst>
          </a:prstGeom>
          <a:solidFill>
            <a:srgbClr val="F2F4F6"/>
          </a:solidFill>
          <a:ln w="12700">
            <a:solidFill>
              <a:srgbClr val="F2F4F6"/>
            </a:solidFill>
            <a:prstDash val="solid"/>
          </a:ln>
        </p:spPr>
      </p:sp>
      <p:sp>
        <p:nvSpPr>
          <p:cNvPr id="8" name="Shape 6"/>
          <p:cNvSpPr/>
          <p:nvPr/>
        </p:nvSpPr>
        <p:spPr>
          <a:xfrm>
            <a:off x="859536" y="1956816"/>
            <a:ext cx="402336" cy="402336"/>
          </a:xfrm>
          <a:prstGeom prst="ellipse">
            <a:avLst/>
          </a:prstGeom>
          <a:solidFill>
            <a:srgbClr val="667382"/>
          </a:solidFill>
          <a:ln w="12700">
            <a:solidFill>
              <a:srgbClr val="667382"/>
            </a:solidFill>
            <a:prstDash val="solid"/>
          </a:ln>
        </p:spPr>
      </p:sp>
      <p:sp>
        <p:nvSpPr>
          <p:cNvPr id="9" name="Text 7"/>
          <p:cNvSpPr/>
          <p:nvPr/>
        </p:nvSpPr>
        <p:spPr>
          <a:xfrm>
            <a:off x="859536" y="19568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0" name="Text 8"/>
          <p:cNvSpPr/>
          <p:nvPr/>
        </p:nvSpPr>
        <p:spPr>
          <a:xfrm>
            <a:off x="859536" y="2377440"/>
            <a:ext cx="402336" cy="274320"/>
          </a:xfrm>
          <a:prstGeom prst="rect">
            <a:avLst/>
          </a:prstGeom>
          <a:noFill/>
          <a:ln/>
        </p:spPr>
        <p:txBody>
          <a:bodyPr wrap="square" lIns="0" tIns="0" rIns="0" bIns="0" rtlCol="0" anchor="ctr"/>
          <a:lstStyle/>
          <a:p>
            <a:pPr algn="ctr" indent="0" marL="0">
              <a:buNone/>
            </a:pPr>
            <a:r>
              <a:rPr lang="en-US" sz="850" dirty="0">
                <a:solidFill>
                  <a:srgbClr val="667382"/>
                </a:solidFill>
                <a:latin typeface="Meiryo" pitchFamily="34" charset="0"/>
                <a:ea typeface="Meiryo" pitchFamily="34" charset="-122"/>
                <a:cs typeface="Meiryo" pitchFamily="34" charset="-120"/>
              </a:rPr>
              <a:t>誤解</a:t>
            </a:r>
            <a:endParaRPr lang="en-US" sz="850" dirty="0"/>
          </a:p>
        </p:txBody>
      </p:sp>
      <p:sp>
        <p:nvSpPr>
          <p:cNvPr id="11" name="Text 9"/>
          <p:cNvSpPr/>
          <p:nvPr/>
        </p:nvSpPr>
        <p:spPr>
          <a:xfrm>
            <a:off x="1426464" y="1737360"/>
            <a:ext cx="4114800" cy="1115568"/>
          </a:xfrm>
          <a:prstGeom prst="rect">
            <a:avLst/>
          </a:prstGeom>
          <a:noFill/>
          <a:ln/>
        </p:spPr>
        <p:txBody>
          <a:bodyPr wrap="square" lIns="0" tIns="0" rIns="0" bIns="0" rtlCol="0" anchor="ctr"/>
          <a:lstStyle/>
          <a:p>
            <a:pPr indent="0" marL="0">
              <a:lnSpc>
                <a:spcPts val="2000"/>
              </a:lnSpc>
              <a:buNone/>
            </a:pPr>
            <a:r>
              <a:rPr lang="en-US" sz="1300" dirty="0">
                <a:solidFill>
                  <a:srgbClr val="1B2733"/>
                </a:solidFill>
                <a:latin typeface="Meiryo" pitchFamily="34" charset="0"/>
                <a:ea typeface="Meiryo" pitchFamily="34" charset="-122"/>
                <a:cs typeface="Meiryo" pitchFamily="34" charset="-120"/>
              </a:rPr>
              <a:t>「MCPという製品を買えば、AIが賢くなる」</a:t>
            </a:r>
            <a:endParaRPr lang="en-US" sz="1300" dirty="0"/>
          </a:p>
        </p:txBody>
      </p:sp>
      <p:sp>
        <p:nvSpPr>
          <p:cNvPr id="12" name="Shape 10"/>
          <p:cNvSpPr/>
          <p:nvPr/>
        </p:nvSpPr>
        <p:spPr>
          <a:xfrm>
            <a:off x="5760720" y="1956816"/>
            <a:ext cx="402336" cy="402336"/>
          </a:xfrm>
          <a:prstGeom prst="ellipse">
            <a:avLst/>
          </a:prstGeom>
          <a:solidFill>
            <a:srgbClr val="12695D"/>
          </a:solidFill>
          <a:ln w="12700">
            <a:solidFill>
              <a:srgbClr val="12695D"/>
            </a:solidFill>
            <a:prstDash val="solid"/>
          </a:ln>
        </p:spPr>
      </p:sp>
      <p:sp>
        <p:nvSpPr>
          <p:cNvPr id="13" name="Text 11"/>
          <p:cNvSpPr/>
          <p:nvPr/>
        </p:nvSpPr>
        <p:spPr>
          <a:xfrm>
            <a:off x="5760720" y="19568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4" name="Text 12"/>
          <p:cNvSpPr/>
          <p:nvPr/>
        </p:nvSpPr>
        <p:spPr>
          <a:xfrm>
            <a:off x="5614416" y="2377440"/>
            <a:ext cx="694944" cy="274320"/>
          </a:xfrm>
          <a:prstGeom prst="rect">
            <a:avLst/>
          </a:prstGeom>
          <a:noFill/>
          <a:ln/>
        </p:spPr>
        <p:txBody>
          <a:bodyPr wrap="square" lIns="0" tIns="0" rIns="0" bIns="0" rtlCol="0" anchor="ctr"/>
          <a:lstStyle/>
          <a:p>
            <a:pPr algn="ctr" indent="0" marL="0">
              <a:buNone/>
            </a:pPr>
            <a:r>
              <a:rPr lang="en-US" sz="850" dirty="0">
                <a:solidFill>
                  <a:srgbClr val="12695D"/>
                </a:solidFill>
                <a:latin typeface="Meiryo" pitchFamily="34" charset="0"/>
                <a:ea typeface="Meiryo" pitchFamily="34" charset="-122"/>
                <a:cs typeface="Meiryo" pitchFamily="34" charset="-120"/>
              </a:rPr>
              <a:t>正しくは</a:t>
            </a:r>
            <a:endParaRPr lang="en-US" sz="850" dirty="0"/>
          </a:p>
        </p:txBody>
      </p:sp>
      <p:sp>
        <p:nvSpPr>
          <p:cNvPr id="15" name="Text 13"/>
          <p:cNvSpPr/>
          <p:nvPr/>
        </p:nvSpPr>
        <p:spPr>
          <a:xfrm>
            <a:off x="6327648" y="1737360"/>
            <a:ext cx="5022799" cy="1115568"/>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MCPは規格であって製品ではありません。つなぐ先に記録がなければ、何も出てきません。買うべきものは「つなぐ先」です。</a:t>
            </a:r>
            <a:endParaRPr lang="en-US" sz="1200" dirty="0"/>
          </a:p>
        </p:txBody>
      </p:sp>
      <p:sp>
        <p:nvSpPr>
          <p:cNvPr id="16" name="Shape 14"/>
          <p:cNvSpPr/>
          <p:nvPr/>
        </p:nvSpPr>
        <p:spPr>
          <a:xfrm>
            <a:off x="566928" y="3035808"/>
            <a:ext cx="11057839" cy="1115568"/>
          </a:xfrm>
          <a:prstGeom prst="roundRect">
            <a:avLst>
              <a:gd name="adj" fmla="val 5738"/>
            </a:avLst>
          </a:prstGeom>
          <a:solidFill>
            <a:srgbClr val="FFFFFF"/>
          </a:solidFill>
          <a:ln w="12700">
            <a:solidFill>
              <a:srgbClr val="E4E9ED"/>
            </a:solidFill>
            <a:prstDash val="solid"/>
          </a:ln>
        </p:spPr>
      </p:sp>
      <p:sp>
        <p:nvSpPr>
          <p:cNvPr id="17" name="Shape 15"/>
          <p:cNvSpPr/>
          <p:nvPr/>
        </p:nvSpPr>
        <p:spPr>
          <a:xfrm>
            <a:off x="859536" y="3255264"/>
            <a:ext cx="402336" cy="402336"/>
          </a:xfrm>
          <a:prstGeom prst="ellipse">
            <a:avLst/>
          </a:prstGeom>
          <a:solidFill>
            <a:srgbClr val="667382"/>
          </a:solidFill>
          <a:ln w="12700">
            <a:solidFill>
              <a:srgbClr val="667382"/>
            </a:solidFill>
            <a:prstDash val="solid"/>
          </a:ln>
        </p:spPr>
      </p:sp>
      <p:sp>
        <p:nvSpPr>
          <p:cNvPr id="18" name="Text 16"/>
          <p:cNvSpPr/>
          <p:nvPr/>
        </p:nvSpPr>
        <p:spPr>
          <a:xfrm>
            <a:off x="859536" y="32552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9" name="Text 17"/>
          <p:cNvSpPr/>
          <p:nvPr/>
        </p:nvSpPr>
        <p:spPr>
          <a:xfrm>
            <a:off x="859536" y="3675888"/>
            <a:ext cx="402336" cy="274320"/>
          </a:xfrm>
          <a:prstGeom prst="rect">
            <a:avLst/>
          </a:prstGeom>
          <a:noFill/>
          <a:ln/>
        </p:spPr>
        <p:txBody>
          <a:bodyPr wrap="square" lIns="0" tIns="0" rIns="0" bIns="0" rtlCol="0" anchor="ctr"/>
          <a:lstStyle/>
          <a:p>
            <a:pPr algn="ctr" indent="0" marL="0">
              <a:buNone/>
            </a:pPr>
            <a:r>
              <a:rPr lang="en-US" sz="850" dirty="0">
                <a:solidFill>
                  <a:srgbClr val="667382"/>
                </a:solidFill>
                <a:latin typeface="Meiryo" pitchFamily="34" charset="0"/>
                <a:ea typeface="Meiryo" pitchFamily="34" charset="-122"/>
                <a:cs typeface="Meiryo" pitchFamily="34" charset="-120"/>
              </a:rPr>
              <a:t>誤解</a:t>
            </a:r>
            <a:endParaRPr lang="en-US" sz="850" dirty="0"/>
          </a:p>
        </p:txBody>
      </p:sp>
      <p:sp>
        <p:nvSpPr>
          <p:cNvPr id="20" name="Text 18"/>
          <p:cNvSpPr/>
          <p:nvPr/>
        </p:nvSpPr>
        <p:spPr>
          <a:xfrm>
            <a:off x="1426464" y="3035808"/>
            <a:ext cx="4114800" cy="1115568"/>
          </a:xfrm>
          <a:prstGeom prst="rect">
            <a:avLst/>
          </a:prstGeom>
          <a:noFill/>
          <a:ln/>
        </p:spPr>
        <p:txBody>
          <a:bodyPr wrap="square" lIns="0" tIns="0" rIns="0" bIns="0" rtlCol="0" anchor="ctr"/>
          <a:lstStyle/>
          <a:p>
            <a:pPr indent="0" marL="0">
              <a:lnSpc>
                <a:spcPts val="2000"/>
              </a:lnSpc>
              <a:buNone/>
            </a:pPr>
            <a:r>
              <a:rPr lang="en-US" sz="1300" dirty="0">
                <a:solidFill>
                  <a:srgbClr val="1B2733"/>
                </a:solidFill>
                <a:latin typeface="Meiryo" pitchFamily="34" charset="0"/>
                <a:ea typeface="Meiryo" pitchFamily="34" charset="-122"/>
                <a:cs typeface="Meiryo" pitchFamily="34" charset="-120"/>
              </a:rPr>
              <a:t>「AIが社内のデータを勝手に全部見てしまう」</a:t>
            </a:r>
            <a:endParaRPr lang="en-US" sz="1300" dirty="0"/>
          </a:p>
        </p:txBody>
      </p:sp>
      <p:sp>
        <p:nvSpPr>
          <p:cNvPr id="21" name="Shape 19"/>
          <p:cNvSpPr/>
          <p:nvPr/>
        </p:nvSpPr>
        <p:spPr>
          <a:xfrm>
            <a:off x="5760720" y="3255264"/>
            <a:ext cx="402336" cy="402336"/>
          </a:xfrm>
          <a:prstGeom prst="ellipse">
            <a:avLst/>
          </a:prstGeom>
          <a:solidFill>
            <a:srgbClr val="12695D"/>
          </a:solidFill>
          <a:ln w="12700">
            <a:solidFill>
              <a:srgbClr val="12695D"/>
            </a:solidFill>
            <a:prstDash val="solid"/>
          </a:ln>
        </p:spPr>
      </p:sp>
      <p:sp>
        <p:nvSpPr>
          <p:cNvPr id="22" name="Text 20"/>
          <p:cNvSpPr/>
          <p:nvPr/>
        </p:nvSpPr>
        <p:spPr>
          <a:xfrm>
            <a:off x="5760720" y="32552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3" name="Text 21"/>
          <p:cNvSpPr/>
          <p:nvPr/>
        </p:nvSpPr>
        <p:spPr>
          <a:xfrm>
            <a:off x="5614416" y="3675888"/>
            <a:ext cx="694944" cy="274320"/>
          </a:xfrm>
          <a:prstGeom prst="rect">
            <a:avLst/>
          </a:prstGeom>
          <a:noFill/>
          <a:ln/>
        </p:spPr>
        <p:txBody>
          <a:bodyPr wrap="square" lIns="0" tIns="0" rIns="0" bIns="0" rtlCol="0" anchor="ctr"/>
          <a:lstStyle/>
          <a:p>
            <a:pPr algn="ctr" indent="0" marL="0">
              <a:buNone/>
            </a:pPr>
            <a:r>
              <a:rPr lang="en-US" sz="850" dirty="0">
                <a:solidFill>
                  <a:srgbClr val="12695D"/>
                </a:solidFill>
                <a:latin typeface="Meiryo" pitchFamily="34" charset="0"/>
                <a:ea typeface="Meiryo" pitchFamily="34" charset="-122"/>
                <a:cs typeface="Meiryo" pitchFamily="34" charset="-120"/>
              </a:rPr>
              <a:t>正しくは</a:t>
            </a:r>
            <a:endParaRPr lang="en-US" sz="850" dirty="0"/>
          </a:p>
        </p:txBody>
      </p:sp>
      <p:sp>
        <p:nvSpPr>
          <p:cNvPr id="24" name="Text 22"/>
          <p:cNvSpPr/>
          <p:nvPr/>
        </p:nvSpPr>
        <p:spPr>
          <a:xfrm>
            <a:off x="6327648" y="3035808"/>
            <a:ext cx="5022799" cy="1115568"/>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見せる範囲は接続する側で設計します。考え方は既存の業務システムの権限設計とまったく同じです。</a:t>
            </a:r>
            <a:endParaRPr lang="en-US" sz="1200" dirty="0"/>
          </a:p>
        </p:txBody>
      </p:sp>
      <p:sp>
        <p:nvSpPr>
          <p:cNvPr id="25" name="Shape 23"/>
          <p:cNvSpPr/>
          <p:nvPr/>
        </p:nvSpPr>
        <p:spPr>
          <a:xfrm>
            <a:off x="566928" y="4334256"/>
            <a:ext cx="11057839" cy="1115568"/>
          </a:xfrm>
          <a:prstGeom prst="roundRect">
            <a:avLst>
              <a:gd name="adj" fmla="val 5738"/>
            </a:avLst>
          </a:prstGeom>
          <a:solidFill>
            <a:srgbClr val="F2F4F6"/>
          </a:solidFill>
          <a:ln w="12700">
            <a:solidFill>
              <a:srgbClr val="F2F4F6"/>
            </a:solidFill>
            <a:prstDash val="solid"/>
          </a:ln>
        </p:spPr>
      </p:sp>
      <p:sp>
        <p:nvSpPr>
          <p:cNvPr id="26" name="Shape 24"/>
          <p:cNvSpPr/>
          <p:nvPr/>
        </p:nvSpPr>
        <p:spPr>
          <a:xfrm>
            <a:off x="859536" y="4553712"/>
            <a:ext cx="402336" cy="402336"/>
          </a:xfrm>
          <a:prstGeom prst="ellipse">
            <a:avLst/>
          </a:prstGeom>
          <a:solidFill>
            <a:srgbClr val="667382"/>
          </a:solidFill>
          <a:ln w="12700">
            <a:solidFill>
              <a:srgbClr val="667382"/>
            </a:solidFill>
            <a:prstDash val="solid"/>
          </a:ln>
        </p:spPr>
      </p:sp>
      <p:sp>
        <p:nvSpPr>
          <p:cNvPr id="27" name="Text 25"/>
          <p:cNvSpPr/>
          <p:nvPr/>
        </p:nvSpPr>
        <p:spPr>
          <a:xfrm>
            <a:off x="859536" y="45537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8" name="Text 26"/>
          <p:cNvSpPr/>
          <p:nvPr/>
        </p:nvSpPr>
        <p:spPr>
          <a:xfrm>
            <a:off x="859536" y="4974336"/>
            <a:ext cx="402336" cy="274320"/>
          </a:xfrm>
          <a:prstGeom prst="rect">
            <a:avLst/>
          </a:prstGeom>
          <a:noFill/>
          <a:ln/>
        </p:spPr>
        <p:txBody>
          <a:bodyPr wrap="square" lIns="0" tIns="0" rIns="0" bIns="0" rtlCol="0" anchor="ctr"/>
          <a:lstStyle/>
          <a:p>
            <a:pPr algn="ctr" indent="0" marL="0">
              <a:buNone/>
            </a:pPr>
            <a:r>
              <a:rPr lang="en-US" sz="850" dirty="0">
                <a:solidFill>
                  <a:srgbClr val="667382"/>
                </a:solidFill>
                <a:latin typeface="Meiryo" pitchFamily="34" charset="0"/>
                <a:ea typeface="Meiryo" pitchFamily="34" charset="-122"/>
                <a:cs typeface="Meiryo" pitchFamily="34" charset="-120"/>
              </a:rPr>
              <a:t>誤解</a:t>
            </a:r>
            <a:endParaRPr lang="en-US" sz="850" dirty="0"/>
          </a:p>
        </p:txBody>
      </p:sp>
      <p:sp>
        <p:nvSpPr>
          <p:cNvPr id="29" name="Text 27"/>
          <p:cNvSpPr/>
          <p:nvPr/>
        </p:nvSpPr>
        <p:spPr>
          <a:xfrm>
            <a:off x="1426464" y="4334256"/>
            <a:ext cx="4114800" cy="1115568"/>
          </a:xfrm>
          <a:prstGeom prst="rect">
            <a:avLst/>
          </a:prstGeom>
          <a:noFill/>
          <a:ln/>
        </p:spPr>
        <p:txBody>
          <a:bodyPr wrap="square" lIns="0" tIns="0" rIns="0" bIns="0" rtlCol="0" anchor="ctr"/>
          <a:lstStyle/>
          <a:p>
            <a:pPr indent="0" marL="0">
              <a:lnSpc>
                <a:spcPts val="2000"/>
              </a:lnSpc>
              <a:buNone/>
            </a:pPr>
            <a:r>
              <a:rPr lang="en-US" sz="1300" dirty="0">
                <a:solidFill>
                  <a:srgbClr val="1B2733"/>
                </a:solidFill>
                <a:latin typeface="Meiryo" pitchFamily="34" charset="0"/>
                <a:ea typeface="Meiryo" pitchFamily="34" charset="-122"/>
                <a:cs typeface="Meiryo" pitchFamily="34" charset="-120"/>
              </a:rPr>
              <a:t>「エンジニアだけが理解すればよい話」</a:t>
            </a:r>
            <a:endParaRPr lang="en-US" sz="1300" dirty="0"/>
          </a:p>
        </p:txBody>
      </p:sp>
      <p:sp>
        <p:nvSpPr>
          <p:cNvPr id="30" name="Shape 28"/>
          <p:cNvSpPr/>
          <p:nvPr/>
        </p:nvSpPr>
        <p:spPr>
          <a:xfrm>
            <a:off x="5760720" y="4553712"/>
            <a:ext cx="402336" cy="402336"/>
          </a:xfrm>
          <a:prstGeom prst="ellipse">
            <a:avLst/>
          </a:prstGeom>
          <a:solidFill>
            <a:srgbClr val="12695D"/>
          </a:solidFill>
          <a:ln w="12700">
            <a:solidFill>
              <a:srgbClr val="12695D"/>
            </a:solidFill>
            <a:prstDash val="solid"/>
          </a:ln>
        </p:spPr>
      </p:sp>
      <p:sp>
        <p:nvSpPr>
          <p:cNvPr id="31" name="Text 29"/>
          <p:cNvSpPr/>
          <p:nvPr/>
        </p:nvSpPr>
        <p:spPr>
          <a:xfrm>
            <a:off x="5760720" y="45537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32" name="Text 30"/>
          <p:cNvSpPr/>
          <p:nvPr/>
        </p:nvSpPr>
        <p:spPr>
          <a:xfrm>
            <a:off x="5614416" y="4974336"/>
            <a:ext cx="694944" cy="274320"/>
          </a:xfrm>
          <a:prstGeom prst="rect">
            <a:avLst/>
          </a:prstGeom>
          <a:noFill/>
          <a:ln/>
        </p:spPr>
        <p:txBody>
          <a:bodyPr wrap="square" lIns="0" tIns="0" rIns="0" bIns="0" rtlCol="0" anchor="ctr"/>
          <a:lstStyle/>
          <a:p>
            <a:pPr algn="ctr" indent="0" marL="0">
              <a:buNone/>
            </a:pPr>
            <a:r>
              <a:rPr lang="en-US" sz="850" dirty="0">
                <a:solidFill>
                  <a:srgbClr val="12695D"/>
                </a:solidFill>
                <a:latin typeface="Meiryo" pitchFamily="34" charset="0"/>
                <a:ea typeface="Meiryo" pitchFamily="34" charset="-122"/>
                <a:cs typeface="Meiryo" pitchFamily="34" charset="-120"/>
              </a:rPr>
              <a:t>正しくは</a:t>
            </a:r>
            <a:endParaRPr lang="en-US" sz="850" dirty="0"/>
          </a:p>
        </p:txBody>
      </p:sp>
      <p:sp>
        <p:nvSpPr>
          <p:cNvPr id="33" name="Text 31"/>
          <p:cNvSpPr/>
          <p:nvPr/>
        </p:nvSpPr>
        <p:spPr>
          <a:xfrm>
            <a:off x="6327648" y="4334256"/>
            <a:ext cx="5022799" cy="1115568"/>
          </a:xfrm>
          <a:prstGeom prst="rect">
            <a:avLst/>
          </a:prstGeom>
          <a:noFill/>
          <a:ln/>
        </p:spPr>
        <p:txBody>
          <a:bodyPr wrap="square" lIns="0" tIns="0" rIns="0" bIns="0" rtlCol="0" anchor="ctr"/>
          <a:lstStyle/>
          <a:p>
            <a:pPr indent="0" marL="0">
              <a:lnSpc>
                <a:spcPts val="1900"/>
              </a:lnSpc>
              <a:buNone/>
            </a:pPr>
            <a:r>
              <a:rPr lang="en-US" sz="1200" dirty="0">
                <a:solidFill>
                  <a:srgbClr val="1B2733"/>
                </a:solidFill>
                <a:latin typeface="Meiryo" pitchFamily="34" charset="0"/>
                <a:ea typeface="Meiryo" pitchFamily="34" charset="-122"/>
                <a:cs typeface="Meiryo" pitchFamily="34" charset="-120"/>
              </a:rPr>
              <a:t>「何を見せるか」「どの業務に使うか」を決めるのは業務側です。むしろ経営企画・管理部門の仕事になります。</a:t>
            </a:r>
            <a:endParaRPr lang="en-US" sz="1200" dirty="0"/>
          </a:p>
        </p:txBody>
      </p:sp>
      <p:sp>
        <p:nvSpPr>
          <p:cNvPr id="34" name="Shape 32"/>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35" name="Shape 33"/>
          <p:cNvSpPr/>
          <p:nvPr/>
        </p:nvSpPr>
        <p:spPr>
          <a:xfrm>
            <a:off x="804672" y="5760720"/>
            <a:ext cx="219456" cy="219456"/>
          </a:xfrm>
          <a:prstGeom prst="ellipse">
            <a:avLst/>
          </a:prstGeom>
          <a:solidFill>
            <a:srgbClr val="12695D"/>
          </a:solidFill>
          <a:ln w="12700">
            <a:solidFill>
              <a:srgbClr val="12695D"/>
            </a:solidFill>
            <a:prstDash val="solid"/>
          </a:ln>
        </p:spPr>
      </p:sp>
      <p:sp>
        <p:nvSpPr>
          <p:cNvPr id="36" name="Text 34"/>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3つめが本日いちばんお伝えしたい点です。MCPの導入判断は、技術の話ではなく業務設計の話です。</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02</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経営企画・管理部門が押さえるべき3点</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「禁止」か「全面解禁」の二択にしないための、実務的な線引きです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16</a:t>
            </a:r>
            <a:endParaRPr lang="en-US" sz="850" dirty="0"/>
          </a:p>
        </p:txBody>
      </p:sp>
      <p:sp>
        <p:nvSpPr>
          <p:cNvPr id="7" name="Shape 5"/>
          <p:cNvSpPr/>
          <p:nvPr/>
        </p:nvSpPr>
        <p:spPr>
          <a:xfrm>
            <a:off x="566928" y="1773936"/>
            <a:ext cx="3503066" cy="3108960"/>
          </a:xfrm>
          <a:prstGeom prst="roundRect">
            <a:avLst>
              <a:gd name="adj" fmla="val 2059"/>
            </a:avLst>
          </a:prstGeom>
          <a:solidFill>
            <a:srgbClr val="F2F4F6"/>
          </a:solidFill>
          <a:ln w="12700">
            <a:solidFill>
              <a:srgbClr val="F2F4F6"/>
            </a:solidFill>
            <a:prstDash val="solid"/>
          </a:ln>
        </p:spPr>
      </p:sp>
      <p:sp>
        <p:nvSpPr>
          <p:cNvPr id="8" name="Shape 6"/>
          <p:cNvSpPr/>
          <p:nvPr/>
        </p:nvSpPr>
        <p:spPr>
          <a:xfrm>
            <a:off x="877824" y="2066544"/>
            <a:ext cx="822960" cy="822960"/>
          </a:xfrm>
          <a:prstGeom prst="ellipse">
            <a:avLst/>
          </a:prstGeom>
          <a:solidFill>
            <a:srgbClr val="12695D"/>
          </a:solidFill>
          <a:ln w="12700">
            <a:solidFill>
              <a:srgbClr val="12695D"/>
            </a:solidFill>
            <a:prstDash val="solid"/>
          </a:ln>
        </p:spPr>
      </p:sp>
      <p:sp>
        <p:nvSpPr>
          <p:cNvPr id="9" name="Text 7"/>
          <p:cNvSpPr/>
          <p:nvPr/>
        </p:nvSpPr>
        <p:spPr>
          <a:xfrm>
            <a:off x="877824" y="2066544"/>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権限</a:t>
            </a:r>
            <a:endParaRPr lang="en-US" sz="1500" dirty="0"/>
          </a:p>
        </p:txBody>
      </p:sp>
      <p:sp>
        <p:nvSpPr>
          <p:cNvPr id="10" name="Text 8"/>
          <p:cNvSpPr/>
          <p:nvPr/>
        </p:nvSpPr>
        <p:spPr>
          <a:xfrm>
            <a:off x="877824" y="3072384"/>
            <a:ext cx="2881274" cy="1700784"/>
          </a:xfrm>
          <a:prstGeom prst="rect">
            <a:avLst/>
          </a:prstGeom>
          <a:noFill/>
          <a:ln/>
        </p:spPr>
        <p:txBody>
          <a:bodyPr wrap="square" lIns="0" tIns="0" rIns="0" bIns="0" rtlCol="0" anchor="t"/>
          <a:lstStyle/>
          <a:p>
            <a:pPr indent="0" marL="0">
              <a:lnSpc>
                <a:spcPts val="2100"/>
              </a:lnSpc>
              <a:buNone/>
            </a:pPr>
            <a:r>
              <a:rPr lang="en-US" sz="1200" dirty="0">
                <a:solidFill>
                  <a:srgbClr val="1B2733"/>
                </a:solidFill>
                <a:latin typeface="Meiryo" pitchFamily="34" charset="0"/>
                <a:ea typeface="Meiryo" pitchFamily="34" charset="-122"/>
                <a:cs typeface="Meiryo" pitchFamily="34" charset="-120"/>
              </a:rPr>
              <a:t>AIに渡すのは「その人が見てよい範囲」まで。既存のアクセス権限を超えさせないのが原則です。人事評価や個人情報は、最初から対象外にしておきます。</a:t>
            </a:r>
            <a:endParaRPr lang="en-US" sz="1200" dirty="0"/>
          </a:p>
        </p:txBody>
      </p:sp>
      <p:sp>
        <p:nvSpPr>
          <p:cNvPr id="11" name="Shape 9"/>
          <p:cNvSpPr/>
          <p:nvPr/>
        </p:nvSpPr>
        <p:spPr>
          <a:xfrm>
            <a:off x="4344314" y="1773936"/>
            <a:ext cx="3503066" cy="3108960"/>
          </a:xfrm>
          <a:prstGeom prst="roundRect">
            <a:avLst>
              <a:gd name="adj" fmla="val 2059"/>
            </a:avLst>
          </a:prstGeom>
          <a:solidFill>
            <a:srgbClr val="F2F4F6"/>
          </a:solidFill>
          <a:ln w="12700">
            <a:solidFill>
              <a:srgbClr val="F2F4F6"/>
            </a:solidFill>
            <a:prstDash val="solid"/>
          </a:ln>
        </p:spPr>
      </p:sp>
      <p:sp>
        <p:nvSpPr>
          <p:cNvPr id="12" name="Shape 10"/>
          <p:cNvSpPr/>
          <p:nvPr/>
        </p:nvSpPr>
        <p:spPr>
          <a:xfrm>
            <a:off x="4655210" y="2066544"/>
            <a:ext cx="822960" cy="822960"/>
          </a:xfrm>
          <a:prstGeom prst="ellipse">
            <a:avLst/>
          </a:prstGeom>
          <a:solidFill>
            <a:srgbClr val="12695D"/>
          </a:solidFill>
          <a:ln w="12700">
            <a:solidFill>
              <a:srgbClr val="12695D"/>
            </a:solidFill>
            <a:prstDash val="solid"/>
          </a:ln>
        </p:spPr>
      </p:sp>
      <p:sp>
        <p:nvSpPr>
          <p:cNvPr id="13" name="Text 11"/>
          <p:cNvSpPr/>
          <p:nvPr/>
        </p:nvSpPr>
        <p:spPr>
          <a:xfrm>
            <a:off x="4655210" y="2066544"/>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ログ</a:t>
            </a:r>
            <a:endParaRPr lang="en-US" sz="1500" dirty="0"/>
          </a:p>
        </p:txBody>
      </p:sp>
      <p:sp>
        <p:nvSpPr>
          <p:cNvPr id="14" name="Text 12"/>
          <p:cNvSpPr/>
          <p:nvPr/>
        </p:nvSpPr>
        <p:spPr>
          <a:xfrm>
            <a:off x="4655210" y="3072384"/>
            <a:ext cx="2881274" cy="1700784"/>
          </a:xfrm>
          <a:prstGeom prst="rect">
            <a:avLst/>
          </a:prstGeom>
          <a:noFill/>
          <a:ln/>
        </p:spPr>
        <p:txBody>
          <a:bodyPr wrap="square" lIns="0" tIns="0" rIns="0" bIns="0" rtlCol="0" anchor="t"/>
          <a:lstStyle/>
          <a:p>
            <a:pPr indent="0" marL="0">
              <a:lnSpc>
                <a:spcPts val="2100"/>
              </a:lnSpc>
              <a:buNone/>
            </a:pPr>
            <a:r>
              <a:rPr lang="en-US" sz="1200" dirty="0">
                <a:solidFill>
                  <a:srgbClr val="1B2733"/>
                </a:solidFill>
                <a:latin typeface="Meiryo" pitchFamily="34" charset="0"/>
                <a:ea typeface="Meiryo" pitchFamily="34" charset="-122"/>
                <a:cs typeface="Meiryo" pitchFamily="34" charset="-120"/>
              </a:rPr>
              <a:t>誰が・いつ・どのデータをAIに渡したかを残します。監査や社内説明で必ず聞かれるため、後付けだと苦労します。</a:t>
            </a:r>
            <a:endParaRPr lang="en-US" sz="1200" dirty="0"/>
          </a:p>
        </p:txBody>
      </p:sp>
      <p:sp>
        <p:nvSpPr>
          <p:cNvPr id="15" name="Shape 13"/>
          <p:cNvSpPr/>
          <p:nvPr/>
        </p:nvSpPr>
        <p:spPr>
          <a:xfrm>
            <a:off x="8121701" y="1773936"/>
            <a:ext cx="3503066" cy="3108960"/>
          </a:xfrm>
          <a:prstGeom prst="roundRect">
            <a:avLst>
              <a:gd name="adj" fmla="val 2059"/>
            </a:avLst>
          </a:prstGeom>
          <a:solidFill>
            <a:srgbClr val="F2F4F6"/>
          </a:solidFill>
          <a:ln w="12700">
            <a:solidFill>
              <a:srgbClr val="F2F4F6"/>
            </a:solidFill>
            <a:prstDash val="solid"/>
          </a:ln>
        </p:spPr>
      </p:sp>
      <p:sp>
        <p:nvSpPr>
          <p:cNvPr id="16" name="Shape 14"/>
          <p:cNvSpPr/>
          <p:nvPr/>
        </p:nvSpPr>
        <p:spPr>
          <a:xfrm>
            <a:off x="8432597" y="2066544"/>
            <a:ext cx="822960" cy="822960"/>
          </a:xfrm>
          <a:prstGeom prst="ellipse">
            <a:avLst/>
          </a:prstGeom>
          <a:solidFill>
            <a:srgbClr val="12695D"/>
          </a:solidFill>
          <a:ln w="12700">
            <a:solidFill>
              <a:srgbClr val="12695D"/>
            </a:solidFill>
            <a:prstDash val="solid"/>
          </a:ln>
        </p:spPr>
      </p:sp>
      <p:sp>
        <p:nvSpPr>
          <p:cNvPr id="17" name="Text 15"/>
          <p:cNvSpPr/>
          <p:nvPr/>
        </p:nvSpPr>
        <p:spPr>
          <a:xfrm>
            <a:off x="8432597" y="2066544"/>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範囲</a:t>
            </a:r>
            <a:endParaRPr lang="en-US" sz="1500" dirty="0"/>
          </a:p>
        </p:txBody>
      </p:sp>
      <p:sp>
        <p:nvSpPr>
          <p:cNvPr id="18" name="Text 16"/>
          <p:cNvSpPr/>
          <p:nvPr/>
        </p:nvSpPr>
        <p:spPr>
          <a:xfrm>
            <a:off x="8432597" y="3072384"/>
            <a:ext cx="2881274" cy="1700784"/>
          </a:xfrm>
          <a:prstGeom prst="rect">
            <a:avLst/>
          </a:prstGeom>
          <a:noFill/>
          <a:ln/>
        </p:spPr>
        <p:txBody>
          <a:bodyPr wrap="square" lIns="0" tIns="0" rIns="0" bIns="0" rtlCol="0" anchor="t"/>
          <a:lstStyle/>
          <a:p>
            <a:pPr indent="0" marL="0">
              <a:lnSpc>
                <a:spcPts val="2100"/>
              </a:lnSpc>
              <a:buNone/>
            </a:pPr>
            <a:r>
              <a:rPr lang="en-US" sz="1200" dirty="0">
                <a:solidFill>
                  <a:srgbClr val="1B2733"/>
                </a:solidFill>
                <a:latin typeface="Meiryo" pitchFamily="34" charset="0"/>
                <a:ea typeface="Meiryo" pitchFamily="34" charset="-122"/>
                <a:cs typeface="Meiryo" pitchFamily="34" charset="-120"/>
              </a:rPr>
              <a:t>まずは公開度の高い社内データから。会計の確定数字、業務マニュアル、議事録あたりが着手しやすい領域です。</a:t>
            </a:r>
            <a:endParaRPr lang="en-US" sz="1200" dirty="0"/>
          </a:p>
        </p:txBody>
      </p:sp>
      <p:sp>
        <p:nvSpPr>
          <p:cNvPr id="19" name="Shape 17"/>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20" name="Shape 18"/>
          <p:cNvSpPr/>
          <p:nvPr/>
        </p:nvSpPr>
        <p:spPr>
          <a:xfrm>
            <a:off x="804672" y="5760720"/>
            <a:ext cx="219456" cy="219456"/>
          </a:xfrm>
          <a:prstGeom prst="ellipse">
            <a:avLst/>
          </a:prstGeom>
          <a:solidFill>
            <a:srgbClr val="A85705"/>
          </a:solidFill>
          <a:ln w="12700">
            <a:solidFill>
              <a:srgbClr val="A85705"/>
            </a:solidFill>
            <a:prstDash val="solid"/>
          </a:ln>
        </p:spPr>
      </p:sp>
      <p:sp>
        <p:nvSpPr>
          <p:cNvPr id="21" name="Text 19"/>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この3点を先に文書化しておくと、社内稟議が通ります。技術検証より前に決めておくべき事項です。</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02</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期待しすぎないために：できること／まだ苦手なこと</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ここを外すと、社内の期待値がずれて必ず失敗します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17</a:t>
            </a:r>
            <a:endParaRPr lang="en-US" sz="850" dirty="0"/>
          </a:p>
        </p:txBody>
      </p:sp>
      <p:sp>
        <p:nvSpPr>
          <p:cNvPr id="7" name="Shape 5"/>
          <p:cNvSpPr/>
          <p:nvPr/>
        </p:nvSpPr>
        <p:spPr>
          <a:xfrm>
            <a:off x="566928" y="1737360"/>
            <a:ext cx="5349240" cy="3200400"/>
          </a:xfrm>
          <a:prstGeom prst="roundRect">
            <a:avLst>
              <a:gd name="adj" fmla="val 2000"/>
            </a:avLst>
          </a:prstGeom>
          <a:solidFill>
            <a:srgbClr val="E3EFED"/>
          </a:solidFill>
          <a:ln w="12700">
            <a:solidFill>
              <a:srgbClr val="E3EFED"/>
            </a:solidFill>
            <a:prstDash val="solid"/>
          </a:ln>
        </p:spPr>
      </p:sp>
      <p:sp>
        <p:nvSpPr>
          <p:cNvPr id="8" name="Text 6"/>
          <p:cNvSpPr/>
          <p:nvPr/>
        </p:nvSpPr>
        <p:spPr>
          <a:xfrm>
            <a:off x="877824" y="1901952"/>
            <a:ext cx="4754880" cy="384048"/>
          </a:xfrm>
          <a:prstGeom prst="rect">
            <a:avLst/>
          </a:prstGeom>
          <a:noFill/>
          <a:ln/>
        </p:spPr>
        <p:txBody>
          <a:bodyPr wrap="square" lIns="0" tIns="0" rIns="0" bIns="0" rtlCol="0" anchor="ctr"/>
          <a:lstStyle/>
          <a:p>
            <a:pPr indent="0" marL="0">
              <a:buNone/>
            </a:pPr>
            <a:r>
              <a:rPr lang="en-US" sz="1400" b="1" dirty="0">
                <a:solidFill>
                  <a:srgbClr val="12695D"/>
                </a:solidFill>
                <a:latin typeface="Meiryo" pitchFamily="34" charset="0"/>
                <a:ea typeface="Meiryo" pitchFamily="34" charset="-122"/>
                <a:cs typeface="Meiryo" pitchFamily="34" charset="-120"/>
              </a:rPr>
              <a:t>もう十分にできること</a:t>
            </a:r>
            <a:endParaRPr lang="en-US" sz="1400" dirty="0"/>
          </a:p>
        </p:txBody>
      </p:sp>
      <p:sp>
        <p:nvSpPr>
          <p:cNvPr id="9" name="Text 7"/>
          <p:cNvSpPr/>
          <p:nvPr/>
        </p:nvSpPr>
        <p:spPr>
          <a:xfrm>
            <a:off x="877824" y="2377440"/>
            <a:ext cx="4754880" cy="2468880"/>
          </a:xfrm>
          <a:prstGeom prst="rect">
            <a:avLst/>
          </a:prstGeom>
          <a:noFill/>
          <a:ln/>
        </p:spPr>
        <p:txBody>
          <a:bodyPr wrap="square" lIns="0" tIns="0" rIns="0" bIns="0" rtlCol="0" anchor="t"/>
          <a:lstStyle/>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数字の集計と、文章の要約</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定型資料・報告書の下書き作成</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表記ゆれの統一、分類・タグ付け</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「いつもと違う数字」の一次的な検知</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議事録から論点・宿題を抜き出す</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大量の文書から、該当する箇所を探し出す</a:t>
            </a:r>
            <a:endParaRPr lang="en-US" sz="1300" dirty="0"/>
          </a:p>
        </p:txBody>
      </p:sp>
      <p:sp>
        <p:nvSpPr>
          <p:cNvPr id="10" name="Shape 8"/>
          <p:cNvSpPr/>
          <p:nvPr/>
        </p:nvSpPr>
        <p:spPr>
          <a:xfrm>
            <a:off x="6272784" y="1737360"/>
            <a:ext cx="5349240" cy="3200400"/>
          </a:xfrm>
          <a:prstGeom prst="roundRect">
            <a:avLst>
              <a:gd name="adj" fmla="val 2000"/>
            </a:avLst>
          </a:prstGeom>
          <a:solidFill>
            <a:srgbClr val="F2F4F6"/>
          </a:solidFill>
          <a:ln w="12700">
            <a:solidFill>
              <a:srgbClr val="F2F4F6"/>
            </a:solidFill>
            <a:prstDash val="solid"/>
          </a:ln>
        </p:spPr>
      </p:sp>
      <p:sp>
        <p:nvSpPr>
          <p:cNvPr id="11" name="Text 9"/>
          <p:cNvSpPr/>
          <p:nvPr/>
        </p:nvSpPr>
        <p:spPr>
          <a:xfrm>
            <a:off x="6583680" y="1901952"/>
            <a:ext cx="4754880" cy="384048"/>
          </a:xfrm>
          <a:prstGeom prst="rect">
            <a:avLst/>
          </a:prstGeom>
          <a:noFill/>
          <a:ln/>
        </p:spPr>
        <p:txBody>
          <a:bodyPr wrap="square" lIns="0" tIns="0" rIns="0" bIns="0" rtlCol="0" anchor="ctr"/>
          <a:lstStyle/>
          <a:p>
            <a:pPr indent="0" marL="0">
              <a:buNone/>
            </a:pPr>
            <a:r>
              <a:rPr lang="en-US" sz="1400" b="1" dirty="0">
                <a:solidFill>
                  <a:srgbClr val="667382"/>
                </a:solidFill>
                <a:latin typeface="Meiryo" pitchFamily="34" charset="0"/>
                <a:ea typeface="Meiryo" pitchFamily="34" charset="-122"/>
                <a:cs typeface="Meiryo" pitchFamily="34" charset="-120"/>
              </a:rPr>
              <a:t>まだ苦手なこと（人が担う）</a:t>
            </a:r>
            <a:endParaRPr lang="en-US" sz="1400" dirty="0"/>
          </a:p>
        </p:txBody>
      </p:sp>
      <p:sp>
        <p:nvSpPr>
          <p:cNvPr id="12" name="Text 10"/>
          <p:cNvSpPr/>
          <p:nvPr/>
        </p:nvSpPr>
        <p:spPr>
          <a:xfrm>
            <a:off x="6583680" y="2377440"/>
            <a:ext cx="4754880" cy="2468880"/>
          </a:xfrm>
          <a:prstGeom prst="rect">
            <a:avLst/>
          </a:prstGeom>
          <a:noFill/>
          <a:ln/>
        </p:spPr>
        <p:txBody>
          <a:bodyPr wrap="square" lIns="0" tIns="0" rIns="0" bIns="0" rtlCol="0" anchor="t"/>
          <a:lstStyle/>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記録が存在しない領域の判断</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社内の力学をふまえた意思決定</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出した数字の最終的な責任</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前提が曖昧な状態で「問い」を立てること</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前例のない例外処理の判断</a:t>
            </a:r>
            <a:endParaRPr lang="en-US" sz="1300" dirty="0"/>
          </a:p>
          <a:p>
            <a:pPr marL="342900" indent="-342900">
              <a:spcAft>
                <a:spcPts val="1300"/>
              </a:spcAft>
              <a:buSzPct val="100000"/>
              <a:buChar char="•"/>
            </a:pPr>
            <a:r>
              <a:rPr lang="en-US" sz="1300" dirty="0">
                <a:solidFill>
                  <a:srgbClr val="1B2733"/>
                </a:solidFill>
                <a:latin typeface="Meiryo" pitchFamily="34" charset="0"/>
                <a:ea typeface="Meiryo" pitchFamily="34" charset="-122"/>
                <a:cs typeface="Meiryo" pitchFamily="34" charset="-120"/>
              </a:rPr>
              <a:t>社外に出す文書の、最終的な確認</a:t>
            </a:r>
            <a:endParaRPr lang="en-US" sz="1300" dirty="0"/>
          </a:p>
        </p:txBody>
      </p:sp>
      <p:sp>
        <p:nvSpPr>
          <p:cNvPr id="13" name="Shape 11"/>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14" name="Shape 12"/>
          <p:cNvSpPr/>
          <p:nvPr/>
        </p:nvSpPr>
        <p:spPr>
          <a:xfrm>
            <a:off x="804672" y="5760720"/>
            <a:ext cx="219456" cy="219456"/>
          </a:xfrm>
          <a:prstGeom prst="ellipse">
            <a:avLst/>
          </a:prstGeom>
          <a:solidFill>
            <a:srgbClr val="A85705"/>
          </a:solidFill>
          <a:ln w="12700">
            <a:solidFill>
              <a:srgbClr val="A85705"/>
            </a:solidFill>
            <a:prstDash val="solid"/>
          </a:ln>
        </p:spPr>
      </p:sp>
      <p:sp>
        <p:nvSpPr>
          <p:cNvPr id="15" name="Text 13"/>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設計方針は「最終判断を任せる」ではなく「一次案を高速に出させる」。検証は人がやる、を前提に業務を組みます。</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Text 1"/>
          <p:cNvSpPr/>
          <p:nvPr/>
        </p:nvSpPr>
        <p:spPr>
          <a:xfrm>
            <a:off x="8332927" y="1280160"/>
            <a:ext cx="3291840" cy="4023360"/>
          </a:xfrm>
          <a:prstGeom prst="rect">
            <a:avLst/>
          </a:prstGeom>
          <a:noFill/>
          <a:ln/>
        </p:spPr>
        <p:txBody>
          <a:bodyPr wrap="square" lIns="0" tIns="0" rIns="0" bIns="0" rtlCol="0" anchor="ctr"/>
          <a:lstStyle/>
          <a:p>
            <a:pPr algn="r" indent="0" marL="0">
              <a:buNone/>
            </a:pPr>
            <a:r>
              <a:rPr lang="en-US" sz="20000" b="1" dirty="0">
                <a:solidFill>
                  <a:srgbClr val="223140"/>
                </a:solidFill>
                <a:latin typeface="Meiryo" pitchFamily="34" charset="0"/>
                <a:ea typeface="Meiryo" pitchFamily="34" charset="-122"/>
                <a:cs typeface="Meiryo" pitchFamily="34" charset="-120"/>
              </a:rPr>
              <a:t>03</a:t>
            </a:r>
            <a:endParaRPr lang="en-US" sz="20000" dirty="0"/>
          </a:p>
        </p:txBody>
      </p:sp>
      <p:sp>
        <p:nvSpPr>
          <p:cNvPr id="4" name="Shape 2"/>
          <p:cNvSpPr/>
          <p:nvPr/>
        </p:nvSpPr>
        <p:spPr>
          <a:xfrm>
            <a:off x="566928" y="2103120"/>
            <a:ext cx="713232" cy="713232"/>
          </a:xfrm>
          <a:prstGeom prst="ellipse">
            <a:avLst/>
          </a:prstGeom>
          <a:solidFill>
            <a:srgbClr val="D97612"/>
          </a:solidFill>
          <a:ln w="12700">
            <a:solidFill>
              <a:srgbClr val="D97612"/>
            </a:solidFill>
            <a:prstDash val="solid"/>
          </a:ln>
        </p:spPr>
      </p:sp>
      <p:sp>
        <p:nvSpPr>
          <p:cNvPr id="5" name="Text 3"/>
          <p:cNvSpPr/>
          <p:nvPr/>
        </p:nvSpPr>
        <p:spPr>
          <a:xfrm>
            <a:off x="566928" y="2103120"/>
            <a:ext cx="713232"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6" name="Text 4"/>
          <p:cNvSpPr/>
          <p:nvPr/>
        </p:nvSpPr>
        <p:spPr>
          <a:xfrm>
            <a:off x="1536192" y="2103120"/>
            <a:ext cx="3657600" cy="237744"/>
          </a:xfrm>
          <a:prstGeom prst="rect">
            <a:avLst/>
          </a:prstGeom>
          <a:noFill/>
          <a:ln/>
        </p:spPr>
        <p:txBody>
          <a:bodyPr wrap="square" lIns="0" tIns="0" rIns="0" bIns="0" rtlCol="0" anchor="ctr"/>
          <a:lstStyle/>
          <a:p>
            <a:pPr indent="0" marL="0">
              <a:buNone/>
            </a:pPr>
            <a:r>
              <a:rPr lang="en-US" sz="1000" b="1" spc="200" kern="0" dirty="0">
                <a:solidFill>
                  <a:srgbClr val="D97612"/>
                </a:solidFill>
                <a:latin typeface="Meiryo" pitchFamily="34" charset="0"/>
                <a:ea typeface="Meiryo" pitchFamily="34" charset="-122"/>
                <a:cs typeface="Meiryo" pitchFamily="34" charset="-120"/>
              </a:rPr>
              <a:t>SECTION</a:t>
            </a:r>
            <a:endParaRPr lang="en-US" sz="1000" dirty="0"/>
          </a:p>
        </p:txBody>
      </p:sp>
      <p:sp>
        <p:nvSpPr>
          <p:cNvPr id="7" name="Text 5"/>
          <p:cNvSpPr/>
          <p:nvPr/>
        </p:nvSpPr>
        <p:spPr>
          <a:xfrm>
            <a:off x="1536192" y="2359152"/>
            <a:ext cx="10088575"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成果を分けるのは「記録」</a:t>
            </a:r>
            <a:endParaRPr lang="en-US" sz="3200" dirty="0"/>
          </a:p>
        </p:txBody>
      </p:sp>
      <p:sp>
        <p:nvSpPr>
          <p:cNvPr id="8" name="Text 6"/>
          <p:cNvSpPr/>
          <p:nvPr/>
        </p:nvSpPr>
        <p:spPr>
          <a:xfrm>
            <a:off x="1536192" y="3054096"/>
            <a:ext cx="9594799" cy="384048"/>
          </a:xfrm>
          <a:prstGeom prst="rect">
            <a:avLst/>
          </a:prstGeom>
          <a:noFill/>
          <a:ln/>
        </p:spPr>
        <p:txBody>
          <a:bodyPr wrap="square" lIns="0" tIns="0" rIns="0" bIns="0" rtlCol="0" anchor="ctr"/>
          <a:lstStyle/>
          <a:p>
            <a:pPr indent="0" marL="0">
              <a:buNone/>
            </a:pPr>
            <a:r>
              <a:rPr lang="en-US" sz="1400" dirty="0">
                <a:solidFill>
                  <a:srgbClr val="B9C4CF"/>
                </a:solidFill>
                <a:latin typeface="Meiryo" pitchFamily="34" charset="0"/>
                <a:ea typeface="Meiryo" pitchFamily="34" charset="-122"/>
                <a:cs typeface="Meiryo" pitchFamily="34" charset="-120"/>
              </a:rPr>
              <a:t>AIの出力の質は、渡せる事実の量と質で決まります</a:t>
            </a:r>
            <a:endParaRPr lang="en-US" sz="1400" dirty="0"/>
          </a:p>
        </p:txBody>
      </p:sp>
      <p:sp>
        <p:nvSpPr>
          <p:cNvPr id="9" name="Shape 7"/>
          <p:cNvSpPr/>
          <p:nvPr/>
        </p:nvSpPr>
        <p:spPr>
          <a:xfrm>
            <a:off x="1536192" y="3675888"/>
            <a:ext cx="5852160" cy="566928"/>
          </a:xfrm>
          <a:prstGeom prst="roundRect">
            <a:avLst>
              <a:gd name="adj" fmla="val 11290"/>
            </a:avLst>
          </a:prstGeom>
          <a:solidFill>
            <a:srgbClr val="223140"/>
          </a:solidFill>
          <a:ln w="12700">
            <a:solidFill>
              <a:srgbClr val="223140"/>
            </a:solidFill>
            <a:prstDash val="solid"/>
          </a:ln>
        </p:spPr>
      </p:sp>
      <p:sp>
        <p:nvSpPr>
          <p:cNvPr id="10" name="Text 8"/>
          <p:cNvSpPr/>
          <p:nvPr/>
        </p:nvSpPr>
        <p:spPr>
          <a:xfrm>
            <a:off x="1719072" y="3675888"/>
            <a:ext cx="5486400" cy="566928"/>
          </a:xfrm>
          <a:prstGeom prst="rect">
            <a:avLst/>
          </a:prstGeom>
          <a:noFill/>
          <a:ln/>
        </p:spPr>
        <p:txBody>
          <a:bodyPr wrap="square" lIns="0" tIns="0" rIns="0" bIns="0" rtlCol="0" anchor="ctr"/>
          <a:lstStyle/>
          <a:p>
            <a:pPr indent="0" marL="0">
              <a:buNone/>
            </a:pPr>
            <a:r>
              <a:rPr lang="en-US" sz="1150" dirty="0">
                <a:solidFill>
                  <a:srgbClr val="E4E9ED"/>
                </a:solidFill>
                <a:latin typeface="Meiryo" pitchFamily="34" charset="0"/>
                <a:ea typeface="Meiryo" pitchFamily="34" charset="-122"/>
                <a:cs typeface="Meiryo" pitchFamily="34" charset="-120"/>
              </a:rPr>
              <a:t>ここが本日の中心です。</a:t>
            </a:r>
            <a:endParaRPr lang="en-US" sz="1150" dirty="0"/>
          </a:p>
        </p:txBody>
      </p:sp>
      <p:sp>
        <p:nvSpPr>
          <p:cNvPr id="11" name="Text 9"/>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6B7684"/>
                </a:solidFill>
                <a:latin typeface="Meiryo" pitchFamily="34" charset="0"/>
                <a:ea typeface="Meiryo" pitchFamily="34" charset="-122"/>
                <a:cs typeface="Meiryo"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03</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AIの出力の質は、3つの掛け算で決まります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掛け算なので、どれかが 0 なら結果も 0 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19</a:t>
            </a:r>
            <a:endParaRPr lang="en-US" sz="850" dirty="0"/>
          </a:p>
        </p:txBody>
      </p:sp>
      <p:sp>
        <p:nvSpPr>
          <p:cNvPr id="7" name="Shape 5"/>
          <p:cNvSpPr/>
          <p:nvPr/>
        </p:nvSpPr>
        <p:spPr>
          <a:xfrm>
            <a:off x="1115568" y="1828800"/>
            <a:ext cx="3017520" cy="2468880"/>
          </a:xfrm>
          <a:prstGeom prst="roundRect">
            <a:avLst>
              <a:gd name="adj" fmla="val 2593"/>
            </a:avLst>
          </a:prstGeom>
          <a:solidFill>
            <a:srgbClr val="F2F4F6"/>
          </a:solidFill>
          <a:ln w="12700">
            <a:solidFill>
              <a:srgbClr val="F2F4F6"/>
            </a:solidFill>
            <a:prstDash val="solid"/>
          </a:ln>
        </p:spPr>
      </p:sp>
      <p:sp>
        <p:nvSpPr>
          <p:cNvPr id="8" name="Text 6"/>
          <p:cNvSpPr/>
          <p:nvPr/>
        </p:nvSpPr>
        <p:spPr>
          <a:xfrm>
            <a:off x="1115568" y="2011680"/>
            <a:ext cx="3017520" cy="548640"/>
          </a:xfrm>
          <a:prstGeom prst="rect">
            <a:avLst/>
          </a:prstGeom>
          <a:noFill/>
          <a:ln/>
        </p:spPr>
        <p:txBody>
          <a:bodyPr wrap="square" lIns="0" tIns="0" rIns="0" bIns="0" rtlCol="0" anchor="ctr"/>
          <a:lstStyle/>
          <a:p>
            <a:pPr algn="ctr" indent="0" marL="0">
              <a:buNone/>
            </a:pPr>
            <a:r>
              <a:rPr lang="en-US" sz="2600" b="1" dirty="0">
                <a:solidFill>
                  <a:srgbClr val="1B2733"/>
                </a:solidFill>
                <a:latin typeface="Meiryo" pitchFamily="34" charset="0"/>
                <a:ea typeface="Meiryo" pitchFamily="34" charset="-122"/>
                <a:cs typeface="Meiryo" pitchFamily="34" charset="-120"/>
              </a:rPr>
              <a:t>モデル</a:t>
            </a:r>
            <a:endParaRPr lang="en-US" sz="2600" dirty="0"/>
          </a:p>
        </p:txBody>
      </p:sp>
      <p:sp>
        <p:nvSpPr>
          <p:cNvPr id="9" name="Text 7"/>
          <p:cNvSpPr/>
          <p:nvPr/>
        </p:nvSpPr>
        <p:spPr>
          <a:xfrm>
            <a:off x="1115568" y="2560320"/>
            <a:ext cx="3017520" cy="310896"/>
          </a:xfrm>
          <a:prstGeom prst="rect">
            <a:avLst/>
          </a:prstGeom>
          <a:noFill/>
          <a:ln/>
        </p:spPr>
        <p:txBody>
          <a:bodyPr wrap="square" lIns="0" tIns="0" rIns="0" bIns="0" rtlCol="0" anchor="ctr"/>
          <a:lstStyle/>
          <a:p>
            <a:pPr algn="ctr" indent="0" marL="0">
              <a:buNone/>
            </a:pPr>
            <a:r>
              <a:rPr lang="en-US" sz="1150" dirty="0">
                <a:solidFill>
                  <a:srgbClr val="667382"/>
                </a:solidFill>
                <a:latin typeface="Meiryo" pitchFamily="34" charset="0"/>
                <a:ea typeface="Meiryo" pitchFamily="34" charset="-122"/>
                <a:cs typeface="Meiryo" pitchFamily="34" charset="-120"/>
              </a:rPr>
              <a:t>（頭脳）</a:t>
            </a:r>
            <a:endParaRPr lang="en-US" sz="1150" dirty="0"/>
          </a:p>
        </p:txBody>
      </p:sp>
      <p:sp>
        <p:nvSpPr>
          <p:cNvPr id="10" name="Shape 8"/>
          <p:cNvSpPr/>
          <p:nvPr/>
        </p:nvSpPr>
        <p:spPr>
          <a:xfrm>
            <a:off x="1938528" y="2962656"/>
            <a:ext cx="1371600" cy="384048"/>
          </a:xfrm>
          <a:prstGeom prst="roundRect">
            <a:avLst>
              <a:gd name="adj" fmla="val 16667"/>
            </a:avLst>
          </a:prstGeom>
          <a:solidFill>
            <a:srgbClr val="223140"/>
          </a:solidFill>
          <a:ln w="12700">
            <a:solidFill>
              <a:srgbClr val="223140"/>
            </a:solidFill>
            <a:prstDash val="solid"/>
          </a:ln>
        </p:spPr>
      </p:sp>
      <p:sp>
        <p:nvSpPr>
          <p:cNvPr id="11" name="Text 9"/>
          <p:cNvSpPr/>
          <p:nvPr/>
        </p:nvSpPr>
        <p:spPr>
          <a:xfrm>
            <a:off x="1938528" y="2962656"/>
            <a:ext cx="13716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買える</a:t>
            </a:r>
            <a:endParaRPr lang="en-US" sz="1150" dirty="0"/>
          </a:p>
        </p:txBody>
      </p:sp>
      <p:sp>
        <p:nvSpPr>
          <p:cNvPr id="12" name="Text 10"/>
          <p:cNvSpPr/>
          <p:nvPr/>
        </p:nvSpPr>
        <p:spPr>
          <a:xfrm>
            <a:off x="1298448" y="3493008"/>
            <a:ext cx="2651760" cy="640080"/>
          </a:xfrm>
          <a:prstGeom prst="rect">
            <a:avLst/>
          </a:prstGeom>
          <a:noFill/>
          <a:ln/>
        </p:spPr>
        <p:txBody>
          <a:bodyPr wrap="square" lIns="0" tIns="0" rIns="0" bIns="0" rtlCol="0" anchor="t"/>
          <a:lstStyle/>
          <a:p>
            <a:pPr algn="ctr" indent="0" marL="0">
              <a:lnSpc>
                <a:spcPts val="1800"/>
              </a:lnSpc>
              <a:buNone/>
            </a:pPr>
            <a:r>
              <a:rPr lang="en-US" sz="1150" dirty="0">
                <a:solidFill>
                  <a:srgbClr val="667382"/>
                </a:solidFill>
                <a:latin typeface="Meiryo" pitchFamily="34" charset="0"/>
                <a:ea typeface="Meiryo" pitchFamily="34" charset="-122"/>
                <a:cs typeface="Meiryo" pitchFamily="34" charset="-120"/>
              </a:rPr>
              <a:t>各社ほぼ横並びに</a:t>
            </a:r>
            <a:endParaRPr lang="en-US" sz="1150" dirty="0"/>
          </a:p>
          <a:p>
            <a:pPr algn="ctr" indent="0" marL="0">
              <a:lnSpc>
                <a:spcPts val="1800"/>
              </a:lnSpc>
              <a:buNone/>
            </a:pPr>
            <a:r>
              <a:rPr lang="en-US" sz="1150" dirty="0">
                <a:solidFill>
                  <a:srgbClr val="667382"/>
                </a:solidFill>
                <a:latin typeface="Meiryo" pitchFamily="34" charset="0"/>
                <a:ea typeface="Meiryo" pitchFamily="34" charset="-122"/>
                <a:cs typeface="Meiryo" pitchFamily="34" charset="-120"/>
              </a:rPr>
              <a:t>なりつつある</a:t>
            </a:r>
            <a:endParaRPr lang="en-US" sz="1150" dirty="0"/>
          </a:p>
        </p:txBody>
      </p:sp>
      <p:sp>
        <p:nvSpPr>
          <p:cNvPr id="13" name="Text 11"/>
          <p:cNvSpPr/>
          <p:nvPr/>
        </p:nvSpPr>
        <p:spPr>
          <a:xfrm>
            <a:off x="4133088" y="1828800"/>
            <a:ext cx="786384" cy="2468880"/>
          </a:xfrm>
          <a:prstGeom prst="rect">
            <a:avLst/>
          </a:prstGeom>
          <a:noFill/>
          <a:ln/>
        </p:spPr>
        <p:txBody>
          <a:bodyPr wrap="square" lIns="0" tIns="0" rIns="0" bIns="0" rtlCol="0" anchor="ctr"/>
          <a:lstStyle/>
          <a:p>
            <a:pPr algn="ctr" indent="0" marL="0">
              <a:buNone/>
            </a:pPr>
            <a:r>
              <a:rPr lang="en-US" sz="2600" b="1" dirty="0">
                <a:solidFill>
                  <a:srgbClr val="8C97A3"/>
                </a:solidFill>
                <a:latin typeface="Meiryo" pitchFamily="34" charset="0"/>
                <a:ea typeface="Meiryo" pitchFamily="34" charset="-122"/>
                <a:cs typeface="Meiryo" pitchFamily="34" charset="-120"/>
              </a:rPr>
              <a:t>×</a:t>
            </a:r>
            <a:endParaRPr lang="en-US" sz="2600" dirty="0"/>
          </a:p>
        </p:txBody>
      </p:sp>
      <p:sp>
        <p:nvSpPr>
          <p:cNvPr id="14" name="Shape 12"/>
          <p:cNvSpPr/>
          <p:nvPr/>
        </p:nvSpPr>
        <p:spPr>
          <a:xfrm>
            <a:off x="4919472" y="1828800"/>
            <a:ext cx="3017520" cy="2468880"/>
          </a:xfrm>
          <a:prstGeom prst="roundRect">
            <a:avLst>
              <a:gd name="adj" fmla="val 2593"/>
            </a:avLst>
          </a:prstGeom>
          <a:solidFill>
            <a:srgbClr val="FDF1E2"/>
          </a:solidFill>
          <a:ln w="12700">
            <a:solidFill>
              <a:srgbClr val="FDF1E2"/>
            </a:solidFill>
            <a:prstDash val="solid"/>
          </a:ln>
        </p:spPr>
      </p:sp>
      <p:sp>
        <p:nvSpPr>
          <p:cNvPr id="15" name="Text 13"/>
          <p:cNvSpPr/>
          <p:nvPr/>
        </p:nvSpPr>
        <p:spPr>
          <a:xfrm>
            <a:off x="4919472" y="2011680"/>
            <a:ext cx="3017520" cy="548640"/>
          </a:xfrm>
          <a:prstGeom prst="rect">
            <a:avLst/>
          </a:prstGeom>
          <a:noFill/>
          <a:ln/>
        </p:spPr>
        <p:txBody>
          <a:bodyPr wrap="square" lIns="0" tIns="0" rIns="0" bIns="0" rtlCol="0" anchor="ctr"/>
          <a:lstStyle/>
          <a:p>
            <a:pPr algn="ctr" indent="0" marL="0">
              <a:buNone/>
            </a:pPr>
            <a:r>
              <a:rPr lang="en-US" sz="2600" b="1" dirty="0">
                <a:solidFill>
                  <a:srgbClr val="A85705"/>
                </a:solidFill>
                <a:latin typeface="Meiryo" pitchFamily="34" charset="0"/>
                <a:ea typeface="Meiryo" pitchFamily="34" charset="-122"/>
                <a:cs typeface="Meiryo" pitchFamily="34" charset="-120"/>
              </a:rPr>
              <a:t>事実</a:t>
            </a:r>
            <a:endParaRPr lang="en-US" sz="2600" dirty="0"/>
          </a:p>
        </p:txBody>
      </p:sp>
      <p:sp>
        <p:nvSpPr>
          <p:cNvPr id="16" name="Text 14"/>
          <p:cNvSpPr/>
          <p:nvPr/>
        </p:nvSpPr>
        <p:spPr>
          <a:xfrm>
            <a:off x="4919472" y="2560320"/>
            <a:ext cx="3017520" cy="310896"/>
          </a:xfrm>
          <a:prstGeom prst="rect">
            <a:avLst/>
          </a:prstGeom>
          <a:noFill/>
          <a:ln/>
        </p:spPr>
        <p:txBody>
          <a:bodyPr wrap="square" lIns="0" tIns="0" rIns="0" bIns="0" rtlCol="0" anchor="ctr"/>
          <a:lstStyle/>
          <a:p>
            <a:pPr algn="ctr" indent="0" marL="0">
              <a:buNone/>
            </a:pPr>
            <a:r>
              <a:rPr lang="en-US" sz="1150" dirty="0">
                <a:solidFill>
                  <a:srgbClr val="667382"/>
                </a:solidFill>
                <a:latin typeface="Meiryo" pitchFamily="34" charset="0"/>
                <a:ea typeface="Meiryo" pitchFamily="34" charset="-122"/>
                <a:cs typeface="Meiryo" pitchFamily="34" charset="-120"/>
              </a:rPr>
              <a:t>（記録）</a:t>
            </a:r>
            <a:endParaRPr lang="en-US" sz="1150" dirty="0"/>
          </a:p>
        </p:txBody>
      </p:sp>
      <p:sp>
        <p:nvSpPr>
          <p:cNvPr id="17" name="Shape 15"/>
          <p:cNvSpPr/>
          <p:nvPr/>
        </p:nvSpPr>
        <p:spPr>
          <a:xfrm>
            <a:off x="5742432" y="2962656"/>
            <a:ext cx="1371600" cy="384048"/>
          </a:xfrm>
          <a:prstGeom prst="roundRect">
            <a:avLst>
              <a:gd name="adj" fmla="val 16667"/>
            </a:avLst>
          </a:prstGeom>
          <a:solidFill>
            <a:srgbClr val="D97612"/>
          </a:solidFill>
          <a:ln w="12700">
            <a:solidFill>
              <a:srgbClr val="D97612"/>
            </a:solidFill>
            <a:prstDash val="solid"/>
          </a:ln>
        </p:spPr>
      </p:sp>
      <p:sp>
        <p:nvSpPr>
          <p:cNvPr id="18" name="Text 16"/>
          <p:cNvSpPr/>
          <p:nvPr/>
        </p:nvSpPr>
        <p:spPr>
          <a:xfrm>
            <a:off x="5742432" y="2962656"/>
            <a:ext cx="13716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買えない</a:t>
            </a:r>
            <a:endParaRPr lang="en-US" sz="1150" dirty="0"/>
          </a:p>
        </p:txBody>
      </p:sp>
      <p:sp>
        <p:nvSpPr>
          <p:cNvPr id="19" name="Text 17"/>
          <p:cNvSpPr/>
          <p:nvPr/>
        </p:nvSpPr>
        <p:spPr>
          <a:xfrm>
            <a:off x="5102352" y="3493008"/>
            <a:ext cx="2651760" cy="640080"/>
          </a:xfrm>
          <a:prstGeom prst="rect">
            <a:avLst/>
          </a:prstGeom>
          <a:noFill/>
          <a:ln/>
        </p:spPr>
        <p:txBody>
          <a:bodyPr wrap="square" lIns="0" tIns="0" rIns="0" bIns="0" rtlCol="0" anchor="t"/>
          <a:lstStyle/>
          <a:p>
            <a:pPr algn="ctr" indent="0" marL="0">
              <a:lnSpc>
                <a:spcPts val="1800"/>
              </a:lnSpc>
              <a:buNone/>
            </a:pPr>
            <a:r>
              <a:rPr lang="en-US" sz="1150" dirty="0">
                <a:solidFill>
                  <a:srgbClr val="6B4A24"/>
                </a:solidFill>
                <a:latin typeface="Meiryo" pitchFamily="34" charset="0"/>
                <a:ea typeface="Meiryo" pitchFamily="34" charset="-122"/>
                <a:cs typeface="Meiryo" pitchFamily="34" charset="-120"/>
              </a:rPr>
              <a:t>自社にしかない。</a:t>
            </a:r>
            <a:endParaRPr lang="en-US" sz="1150" dirty="0"/>
          </a:p>
          <a:p>
            <a:pPr algn="ctr" indent="0" marL="0">
              <a:lnSpc>
                <a:spcPts val="1800"/>
              </a:lnSpc>
              <a:buNone/>
            </a:pPr>
            <a:r>
              <a:rPr lang="en-US" sz="1150" dirty="0">
                <a:solidFill>
                  <a:srgbClr val="6B4A24"/>
                </a:solidFill>
                <a:latin typeface="Meiryo" pitchFamily="34" charset="0"/>
                <a:ea typeface="Meiryo" pitchFamily="34" charset="-122"/>
                <a:cs typeface="Meiryo" pitchFamily="34" charset="-120"/>
              </a:rPr>
              <a:t>ここが空だと全部ゼロ</a:t>
            </a:r>
            <a:endParaRPr lang="en-US" sz="1150" dirty="0"/>
          </a:p>
        </p:txBody>
      </p:sp>
      <p:sp>
        <p:nvSpPr>
          <p:cNvPr id="20" name="Text 18"/>
          <p:cNvSpPr/>
          <p:nvPr/>
        </p:nvSpPr>
        <p:spPr>
          <a:xfrm>
            <a:off x="7936992" y="1828800"/>
            <a:ext cx="786384" cy="2468880"/>
          </a:xfrm>
          <a:prstGeom prst="rect">
            <a:avLst/>
          </a:prstGeom>
          <a:noFill/>
          <a:ln/>
        </p:spPr>
        <p:txBody>
          <a:bodyPr wrap="square" lIns="0" tIns="0" rIns="0" bIns="0" rtlCol="0" anchor="ctr"/>
          <a:lstStyle/>
          <a:p>
            <a:pPr algn="ctr" indent="0" marL="0">
              <a:buNone/>
            </a:pPr>
            <a:r>
              <a:rPr lang="en-US" sz="2600" b="1" dirty="0">
                <a:solidFill>
                  <a:srgbClr val="8C97A3"/>
                </a:solidFill>
                <a:latin typeface="Meiryo" pitchFamily="34" charset="0"/>
                <a:ea typeface="Meiryo" pitchFamily="34" charset="-122"/>
                <a:cs typeface="Meiryo" pitchFamily="34" charset="-120"/>
              </a:rPr>
              <a:t>×</a:t>
            </a:r>
            <a:endParaRPr lang="en-US" sz="2600" dirty="0"/>
          </a:p>
        </p:txBody>
      </p:sp>
      <p:sp>
        <p:nvSpPr>
          <p:cNvPr id="21" name="Shape 19"/>
          <p:cNvSpPr/>
          <p:nvPr/>
        </p:nvSpPr>
        <p:spPr>
          <a:xfrm>
            <a:off x="8723376" y="1828800"/>
            <a:ext cx="3017520" cy="2468880"/>
          </a:xfrm>
          <a:prstGeom prst="roundRect">
            <a:avLst>
              <a:gd name="adj" fmla="val 2593"/>
            </a:avLst>
          </a:prstGeom>
          <a:solidFill>
            <a:srgbClr val="F2F4F6"/>
          </a:solidFill>
          <a:ln w="12700">
            <a:solidFill>
              <a:srgbClr val="F2F4F6"/>
            </a:solidFill>
            <a:prstDash val="solid"/>
          </a:ln>
        </p:spPr>
      </p:sp>
      <p:sp>
        <p:nvSpPr>
          <p:cNvPr id="22" name="Text 20"/>
          <p:cNvSpPr/>
          <p:nvPr/>
        </p:nvSpPr>
        <p:spPr>
          <a:xfrm>
            <a:off x="8723376" y="2011680"/>
            <a:ext cx="3017520" cy="548640"/>
          </a:xfrm>
          <a:prstGeom prst="rect">
            <a:avLst/>
          </a:prstGeom>
          <a:noFill/>
          <a:ln/>
        </p:spPr>
        <p:txBody>
          <a:bodyPr wrap="square" lIns="0" tIns="0" rIns="0" bIns="0" rtlCol="0" anchor="ctr"/>
          <a:lstStyle/>
          <a:p>
            <a:pPr algn="ctr" indent="0" marL="0">
              <a:buNone/>
            </a:pPr>
            <a:r>
              <a:rPr lang="en-US" sz="2600" b="1" dirty="0">
                <a:solidFill>
                  <a:srgbClr val="1B2733"/>
                </a:solidFill>
                <a:latin typeface="Meiryo" pitchFamily="34" charset="0"/>
                <a:ea typeface="Meiryo" pitchFamily="34" charset="-122"/>
                <a:cs typeface="Meiryo" pitchFamily="34" charset="-120"/>
              </a:rPr>
              <a:t>問い</a:t>
            </a:r>
            <a:endParaRPr lang="en-US" sz="2600" dirty="0"/>
          </a:p>
        </p:txBody>
      </p:sp>
      <p:sp>
        <p:nvSpPr>
          <p:cNvPr id="23" name="Text 21"/>
          <p:cNvSpPr/>
          <p:nvPr/>
        </p:nvSpPr>
        <p:spPr>
          <a:xfrm>
            <a:off x="8723376" y="2560320"/>
            <a:ext cx="3017520" cy="310896"/>
          </a:xfrm>
          <a:prstGeom prst="rect">
            <a:avLst/>
          </a:prstGeom>
          <a:noFill/>
          <a:ln/>
        </p:spPr>
        <p:txBody>
          <a:bodyPr wrap="square" lIns="0" tIns="0" rIns="0" bIns="0" rtlCol="0" anchor="ctr"/>
          <a:lstStyle/>
          <a:p>
            <a:pPr algn="ctr" indent="0" marL="0">
              <a:buNone/>
            </a:pPr>
            <a:r>
              <a:rPr lang="en-US" sz="1150" dirty="0">
                <a:solidFill>
                  <a:srgbClr val="667382"/>
                </a:solidFill>
                <a:latin typeface="Meiryo" pitchFamily="34" charset="0"/>
                <a:ea typeface="Meiryo" pitchFamily="34" charset="-122"/>
                <a:cs typeface="Meiryo" pitchFamily="34" charset="-120"/>
              </a:rPr>
              <a:t>（使い方）</a:t>
            </a:r>
            <a:endParaRPr lang="en-US" sz="1150" dirty="0"/>
          </a:p>
        </p:txBody>
      </p:sp>
      <p:sp>
        <p:nvSpPr>
          <p:cNvPr id="24" name="Shape 22"/>
          <p:cNvSpPr/>
          <p:nvPr/>
        </p:nvSpPr>
        <p:spPr>
          <a:xfrm>
            <a:off x="9546336" y="2962656"/>
            <a:ext cx="1371600" cy="384048"/>
          </a:xfrm>
          <a:prstGeom prst="roundRect">
            <a:avLst>
              <a:gd name="adj" fmla="val 16667"/>
            </a:avLst>
          </a:prstGeom>
          <a:solidFill>
            <a:srgbClr val="12695D"/>
          </a:solidFill>
          <a:ln w="12700">
            <a:solidFill>
              <a:srgbClr val="12695D"/>
            </a:solidFill>
            <a:prstDash val="solid"/>
          </a:ln>
        </p:spPr>
      </p:sp>
      <p:sp>
        <p:nvSpPr>
          <p:cNvPr id="25" name="Text 23"/>
          <p:cNvSpPr/>
          <p:nvPr/>
        </p:nvSpPr>
        <p:spPr>
          <a:xfrm>
            <a:off x="9546336" y="2962656"/>
            <a:ext cx="13716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学べる</a:t>
            </a:r>
            <a:endParaRPr lang="en-US" sz="1150" dirty="0"/>
          </a:p>
        </p:txBody>
      </p:sp>
      <p:sp>
        <p:nvSpPr>
          <p:cNvPr id="26" name="Text 24"/>
          <p:cNvSpPr/>
          <p:nvPr/>
        </p:nvSpPr>
        <p:spPr>
          <a:xfrm>
            <a:off x="8906256" y="3493008"/>
            <a:ext cx="2651760" cy="640080"/>
          </a:xfrm>
          <a:prstGeom prst="rect">
            <a:avLst/>
          </a:prstGeom>
          <a:noFill/>
          <a:ln/>
        </p:spPr>
        <p:txBody>
          <a:bodyPr wrap="square" lIns="0" tIns="0" rIns="0" bIns="0" rtlCol="0" anchor="t"/>
          <a:lstStyle/>
          <a:p>
            <a:pPr algn="ctr" indent="0" marL="0">
              <a:lnSpc>
                <a:spcPts val="1800"/>
              </a:lnSpc>
              <a:buNone/>
            </a:pPr>
            <a:r>
              <a:rPr lang="en-US" sz="1150" dirty="0">
                <a:solidFill>
                  <a:srgbClr val="667382"/>
                </a:solidFill>
                <a:latin typeface="Meiryo" pitchFamily="34" charset="0"/>
                <a:ea typeface="Meiryo" pitchFamily="34" charset="-122"/>
                <a:cs typeface="Meiryo" pitchFamily="34" charset="-120"/>
              </a:rPr>
              <a:t>第4部で</a:t>
            </a:r>
            <a:endParaRPr lang="en-US" sz="1150" dirty="0"/>
          </a:p>
          <a:p>
            <a:pPr algn="ctr" indent="0" marL="0">
              <a:lnSpc>
                <a:spcPts val="1800"/>
              </a:lnSpc>
              <a:buNone/>
            </a:pPr>
            <a:r>
              <a:rPr lang="en-US" sz="1150" dirty="0">
                <a:solidFill>
                  <a:srgbClr val="667382"/>
                </a:solidFill>
                <a:latin typeface="Meiryo" pitchFamily="34" charset="0"/>
                <a:ea typeface="Meiryo" pitchFamily="34" charset="-122"/>
                <a:cs typeface="Meiryo" pitchFamily="34" charset="-120"/>
              </a:rPr>
              <a:t>具体的に扱います</a:t>
            </a:r>
            <a:endParaRPr lang="en-US" sz="1150" dirty="0"/>
          </a:p>
        </p:txBody>
      </p:sp>
      <p:sp>
        <p:nvSpPr>
          <p:cNvPr id="27" name="Shape 25"/>
          <p:cNvSpPr/>
          <p:nvPr/>
        </p:nvSpPr>
        <p:spPr>
          <a:xfrm>
            <a:off x="566928" y="4626864"/>
            <a:ext cx="11057839" cy="786384"/>
          </a:xfrm>
          <a:prstGeom prst="roundRect">
            <a:avLst>
              <a:gd name="adj" fmla="val 8140"/>
            </a:avLst>
          </a:prstGeom>
          <a:solidFill>
            <a:srgbClr val="16202B"/>
          </a:solidFill>
          <a:ln w="12700">
            <a:solidFill>
              <a:srgbClr val="16202B"/>
            </a:solidFill>
            <a:prstDash val="solid"/>
          </a:ln>
        </p:spPr>
      </p:sp>
      <p:sp>
        <p:nvSpPr>
          <p:cNvPr id="28" name="Text 26"/>
          <p:cNvSpPr/>
          <p:nvPr/>
        </p:nvSpPr>
        <p:spPr>
          <a:xfrm>
            <a:off x="932688" y="4626864"/>
            <a:ext cx="10326319" cy="786384"/>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多くの会社が投資しているのは左の「モデル」ですが、成果を分けているのは中央の「事実」です。</a:t>
            </a:r>
            <a:endParaRPr lang="en-US" sz="1350" dirty="0"/>
          </a:p>
        </p:txBody>
      </p:sp>
      <p:sp>
        <p:nvSpPr>
          <p:cNvPr id="29" name="Shape 27"/>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30" name="Shape 28"/>
          <p:cNvSpPr/>
          <p:nvPr/>
        </p:nvSpPr>
        <p:spPr>
          <a:xfrm>
            <a:off x="804672" y="5760720"/>
            <a:ext cx="219456" cy="219456"/>
          </a:xfrm>
          <a:prstGeom prst="ellipse">
            <a:avLst/>
          </a:prstGeom>
          <a:solidFill>
            <a:srgbClr val="A85705"/>
          </a:solidFill>
          <a:ln w="12700">
            <a:solidFill>
              <a:srgbClr val="A85705"/>
            </a:solidFill>
            <a:prstDash val="solid"/>
          </a:ln>
        </p:spPr>
      </p:sp>
      <p:sp>
        <p:nvSpPr>
          <p:cNvPr id="31" name="Text 29"/>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だから最初にやるのは、ツール選定ではなく「自社にどんな事実が記録されているか」の棚卸しです。</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03</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社内の「事実」は、3つの層に分かれています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整っている層と、まったく無い層があります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20</a:t>
            </a:r>
            <a:endParaRPr lang="en-US" sz="850" dirty="0"/>
          </a:p>
        </p:txBody>
      </p:sp>
      <p:sp>
        <p:nvSpPr>
          <p:cNvPr id="7" name="Shape 5"/>
          <p:cNvSpPr/>
          <p:nvPr/>
        </p:nvSpPr>
        <p:spPr>
          <a:xfrm>
            <a:off x="566928" y="1773936"/>
            <a:ext cx="8595360" cy="1042416"/>
          </a:xfrm>
          <a:prstGeom prst="roundRect">
            <a:avLst>
              <a:gd name="adj" fmla="val 6140"/>
            </a:avLst>
          </a:prstGeom>
          <a:solidFill>
            <a:srgbClr val="F2F4F6"/>
          </a:solidFill>
          <a:ln w="12700">
            <a:solidFill>
              <a:srgbClr val="F2F4F6"/>
            </a:solidFill>
            <a:prstDash val="solid"/>
          </a:ln>
        </p:spPr>
      </p:sp>
      <p:sp>
        <p:nvSpPr>
          <p:cNvPr id="8" name="Shape 6"/>
          <p:cNvSpPr/>
          <p:nvPr/>
        </p:nvSpPr>
        <p:spPr>
          <a:xfrm>
            <a:off x="804672" y="2103120"/>
            <a:ext cx="384048" cy="384048"/>
          </a:xfrm>
          <a:prstGeom prst="ellipse">
            <a:avLst/>
          </a:prstGeom>
          <a:solidFill>
            <a:srgbClr val="667382"/>
          </a:solidFill>
          <a:ln w="12700">
            <a:solidFill>
              <a:srgbClr val="667382"/>
            </a:solidFill>
            <a:prstDash val="solid"/>
          </a:ln>
        </p:spPr>
      </p:sp>
      <p:sp>
        <p:nvSpPr>
          <p:cNvPr id="9" name="Text 7"/>
          <p:cNvSpPr/>
          <p:nvPr/>
        </p:nvSpPr>
        <p:spPr>
          <a:xfrm>
            <a:off x="804672" y="21031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0" name="Text 8"/>
          <p:cNvSpPr/>
          <p:nvPr/>
        </p:nvSpPr>
        <p:spPr>
          <a:xfrm>
            <a:off x="1353312" y="1901952"/>
            <a:ext cx="2194560"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ナレッジ層</a:t>
            </a:r>
            <a:endParaRPr lang="en-US" sz="1500" dirty="0"/>
          </a:p>
        </p:txBody>
      </p:sp>
      <p:sp>
        <p:nvSpPr>
          <p:cNvPr id="11" name="Text 9"/>
          <p:cNvSpPr/>
          <p:nvPr/>
        </p:nvSpPr>
        <p:spPr>
          <a:xfrm>
            <a:off x="3584448" y="1901952"/>
            <a:ext cx="3566160" cy="402336"/>
          </a:xfrm>
          <a:prstGeom prst="rect">
            <a:avLst/>
          </a:prstGeom>
          <a:noFill/>
          <a:ln/>
        </p:spPr>
        <p:txBody>
          <a:bodyPr wrap="square" lIns="0" tIns="0" rIns="0" bIns="0" rtlCol="0" anchor="ctr"/>
          <a:lstStyle/>
          <a:p>
            <a:pPr indent="0" marL="0">
              <a:buNone/>
            </a:pPr>
            <a:r>
              <a:rPr lang="en-US" sz="1200" dirty="0">
                <a:solidFill>
                  <a:srgbClr val="667382"/>
                </a:solidFill>
                <a:latin typeface="Meiryo" pitchFamily="34" charset="0"/>
                <a:ea typeface="Meiryo" pitchFamily="34" charset="-122"/>
                <a:cs typeface="Meiryo" pitchFamily="34" charset="-120"/>
              </a:rPr>
              <a:t>判断の理由・ノウハウ</a:t>
            </a:r>
            <a:endParaRPr lang="en-US" sz="1200" dirty="0"/>
          </a:p>
        </p:txBody>
      </p:sp>
      <p:sp>
        <p:nvSpPr>
          <p:cNvPr id="12" name="Text 10"/>
          <p:cNvSpPr/>
          <p:nvPr/>
        </p:nvSpPr>
        <p:spPr>
          <a:xfrm>
            <a:off x="1353312" y="2304288"/>
            <a:ext cx="5760720" cy="384048"/>
          </a:xfrm>
          <a:prstGeom prst="rect">
            <a:avLst/>
          </a:prstGeom>
          <a:noFill/>
          <a:ln/>
        </p:spPr>
        <p:txBody>
          <a:bodyPr wrap="square" lIns="0" tIns="0" rIns="0" bIns="0" rtlCol="0" anchor="ctr"/>
          <a:lstStyle/>
          <a:p>
            <a:pPr indent="0" marL="0">
              <a:buNone/>
            </a:pPr>
            <a:r>
              <a:rPr lang="en-US" sz="1100" dirty="0">
                <a:solidFill>
                  <a:srgbClr val="667382"/>
                </a:solidFill>
                <a:latin typeface="Meiryo" pitchFamily="34" charset="0"/>
                <a:ea typeface="Meiryo" pitchFamily="34" charset="-122"/>
                <a:cs typeface="Meiryo" pitchFamily="34" charset="-120"/>
              </a:rPr>
              <a:t>議事録、稟議書、報告書、メール</a:t>
            </a:r>
            <a:endParaRPr lang="en-US" sz="1100" dirty="0"/>
          </a:p>
        </p:txBody>
      </p:sp>
      <p:sp>
        <p:nvSpPr>
          <p:cNvPr id="13" name="Shape 11"/>
          <p:cNvSpPr/>
          <p:nvPr/>
        </p:nvSpPr>
        <p:spPr>
          <a:xfrm>
            <a:off x="7333488" y="2066544"/>
            <a:ext cx="1645920" cy="457200"/>
          </a:xfrm>
          <a:prstGeom prst="roundRect">
            <a:avLst>
              <a:gd name="adj" fmla="val 14000"/>
            </a:avLst>
          </a:prstGeom>
          <a:solidFill>
            <a:srgbClr val="667382"/>
          </a:solidFill>
          <a:ln w="12700">
            <a:solidFill>
              <a:srgbClr val="667382"/>
            </a:solidFill>
            <a:prstDash val="solid"/>
          </a:ln>
        </p:spPr>
      </p:sp>
      <p:sp>
        <p:nvSpPr>
          <p:cNvPr id="14" name="Text 12"/>
          <p:cNvSpPr/>
          <p:nvPr/>
        </p:nvSpPr>
        <p:spPr>
          <a:xfrm>
            <a:off x="7333488" y="2066544"/>
            <a:ext cx="16459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散在・非構造</a:t>
            </a:r>
            <a:endParaRPr lang="en-US" sz="1050" dirty="0"/>
          </a:p>
        </p:txBody>
      </p:sp>
      <p:sp>
        <p:nvSpPr>
          <p:cNvPr id="15" name="Shape 13"/>
          <p:cNvSpPr/>
          <p:nvPr/>
        </p:nvSpPr>
        <p:spPr>
          <a:xfrm>
            <a:off x="566928" y="2980944"/>
            <a:ext cx="8595360" cy="1042416"/>
          </a:xfrm>
          <a:prstGeom prst="roundRect">
            <a:avLst>
              <a:gd name="adj" fmla="val 6140"/>
            </a:avLst>
          </a:prstGeom>
          <a:solidFill>
            <a:srgbClr val="E3EFED"/>
          </a:solidFill>
          <a:ln w="12700">
            <a:solidFill>
              <a:srgbClr val="E3EFED"/>
            </a:solidFill>
            <a:prstDash val="solid"/>
          </a:ln>
        </p:spPr>
      </p:sp>
      <p:sp>
        <p:nvSpPr>
          <p:cNvPr id="16" name="Shape 14"/>
          <p:cNvSpPr/>
          <p:nvPr/>
        </p:nvSpPr>
        <p:spPr>
          <a:xfrm>
            <a:off x="804672" y="3310128"/>
            <a:ext cx="384048" cy="384048"/>
          </a:xfrm>
          <a:prstGeom prst="ellipse">
            <a:avLst/>
          </a:prstGeom>
          <a:solidFill>
            <a:srgbClr val="12695D"/>
          </a:solidFill>
          <a:ln w="12700">
            <a:solidFill>
              <a:srgbClr val="12695D"/>
            </a:solidFill>
            <a:prstDash val="solid"/>
          </a:ln>
        </p:spPr>
      </p:sp>
      <p:sp>
        <p:nvSpPr>
          <p:cNvPr id="17" name="Text 15"/>
          <p:cNvSpPr/>
          <p:nvPr/>
        </p:nvSpPr>
        <p:spPr>
          <a:xfrm>
            <a:off x="804672" y="331012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8" name="Text 16"/>
          <p:cNvSpPr/>
          <p:nvPr/>
        </p:nvSpPr>
        <p:spPr>
          <a:xfrm>
            <a:off x="1353312" y="3108960"/>
            <a:ext cx="2194560"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業務データ層</a:t>
            </a:r>
            <a:endParaRPr lang="en-US" sz="1500" dirty="0"/>
          </a:p>
        </p:txBody>
      </p:sp>
      <p:sp>
        <p:nvSpPr>
          <p:cNvPr id="19" name="Text 17"/>
          <p:cNvSpPr/>
          <p:nvPr/>
        </p:nvSpPr>
        <p:spPr>
          <a:xfrm>
            <a:off x="3584448" y="3108960"/>
            <a:ext cx="3566160" cy="402336"/>
          </a:xfrm>
          <a:prstGeom prst="rect">
            <a:avLst/>
          </a:prstGeom>
          <a:noFill/>
          <a:ln/>
        </p:spPr>
        <p:txBody>
          <a:bodyPr wrap="square" lIns="0" tIns="0" rIns="0" bIns="0" rtlCol="0" anchor="ctr"/>
          <a:lstStyle/>
          <a:p>
            <a:pPr indent="0" marL="0">
              <a:buNone/>
            </a:pPr>
            <a:r>
              <a:rPr lang="en-US" sz="1200" dirty="0">
                <a:solidFill>
                  <a:srgbClr val="667382"/>
                </a:solidFill>
                <a:latin typeface="Meiryo" pitchFamily="34" charset="0"/>
                <a:ea typeface="Meiryo" pitchFamily="34" charset="-122"/>
                <a:cs typeface="Meiryo" pitchFamily="34" charset="-120"/>
              </a:rPr>
              <a:t>結果としての数字</a:t>
            </a:r>
            <a:endParaRPr lang="en-US" sz="1200" dirty="0"/>
          </a:p>
        </p:txBody>
      </p:sp>
      <p:sp>
        <p:nvSpPr>
          <p:cNvPr id="20" name="Text 18"/>
          <p:cNvSpPr/>
          <p:nvPr/>
        </p:nvSpPr>
        <p:spPr>
          <a:xfrm>
            <a:off x="1353312" y="3511296"/>
            <a:ext cx="5760720" cy="384048"/>
          </a:xfrm>
          <a:prstGeom prst="rect">
            <a:avLst/>
          </a:prstGeom>
          <a:noFill/>
          <a:ln/>
        </p:spPr>
        <p:txBody>
          <a:bodyPr wrap="square" lIns="0" tIns="0" rIns="0" bIns="0" rtlCol="0" anchor="ctr"/>
          <a:lstStyle/>
          <a:p>
            <a:pPr indent="0" marL="0">
              <a:buNone/>
            </a:pPr>
            <a:r>
              <a:rPr lang="en-US" sz="1100" dirty="0">
                <a:solidFill>
                  <a:srgbClr val="667382"/>
                </a:solidFill>
                <a:latin typeface="Meiryo" pitchFamily="34" charset="0"/>
                <a:ea typeface="Meiryo" pitchFamily="34" charset="-122"/>
                <a:cs typeface="Meiryo" pitchFamily="34" charset="-120"/>
              </a:rPr>
              <a:t>会計、販売、在庫、勤怠</a:t>
            </a:r>
            <a:endParaRPr lang="en-US" sz="1100" dirty="0"/>
          </a:p>
        </p:txBody>
      </p:sp>
      <p:sp>
        <p:nvSpPr>
          <p:cNvPr id="21" name="Shape 19"/>
          <p:cNvSpPr/>
          <p:nvPr/>
        </p:nvSpPr>
        <p:spPr>
          <a:xfrm>
            <a:off x="7333488" y="3273552"/>
            <a:ext cx="1645920" cy="457200"/>
          </a:xfrm>
          <a:prstGeom prst="roundRect">
            <a:avLst>
              <a:gd name="adj" fmla="val 14000"/>
            </a:avLst>
          </a:prstGeom>
          <a:solidFill>
            <a:srgbClr val="12695D"/>
          </a:solidFill>
          <a:ln w="12700">
            <a:solidFill>
              <a:srgbClr val="12695D"/>
            </a:solidFill>
            <a:prstDash val="solid"/>
          </a:ln>
        </p:spPr>
      </p:sp>
      <p:sp>
        <p:nvSpPr>
          <p:cNvPr id="22" name="Text 20"/>
          <p:cNvSpPr/>
          <p:nvPr/>
        </p:nvSpPr>
        <p:spPr>
          <a:xfrm>
            <a:off x="7333488" y="3273552"/>
            <a:ext cx="16459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比較的整っている</a:t>
            </a:r>
            <a:endParaRPr lang="en-US" sz="1050" dirty="0"/>
          </a:p>
        </p:txBody>
      </p:sp>
      <p:sp>
        <p:nvSpPr>
          <p:cNvPr id="23" name="Shape 21"/>
          <p:cNvSpPr/>
          <p:nvPr/>
        </p:nvSpPr>
        <p:spPr>
          <a:xfrm>
            <a:off x="566928" y="4187952"/>
            <a:ext cx="8595360" cy="1042416"/>
          </a:xfrm>
          <a:prstGeom prst="roundRect">
            <a:avLst>
              <a:gd name="adj" fmla="val 6140"/>
            </a:avLst>
          </a:prstGeom>
          <a:solidFill>
            <a:srgbClr val="FDF1E2"/>
          </a:solidFill>
          <a:ln w="12700">
            <a:solidFill>
              <a:srgbClr val="FDF1E2"/>
            </a:solidFill>
            <a:prstDash val="solid"/>
          </a:ln>
        </p:spPr>
      </p:sp>
      <p:sp>
        <p:nvSpPr>
          <p:cNvPr id="24" name="Shape 22"/>
          <p:cNvSpPr/>
          <p:nvPr/>
        </p:nvSpPr>
        <p:spPr>
          <a:xfrm>
            <a:off x="804672" y="4517136"/>
            <a:ext cx="384048" cy="384048"/>
          </a:xfrm>
          <a:prstGeom prst="ellipse">
            <a:avLst/>
          </a:prstGeom>
          <a:solidFill>
            <a:srgbClr val="D97612"/>
          </a:solidFill>
          <a:ln w="12700">
            <a:solidFill>
              <a:srgbClr val="D97612"/>
            </a:solidFill>
            <a:prstDash val="solid"/>
          </a:ln>
        </p:spPr>
      </p:sp>
      <p:sp>
        <p:nvSpPr>
          <p:cNvPr id="25" name="Text 23"/>
          <p:cNvSpPr/>
          <p:nvPr/>
        </p:nvSpPr>
        <p:spPr>
          <a:xfrm>
            <a:off x="804672" y="451713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6" name="Text 24"/>
          <p:cNvSpPr/>
          <p:nvPr/>
        </p:nvSpPr>
        <p:spPr>
          <a:xfrm>
            <a:off x="1353312" y="4315968"/>
            <a:ext cx="2194560" cy="402336"/>
          </a:xfrm>
          <a:prstGeom prst="rect">
            <a:avLst/>
          </a:prstGeom>
          <a:noFill/>
          <a:ln/>
        </p:spPr>
        <p:txBody>
          <a:bodyPr wrap="square" lIns="0" tIns="0" rIns="0" bIns="0" rtlCol="0" anchor="ctr"/>
          <a:lstStyle/>
          <a:p>
            <a:pPr indent="0" marL="0">
              <a:buNone/>
            </a:pPr>
            <a:r>
              <a:rPr lang="en-US" sz="1500" b="1" dirty="0">
                <a:solidFill>
                  <a:srgbClr val="A85705"/>
                </a:solidFill>
                <a:latin typeface="Meiryo" pitchFamily="34" charset="0"/>
                <a:ea typeface="Meiryo" pitchFamily="34" charset="-122"/>
                <a:cs typeface="Meiryo" pitchFamily="34" charset="-120"/>
              </a:rPr>
              <a:t>業務ログ層</a:t>
            </a:r>
            <a:endParaRPr lang="en-US" sz="1500" dirty="0"/>
          </a:p>
        </p:txBody>
      </p:sp>
      <p:sp>
        <p:nvSpPr>
          <p:cNvPr id="27" name="Text 25"/>
          <p:cNvSpPr/>
          <p:nvPr/>
        </p:nvSpPr>
        <p:spPr>
          <a:xfrm>
            <a:off x="3584448" y="4315968"/>
            <a:ext cx="3566160" cy="402336"/>
          </a:xfrm>
          <a:prstGeom prst="rect">
            <a:avLst/>
          </a:prstGeom>
          <a:noFill/>
          <a:ln/>
        </p:spPr>
        <p:txBody>
          <a:bodyPr wrap="square" lIns="0" tIns="0" rIns="0" bIns="0" rtlCol="0" anchor="ctr"/>
          <a:lstStyle/>
          <a:p>
            <a:pPr indent="0" marL="0">
              <a:buNone/>
            </a:pPr>
            <a:r>
              <a:rPr lang="en-US" sz="1200" dirty="0">
                <a:solidFill>
                  <a:srgbClr val="6B4A24"/>
                </a:solidFill>
                <a:latin typeface="Meiryo" pitchFamily="34" charset="0"/>
                <a:ea typeface="Meiryo" pitchFamily="34" charset="-122"/>
                <a:cs typeface="Meiryo" pitchFamily="34" charset="-120"/>
              </a:rPr>
              <a:t>誰が・何に・どれだけ時間を使ったか</a:t>
            </a:r>
            <a:endParaRPr lang="en-US" sz="1200" dirty="0"/>
          </a:p>
        </p:txBody>
      </p:sp>
      <p:sp>
        <p:nvSpPr>
          <p:cNvPr id="28" name="Text 26"/>
          <p:cNvSpPr/>
          <p:nvPr/>
        </p:nvSpPr>
        <p:spPr>
          <a:xfrm>
            <a:off x="1353312" y="4718304"/>
            <a:ext cx="5760720" cy="384048"/>
          </a:xfrm>
          <a:prstGeom prst="rect">
            <a:avLst/>
          </a:prstGeom>
          <a:noFill/>
          <a:ln/>
        </p:spPr>
        <p:txBody>
          <a:bodyPr wrap="square" lIns="0" tIns="0" rIns="0" bIns="0" rtlCol="0" anchor="ctr"/>
          <a:lstStyle/>
          <a:p>
            <a:pPr indent="0" marL="0">
              <a:buNone/>
            </a:pPr>
            <a:r>
              <a:rPr lang="en-US" sz="1100" dirty="0">
                <a:solidFill>
                  <a:srgbClr val="6B4A24"/>
                </a:solidFill>
                <a:latin typeface="Meiryo" pitchFamily="34" charset="0"/>
                <a:ea typeface="Meiryo" pitchFamily="34" charset="-122"/>
                <a:cs typeface="Meiryo" pitchFamily="34" charset="-120"/>
              </a:rPr>
              <a:t>（該当するシステムが社内に無い場合が多い）</a:t>
            </a:r>
            <a:endParaRPr lang="en-US" sz="1100" dirty="0"/>
          </a:p>
        </p:txBody>
      </p:sp>
      <p:sp>
        <p:nvSpPr>
          <p:cNvPr id="29" name="Shape 27"/>
          <p:cNvSpPr/>
          <p:nvPr/>
        </p:nvSpPr>
        <p:spPr>
          <a:xfrm>
            <a:off x="7333488" y="4480560"/>
            <a:ext cx="1645920" cy="457200"/>
          </a:xfrm>
          <a:prstGeom prst="roundRect">
            <a:avLst>
              <a:gd name="adj" fmla="val 14000"/>
            </a:avLst>
          </a:prstGeom>
          <a:solidFill>
            <a:srgbClr val="D97612"/>
          </a:solidFill>
          <a:ln w="12700">
            <a:solidFill>
              <a:srgbClr val="D97612"/>
            </a:solidFill>
            <a:prstDash val="solid"/>
          </a:ln>
        </p:spPr>
      </p:sp>
      <p:sp>
        <p:nvSpPr>
          <p:cNvPr id="30" name="Text 28"/>
          <p:cNvSpPr/>
          <p:nvPr/>
        </p:nvSpPr>
        <p:spPr>
          <a:xfrm>
            <a:off x="7333488" y="4480560"/>
            <a:ext cx="16459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ほぼ存在しない</a:t>
            </a:r>
            <a:endParaRPr lang="en-US" sz="1050" dirty="0"/>
          </a:p>
        </p:txBody>
      </p:sp>
      <p:sp>
        <p:nvSpPr>
          <p:cNvPr id="31" name="Shape 29"/>
          <p:cNvSpPr/>
          <p:nvPr/>
        </p:nvSpPr>
        <p:spPr>
          <a:xfrm>
            <a:off x="9436608" y="1773936"/>
            <a:ext cx="2188159" cy="3255264"/>
          </a:xfrm>
          <a:prstGeom prst="roundRect">
            <a:avLst>
              <a:gd name="adj" fmla="val 2925"/>
            </a:avLst>
          </a:prstGeom>
          <a:solidFill>
            <a:srgbClr val="16202B"/>
          </a:solidFill>
          <a:ln w="12700">
            <a:solidFill>
              <a:srgbClr val="16202B"/>
            </a:solidFill>
            <a:prstDash val="solid"/>
          </a:ln>
        </p:spPr>
      </p:sp>
      <p:sp>
        <p:nvSpPr>
          <p:cNvPr id="32" name="Text 30"/>
          <p:cNvSpPr/>
          <p:nvPr/>
        </p:nvSpPr>
        <p:spPr>
          <a:xfrm>
            <a:off x="9710928" y="2011680"/>
            <a:ext cx="1639519" cy="329184"/>
          </a:xfrm>
          <a:prstGeom prst="rect">
            <a:avLst/>
          </a:prstGeom>
          <a:noFill/>
          <a:ln/>
        </p:spPr>
        <p:txBody>
          <a:bodyPr wrap="square" lIns="0" tIns="0" rIns="0" bIns="0" rtlCol="0" anchor="ctr"/>
          <a:lstStyle/>
          <a:p>
            <a:pPr indent="0" marL="0">
              <a:buNone/>
            </a:pPr>
            <a:r>
              <a:rPr lang="en-US" sz="1200" b="1" dirty="0">
                <a:solidFill>
                  <a:srgbClr val="D97612"/>
                </a:solidFill>
                <a:latin typeface="Meiryo" pitchFamily="34" charset="0"/>
                <a:ea typeface="Meiryo" pitchFamily="34" charset="-122"/>
                <a:cs typeface="Meiryo" pitchFamily="34" charset="-120"/>
              </a:rPr>
              <a:t>整備状況</a:t>
            </a:r>
            <a:endParaRPr lang="en-US" sz="1200" dirty="0"/>
          </a:p>
        </p:txBody>
      </p:sp>
      <p:sp>
        <p:nvSpPr>
          <p:cNvPr id="33" name="Text 31"/>
          <p:cNvSpPr/>
          <p:nvPr/>
        </p:nvSpPr>
        <p:spPr>
          <a:xfrm>
            <a:off x="9710928" y="2468880"/>
            <a:ext cx="1639519" cy="2377440"/>
          </a:xfrm>
          <a:prstGeom prst="rect">
            <a:avLst/>
          </a:prstGeom>
          <a:noFill/>
          <a:ln/>
        </p:spPr>
        <p:txBody>
          <a:bodyPr wrap="square" lIns="0" tIns="0" rIns="0" bIns="0" rtlCol="0" anchor="t"/>
          <a:lstStyle/>
          <a:p>
            <a:pPr indent="0" marL="0">
              <a:lnSpc>
                <a:spcPts val="2400"/>
              </a:lnSpc>
              <a:buNone/>
            </a:pPr>
            <a:r>
              <a:rPr lang="en-US" sz="1400" b="1" dirty="0">
                <a:solidFill>
                  <a:srgbClr val="FFFFFF"/>
                </a:solidFill>
                <a:latin typeface="Meiryo" pitchFamily="34" charset="0"/>
                <a:ea typeface="Meiryo" pitchFamily="34" charset="-122"/>
                <a:cs typeface="Meiryo" pitchFamily="34" charset="-120"/>
              </a:rPr>
              <a:t>上の2層は</a:t>
            </a:r>
            <a:endParaRPr lang="en-US" sz="1400" dirty="0"/>
          </a:p>
          <a:p>
            <a:pPr indent="0" marL="0">
              <a:lnSpc>
                <a:spcPts val="2400"/>
              </a:lnSpc>
              <a:buNone/>
            </a:pPr>
            <a:r>
              <a:rPr lang="en-US" sz="1400" b="1" dirty="0">
                <a:solidFill>
                  <a:srgbClr val="FFFFFF"/>
                </a:solidFill>
                <a:latin typeface="Meiryo" pitchFamily="34" charset="0"/>
                <a:ea typeface="Meiryo" pitchFamily="34" charset="-122"/>
                <a:cs typeface="Meiryo" pitchFamily="34" charset="-120"/>
              </a:rPr>
              <a:t>多くの会社に</a:t>
            </a:r>
            <a:endParaRPr lang="en-US" sz="1400" dirty="0"/>
          </a:p>
          <a:p>
            <a:pPr indent="0" marL="0">
              <a:lnSpc>
                <a:spcPts val="2400"/>
              </a:lnSpc>
              <a:buNone/>
            </a:pPr>
            <a:r>
              <a:rPr lang="en-US" sz="1400" b="1" dirty="0">
                <a:solidFill>
                  <a:srgbClr val="FFFFFF"/>
                </a:solidFill>
                <a:latin typeface="Meiryo" pitchFamily="34" charset="0"/>
                <a:ea typeface="Meiryo" pitchFamily="34" charset="-122"/>
                <a:cs typeface="Meiryo" pitchFamily="34" charset="-120"/>
              </a:rPr>
              <a:t>あります。</a:t>
            </a:r>
            <a:endParaRPr lang="en-US" sz="1400" dirty="0"/>
          </a:p>
          <a:p>
            <a:pPr indent="0" marL="0">
              <a:lnSpc>
                <a:spcPts val="2400"/>
              </a:lnSpc>
              <a:buNone/>
            </a:pPr>
            <a:endParaRPr lang="en-US" sz="1400" dirty="0"/>
          </a:p>
          <a:p>
            <a:pPr indent="0" marL="0">
              <a:lnSpc>
                <a:spcPts val="2400"/>
              </a:lnSpc>
              <a:buNone/>
            </a:pPr>
            <a:r>
              <a:rPr lang="en-US" sz="1400" b="1" dirty="0">
                <a:solidFill>
                  <a:srgbClr val="FFFFFF"/>
                </a:solidFill>
                <a:latin typeface="Meiryo" pitchFamily="34" charset="0"/>
                <a:ea typeface="Meiryo" pitchFamily="34" charset="-122"/>
                <a:cs typeface="Meiryo" pitchFamily="34" charset="-120"/>
              </a:rPr>
              <a:t>一番下だけが</a:t>
            </a:r>
            <a:endParaRPr lang="en-US" sz="1400" dirty="0"/>
          </a:p>
          <a:p>
            <a:pPr indent="0" marL="0">
              <a:lnSpc>
                <a:spcPts val="2400"/>
              </a:lnSpc>
              <a:buNone/>
            </a:pPr>
            <a:r>
              <a:rPr lang="en-US" sz="1400" b="1" dirty="0">
                <a:solidFill>
                  <a:srgbClr val="FFFFFF"/>
                </a:solidFill>
                <a:latin typeface="Meiryo" pitchFamily="34" charset="0"/>
                <a:ea typeface="Meiryo" pitchFamily="34" charset="-122"/>
                <a:cs typeface="Meiryo" pitchFamily="34" charset="-120"/>
              </a:rPr>
              <a:t>空っぽです。</a:t>
            </a:r>
            <a:endParaRPr lang="en-US" sz="1400" dirty="0"/>
          </a:p>
        </p:txBody>
      </p:sp>
      <p:sp>
        <p:nvSpPr>
          <p:cNvPr id="34" name="Shape 32"/>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35" name="Shape 33"/>
          <p:cNvSpPr/>
          <p:nvPr/>
        </p:nvSpPr>
        <p:spPr>
          <a:xfrm>
            <a:off x="804672" y="5760720"/>
            <a:ext cx="219456" cy="219456"/>
          </a:xfrm>
          <a:prstGeom prst="ellipse">
            <a:avLst/>
          </a:prstGeom>
          <a:solidFill>
            <a:srgbClr val="A85705"/>
          </a:solidFill>
          <a:ln w="12700">
            <a:solidFill>
              <a:srgbClr val="A85705"/>
            </a:solidFill>
            <a:prstDash val="solid"/>
          </a:ln>
        </p:spPr>
      </p:sp>
      <p:sp>
        <p:nvSpPr>
          <p:cNvPr id="36" name="Text 34"/>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会計データは整っているのに、「その数字を作るのに何時間かかったか」は、どの会社も持っていません。</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03</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経営会議で、この3つに即答できますか</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「業務ログ」がないと答えられない質問です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21</a:t>
            </a:r>
            <a:endParaRPr lang="en-US" sz="850" dirty="0"/>
          </a:p>
        </p:txBody>
      </p:sp>
      <p:sp>
        <p:nvSpPr>
          <p:cNvPr id="7" name="Shape 5"/>
          <p:cNvSpPr/>
          <p:nvPr/>
        </p:nvSpPr>
        <p:spPr>
          <a:xfrm>
            <a:off x="566928" y="1755648"/>
            <a:ext cx="6309360" cy="822960"/>
          </a:xfrm>
          <a:prstGeom prst="roundRect">
            <a:avLst>
              <a:gd name="adj" fmla="val 7778"/>
            </a:avLst>
          </a:prstGeom>
          <a:solidFill>
            <a:srgbClr val="F2F4F6"/>
          </a:solidFill>
          <a:ln w="12700">
            <a:solidFill>
              <a:srgbClr val="F2F4F6"/>
            </a:solidFill>
            <a:prstDash val="solid"/>
          </a:ln>
        </p:spPr>
      </p:sp>
      <p:sp>
        <p:nvSpPr>
          <p:cNvPr id="8" name="Text 6"/>
          <p:cNvSpPr/>
          <p:nvPr/>
        </p:nvSpPr>
        <p:spPr>
          <a:xfrm>
            <a:off x="804672" y="1755648"/>
            <a:ext cx="457200" cy="822960"/>
          </a:xfrm>
          <a:prstGeom prst="rect">
            <a:avLst/>
          </a:prstGeom>
          <a:noFill/>
          <a:ln/>
        </p:spPr>
        <p:txBody>
          <a:bodyPr wrap="square" lIns="0" tIns="0" rIns="0" bIns="0" rtlCol="0" anchor="ctr"/>
          <a:lstStyle/>
          <a:p>
            <a:pPr algn="ctr" indent="0" marL="0">
              <a:buNone/>
            </a:pPr>
            <a:r>
              <a:rPr lang="en-US" sz="1800" b="1" dirty="0">
                <a:solidFill>
                  <a:srgbClr val="D97612"/>
                </a:solidFill>
                <a:latin typeface="Meiryo" pitchFamily="34" charset="0"/>
                <a:ea typeface="Meiryo" pitchFamily="34" charset="-122"/>
                <a:cs typeface="Meiryo" pitchFamily="34" charset="-120"/>
              </a:rPr>
              <a:t>Q</a:t>
            </a:r>
            <a:endParaRPr lang="en-US" sz="1800" dirty="0"/>
          </a:p>
        </p:txBody>
      </p:sp>
      <p:sp>
        <p:nvSpPr>
          <p:cNvPr id="9" name="Text 7"/>
          <p:cNvSpPr/>
          <p:nvPr/>
        </p:nvSpPr>
        <p:spPr>
          <a:xfrm>
            <a:off x="1353312" y="1755648"/>
            <a:ext cx="5303520" cy="822960"/>
          </a:xfrm>
          <a:prstGeom prst="rect">
            <a:avLst/>
          </a:prstGeom>
          <a:noFill/>
          <a:ln/>
        </p:spPr>
        <p:txBody>
          <a:bodyPr wrap="square" lIns="0" tIns="0" rIns="0" bIns="0" rtlCol="0" anchor="ctr"/>
          <a:lstStyle/>
          <a:p>
            <a:pPr indent="0" marL="0">
              <a:lnSpc>
                <a:spcPts val="2000"/>
              </a:lnSpc>
              <a:buNone/>
            </a:pPr>
            <a:r>
              <a:rPr lang="en-US" sz="1300" b="1" dirty="0">
                <a:solidFill>
                  <a:srgbClr val="1B2733"/>
                </a:solidFill>
                <a:latin typeface="Meiryo" pitchFamily="34" charset="0"/>
                <a:ea typeface="Meiryo" pitchFamily="34" charset="-122"/>
                <a:cs typeface="Meiryo" pitchFamily="34" charset="-120"/>
              </a:rPr>
              <a:t>この業務、実際に月あたり何時間かかっていますか？</a:t>
            </a:r>
            <a:endParaRPr lang="en-US" sz="1300" dirty="0"/>
          </a:p>
        </p:txBody>
      </p:sp>
      <p:sp>
        <p:nvSpPr>
          <p:cNvPr id="10" name="Shape 8"/>
          <p:cNvSpPr/>
          <p:nvPr/>
        </p:nvSpPr>
        <p:spPr>
          <a:xfrm>
            <a:off x="566928" y="2724912"/>
            <a:ext cx="6309360" cy="822960"/>
          </a:xfrm>
          <a:prstGeom prst="roundRect">
            <a:avLst>
              <a:gd name="adj" fmla="val 7778"/>
            </a:avLst>
          </a:prstGeom>
          <a:solidFill>
            <a:srgbClr val="F2F4F6"/>
          </a:solidFill>
          <a:ln w="12700">
            <a:solidFill>
              <a:srgbClr val="F2F4F6"/>
            </a:solidFill>
            <a:prstDash val="solid"/>
          </a:ln>
        </p:spPr>
      </p:sp>
      <p:sp>
        <p:nvSpPr>
          <p:cNvPr id="11" name="Text 9"/>
          <p:cNvSpPr/>
          <p:nvPr/>
        </p:nvSpPr>
        <p:spPr>
          <a:xfrm>
            <a:off x="804672" y="2724912"/>
            <a:ext cx="457200" cy="822960"/>
          </a:xfrm>
          <a:prstGeom prst="rect">
            <a:avLst/>
          </a:prstGeom>
          <a:noFill/>
          <a:ln/>
        </p:spPr>
        <p:txBody>
          <a:bodyPr wrap="square" lIns="0" tIns="0" rIns="0" bIns="0" rtlCol="0" anchor="ctr"/>
          <a:lstStyle/>
          <a:p>
            <a:pPr algn="ctr" indent="0" marL="0">
              <a:buNone/>
            </a:pPr>
            <a:r>
              <a:rPr lang="en-US" sz="1800" b="1" dirty="0">
                <a:solidFill>
                  <a:srgbClr val="D97612"/>
                </a:solidFill>
                <a:latin typeface="Meiryo" pitchFamily="34" charset="0"/>
                <a:ea typeface="Meiryo" pitchFamily="34" charset="-122"/>
                <a:cs typeface="Meiryo" pitchFamily="34" charset="-120"/>
              </a:rPr>
              <a:t>Q</a:t>
            </a:r>
            <a:endParaRPr lang="en-US" sz="1800" dirty="0"/>
          </a:p>
        </p:txBody>
      </p:sp>
      <p:sp>
        <p:nvSpPr>
          <p:cNvPr id="12" name="Text 10"/>
          <p:cNvSpPr/>
          <p:nvPr/>
        </p:nvSpPr>
        <p:spPr>
          <a:xfrm>
            <a:off x="1353312" y="2724912"/>
            <a:ext cx="5303520" cy="822960"/>
          </a:xfrm>
          <a:prstGeom prst="rect">
            <a:avLst/>
          </a:prstGeom>
          <a:noFill/>
          <a:ln/>
        </p:spPr>
        <p:txBody>
          <a:bodyPr wrap="square" lIns="0" tIns="0" rIns="0" bIns="0" rtlCol="0" anchor="ctr"/>
          <a:lstStyle/>
          <a:p>
            <a:pPr indent="0" marL="0">
              <a:lnSpc>
                <a:spcPts val="2000"/>
              </a:lnSpc>
              <a:buNone/>
            </a:pPr>
            <a:r>
              <a:rPr lang="en-US" sz="1300" b="1" dirty="0">
                <a:solidFill>
                  <a:srgbClr val="1B2733"/>
                </a:solidFill>
                <a:latin typeface="Meiryo" pitchFamily="34" charset="0"/>
                <a:ea typeface="Meiryo" pitchFamily="34" charset="-122"/>
                <a:cs typeface="Meiryo" pitchFamily="34" charset="-120"/>
              </a:rPr>
              <a:t>その作業をしているのは、どの部署の誰ですか？</a:t>
            </a:r>
            <a:endParaRPr lang="en-US" sz="1300" dirty="0"/>
          </a:p>
        </p:txBody>
      </p:sp>
      <p:sp>
        <p:nvSpPr>
          <p:cNvPr id="13" name="Shape 11"/>
          <p:cNvSpPr/>
          <p:nvPr/>
        </p:nvSpPr>
        <p:spPr>
          <a:xfrm>
            <a:off x="566928" y="3694176"/>
            <a:ext cx="6309360" cy="822960"/>
          </a:xfrm>
          <a:prstGeom prst="roundRect">
            <a:avLst>
              <a:gd name="adj" fmla="val 7778"/>
            </a:avLst>
          </a:prstGeom>
          <a:solidFill>
            <a:srgbClr val="F2F4F6"/>
          </a:solidFill>
          <a:ln w="12700">
            <a:solidFill>
              <a:srgbClr val="F2F4F6"/>
            </a:solidFill>
            <a:prstDash val="solid"/>
          </a:ln>
        </p:spPr>
      </p:sp>
      <p:sp>
        <p:nvSpPr>
          <p:cNvPr id="14" name="Text 12"/>
          <p:cNvSpPr/>
          <p:nvPr/>
        </p:nvSpPr>
        <p:spPr>
          <a:xfrm>
            <a:off x="804672" y="3694176"/>
            <a:ext cx="457200" cy="822960"/>
          </a:xfrm>
          <a:prstGeom prst="rect">
            <a:avLst/>
          </a:prstGeom>
          <a:noFill/>
          <a:ln/>
        </p:spPr>
        <p:txBody>
          <a:bodyPr wrap="square" lIns="0" tIns="0" rIns="0" bIns="0" rtlCol="0" anchor="ctr"/>
          <a:lstStyle/>
          <a:p>
            <a:pPr algn="ctr" indent="0" marL="0">
              <a:buNone/>
            </a:pPr>
            <a:r>
              <a:rPr lang="en-US" sz="1800" b="1" dirty="0">
                <a:solidFill>
                  <a:srgbClr val="D97612"/>
                </a:solidFill>
                <a:latin typeface="Meiryo" pitchFamily="34" charset="0"/>
                <a:ea typeface="Meiryo" pitchFamily="34" charset="-122"/>
                <a:cs typeface="Meiryo" pitchFamily="34" charset="-120"/>
              </a:rPr>
              <a:t>Q</a:t>
            </a:r>
            <a:endParaRPr lang="en-US" sz="1800" dirty="0"/>
          </a:p>
        </p:txBody>
      </p:sp>
      <p:sp>
        <p:nvSpPr>
          <p:cNvPr id="15" name="Text 13"/>
          <p:cNvSpPr/>
          <p:nvPr/>
        </p:nvSpPr>
        <p:spPr>
          <a:xfrm>
            <a:off x="1353312" y="3694176"/>
            <a:ext cx="5303520" cy="822960"/>
          </a:xfrm>
          <a:prstGeom prst="rect">
            <a:avLst/>
          </a:prstGeom>
          <a:noFill/>
          <a:ln/>
        </p:spPr>
        <p:txBody>
          <a:bodyPr wrap="square" lIns="0" tIns="0" rIns="0" bIns="0" rtlCol="0" anchor="ctr"/>
          <a:lstStyle/>
          <a:p>
            <a:pPr indent="0" marL="0">
              <a:lnSpc>
                <a:spcPts val="2000"/>
              </a:lnSpc>
              <a:buNone/>
            </a:pPr>
            <a:r>
              <a:rPr lang="en-US" sz="1300" b="1" dirty="0">
                <a:solidFill>
                  <a:srgbClr val="1B2733"/>
                </a:solidFill>
                <a:latin typeface="Meiryo" pitchFamily="34" charset="0"/>
                <a:ea typeface="Meiryo" pitchFamily="34" charset="-122"/>
                <a:cs typeface="Meiryo" pitchFamily="34" charset="-120"/>
              </a:rPr>
              <a:t>改善した結果、時間は本当に減りましたか？</a:t>
            </a:r>
            <a:endParaRPr lang="en-US" sz="1300" dirty="0"/>
          </a:p>
        </p:txBody>
      </p:sp>
      <p:sp>
        <p:nvSpPr>
          <p:cNvPr id="16" name="Shape 14"/>
          <p:cNvSpPr/>
          <p:nvPr/>
        </p:nvSpPr>
        <p:spPr>
          <a:xfrm>
            <a:off x="566928" y="4700016"/>
            <a:ext cx="6309360" cy="658368"/>
          </a:xfrm>
          <a:prstGeom prst="roundRect">
            <a:avLst>
              <a:gd name="adj" fmla="val 9722"/>
            </a:avLst>
          </a:prstGeom>
          <a:solidFill>
            <a:srgbClr val="16202B"/>
          </a:solidFill>
          <a:ln w="12700">
            <a:solidFill>
              <a:srgbClr val="16202B"/>
            </a:solidFill>
            <a:prstDash val="solid"/>
          </a:ln>
        </p:spPr>
      </p:sp>
      <p:sp>
        <p:nvSpPr>
          <p:cNvPr id="17" name="Text 15"/>
          <p:cNvSpPr/>
          <p:nvPr/>
        </p:nvSpPr>
        <p:spPr>
          <a:xfrm>
            <a:off x="804672" y="4700016"/>
            <a:ext cx="5852160" cy="658368"/>
          </a:xfrm>
          <a:prstGeom prst="rect">
            <a:avLst/>
          </a:prstGeom>
          <a:noFill/>
          <a:ln/>
        </p:spPr>
        <p:txBody>
          <a:bodyPr wrap="square" lIns="0" tIns="0" rIns="0" bIns="0" rtlCol="0" anchor="ctr"/>
          <a:lstStyle/>
          <a:p>
            <a:pPr indent="0" marL="0">
              <a:buNone/>
            </a:pPr>
            <a:r>
              <a:rPr lang="en-US" sz="1150" dirty="0">
                <a:solidFill>
                  <a:srgbClr val="E4E9ED"/>
                </a:solidFill>
                <a:latin typeface="Meiryo" pitchFamily="34" charset="0"/>
                <a:ea typeface="Meiryo" pitchFamily="34" charset="-122"/>
                <a:cs typeface="Meiryo" pitchFamily="34" charset="-120"/>
              </a:rPr>
              <a:t>多くの会社の答え：「だいたい」「体感では」「担当に聞かないと分かりません」</a:t>
            </a:r>
            <a:endParaRPr lang="en-US" sz="1150" dirty="0"/>
          </a:p>
        </p:txBody>
      </p:sp>
      <p:sp>
        <p:nvSpPr>
          <p:cNvPr id="18" name="Shape 16"/>
          <p:cNvSpPr/>
          <p:nvPr/>
        </p:nvSpPr>
        <p:spPr>
          <a:xfrm>
            <a:off x="7150608" y="1755648"/>
            <a:ext cx="4474159" cy="3602736"/>
          </a:xfrm>
          <a:prstGeom prst="roundRect">
            <a:avLst>
              <a:gd name="adj" fmla="val 1777"/>
            </a:avLst>
          </a:prstGeom>
          <a:solidFill>
            <a:srgbClr val="FDF1E2"/>
          </a:solidFill>
          <a:ln w="12700">
            <a:solidFill>
              <a:srgbClr val="FDF1E2"/>
            </a:solidFill>
            <a:prstDash val="solid"/>
          </a:ln>
        </p:spPr>
      </p:sp>
      <p:sp>
        <p:nvSpPr>
          <p:cNvPr id="19" name="Text 17"/>
          <p:cNvSpPr/>
          <p:nvPr/>
        </p:nvSpPr>
        <p:spPr>
          <a:xfrm>
            <a:off x="7424928" y="1956816"/>
            <a:ext cx="3925519" cy="365760"/>
          </a:xfrm>
          <a:prstGeom prst="rect">
            <a:avLst/>
          </a:prstGeom>
          <a:noFill/>
          <a:ln/>
        </p:spPr>
        <p:txBody>
          <a:bodyPr wrap="square" lIns="0" tIns="0" rIns="0" bIns="0" rtlCol="0" anchor="ctr"/>
          <a:lstStyle/>
          <a:p>
            <a:pPr indent="0" marL="0">
              <a:buNone/>
            </a:pPr>
            <a:r>
              <a:rPr lang="en-US" sz="1400" b="1" dirty="0">
                <a:solidFill>
                  <a:srgbClr val="A85705"/>
                </a:solidFill>
                <a:latin typeface="Meiryo" pitchFamily="34" charset="0"/>
                <a:ea typeface="Meiryo" pitchFamily="34" charset="-122"/>
                <a:cs typeface="Meiryo" pitchFamily="34" charset="-120"/>
              </a:rPr>
              <a:t>記録がないと、こうなります</a:t>
            </a:r>
            <a:endParaRPr lang="en-US" sz="1400" dirty="0"/>
          </a:p>
        </p:txBody>
      </p:sp>
      <p:sp>
        <p:nvSpPr>
          <p:cNvPr id="20" name="Shape 18"/>
          <p:cNvSpPr/>
          <p:nvPr/>
        </p:nvSpPr>
        <p:spPr>
          <a:xfrm>
            <a:off x="7424928" y="2505456"/>
            <a:ext cx="310896" cy="310896"/>
          </a:xfrm>
          <a:prstGeom prst="ellipse">
            <a:avLst/>
          </a:prstGeom>
          <a:solidFill>
            <a:srgbClr val="D97612"/>
          </a:solidFill>
          <a:ln w="12700">
            <a:solidFill>
              <a:srgbClr val="D97612"/>
            </a:solidFill>
            <a:prstDash val="solid"/>
          </a:ln>
        </p:spPr>
      </p:sp>
      <p:sp>
        <p:nvSpPr>
          <p:cNvPr id="21" name="Text 19"/>
          <p:cNvSpPr/>
          <p:nvPr/>
        </p:nvSpPr>
        <p:spPr>
          <a:xfrm>
            <a:off x="7424928" y="250545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22" name="Text 20"/>
          <p:cNvSpPr/>
          <p:nvPr/>
        </p:nvSpPr>
        <p:spPr>
          <a:xfrm>
            <a:off x="7863840" y="2432304"/>
            <a:ext cx="3468319" cy="566928"/>
          </a:xfrm>
          <a:prstGeom prst="rect">
            <a:avLst/>
          </a:prstGeom>
          <a:noFill/>
          <a:ln/>
        </p:spPr>
        <p:txBody>
          <a:bodyPr wrap="square" lIns="0" tIns="0" rIns="0" bIns="0" rtlCol="0" anchor="ctr"/>
          <a:lstStyle/>
          <a:p>
            <a:pPr indent="0" marL="0">
              <a:lnSpc>
                <a:spcPts val="1800"/>
              </a:lnSpc>
              <a:buNone/>
            </a:pPr>
            <a:r>
              <a:rPr lang="en-US" sz="1200" dirty="0">
                <a:solidFill>
                  <a:srgbClr val="6B4A24"/>
                </a:solidFill>
                <a:latin typeface="Meiryo" pitchFamily="34" charset="0"/>
                <a:ea typeface="Meiryo" pitchFamily="34" charset="-122"/>
                <a:cs typeface="Meiryo" pitchFamily="34" charset="-120"/>
              </a:rPr>
              <a:t>改善する業務を、声の大きさで決めてしまう</a:t>
            </a:r>
            <a:endParaRPr lang="en-US" sz="1200" dirty="0"/>
          </a:p>
        </p:txBody>
      </p:sp>
      <p:sp>
        <p:nvSpPr>
          <p:cNvPr id="23" name="Shape 21"/>
          <p:cNvSpPr/>
          <p:nvPr/>
        </p:nvSpPr>
        <p:spPr>
          <a:xfrm>
            <a:off x="7424928" y="3182112"/>
            <a:ext cx="310896" cy="310896"/>
          </a:xfrm>
          <a:prstGeom prst="ellipse">
            <a:avLst/>
          </a:prstGeom>
          <a:solidFill>
            <a:srgbClr val="D97612"/>
          </a:solidFill>
          <a:ln w="12700">
            <a:solidFill>
              <a:srgbClr val="D97612"/>
            </a:solidFill>
            <a:prstDash val="solid"/>
          </a:ln>
        </p:spPr>
      </p:sp>
      <p:sp>
        <p:nvSpPr>
          <p:cNvPr id="24" name="Text 22"/>
          <p:cNvSpPr/>
          <p:nvPr/>
        </p:nvSpPr>
        <p:spPr>
          <a:xfrm>
            <a:off x="7424928" y="318211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25" name="Text 23"/>
          <p:cNvSpPr/>
          <p:nvPr/>
        </p:nvSpPr>
        <p:spPr>
          <a:xfrm>
            <a:off x="7863840" y="3108960"/>
            <a:ext cx="3468319" cy="566928"/>
          </a:xfrm>
          <a:prstGeom prst="rect">
            <a:avLst/>
          </a:prstGeom>
          <a:noFill/>
          <a:ln/>
        </p:spPr>
        <p:txBody>
          <a:bodyPr wrap="square" lIns="0" tIns="0" rIns="0" bIns="0" rtlCol="0" anchor="ctr"/>
          <a:lstStyle/>
          <a:p>
            <a:pPr indent="0" marL="0">
              <a:lnSpc>
                <a:spcPts val="1800"/>
              </a:lnSpc>
              <a:buNone/>
            </a:pPr>
            <a:r>
              <a:rPr lang="en-US" sz="1200" dirty="0">
                <a:solidFill>
                  <a:srgbClr val="6B4A24"/>
                </a:solidFill>
                <a:latin typeface="Meiryo" pitchFamily="34" charset="0"/>
                <a:ea typeface="Meiryo" pitchFamily="34" charset="-122"/>
                <a:cs typeface="Meiryo" pitchFamily="34" charset="-120"/>
              </a:rPr>
              <a:t>AIに渡す“やる前の数字”がなく、効果を証明できない</a:t>
            </a:r>
            <a:endParaRPr lang="en-US" sz="1200" dirty="0"/>
          </a:p>
        </p:txBody>
      </p:sp>
      <p:sp>
        <p:nvSpPr>
          <p:cNvPr id="26" name="Shape 24"/>
          <p:cNvSpPr/>
          <p:nvPr/>
        </p:nvSpPr>
        <p:spPr>
          <a:xfrm>
            <a:off x="7424928" y="3858768"/>
            <a:ext cx="310896" cy="310896"/>
          </a:xfrm>
          <a:prstGeom prst="ellipse">
            <a:avLst/>
          </a:prstGeom>
          <a:solidFill>
            <a:srgbClr val="D97612"/>
          </a:solidFill>
          <a:ln w="12700">
            <a:solidFill>
              <a:srgbClr val="D97612"/>
            </a:solidFill>
            <a:prstDash val="solid"/>
          </a:ln>
        </p:spPr>
      </p:sp>
      <p:sp>
        <p:nvSpPr>
          <p:cNvPr id="27" name="Text 25"/>
          <p:cNvSpPr/>
          <p:nvPr/>
        </p:nvSpPr>
        <p:spPr>
          <a:xfrm>
            <a:off x="7424928" y="3858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8" name="Text 26"/>
          <p:cNvSpPr/>
          <p:nvPr/>
        </p:nvSpPr>
        <p:spPr>
          <a:xfrm>
            <a:off x="7863840" y="3785616"/>
            <a:ext cx="3468319" cy="566928"/>
          </a:xfrm>
          <a:prstGeom prst="rect">
            <a:avLst/>
          </a:prstGeom>
          <a:noFill/>
          <a:ln/>
        </p:spPr>
        <p:txBody>
          <a:bodyPr wrap="square" lIns="0" tIns="0" rIns="0" bIns="0" rtlCol="0" anchor="ctr"/>
          <a:lstStyle/>
          <a:p>
            <a:pPr indent="0" marL="0">
              <a:lnSpc>
                <a:spcPts val="1800"/>
              </a:lnSpc>
              <a:buNone/>
            </a:pPr>
            <a:r>
              <a:rPr lang="en-US" sz="1200" dirty="0">
                <a:solidFill>
                  <a:srgbClr val="6B4A24"/>
                </a:solidFill>
                <a:latin typeface="Meiryo" pitchFamily="34" charset="0"/>
                <a:ea typeface="Meiryo" pitchFamily="34" charset="-122"/>
                <a:cs typeface="Meiryo" pitchFamily="34" charset="-120"/>
              </a:rPr>
              <a:t>削減できたかどうかが、担当者の実感でしか語られない</a:t>
            </a:r>
            <a:endParaRPr lang="en-US" sz="1200" dirty="0"/>
          </a:p>
        </p:txBody>
      </p:sp>
      <p:sp>
        <p:nvSpPr>
          <p:cNvPr id="29" name="Shape 27"/>
          <p:cNvSpPr/>
          <p:nvPr/>
        </p:nvSpPr>
        <p:spPr>
          <a:xfrm>
            <a:off x="7424928" y="4535424"/>
            <a:ext cx="310896" cy="310896"/>
          </a:xfrm>
          <a:prstGeom prst="ellipse">
            <a:avLst/>
          </a:prstGeom>
          <a:solidFill>
            <a:srgbClr val="D97612"/>
          </a:solidFill>
          <a:ln w="12700">
            <a:solidFill>
              <a:srgbClr val="D97612"/>
            </a:solidFill>
            <a:prstDash val="solid"/>
          </a:ln>
        </p:spPr>
      </p:sp>
      <p:sp>
        <p:nvSpPr>
          <p:cNvPr id="30" name="Text 28"/>
          <p:cNvSpPr/>
          <p:nvPr/>
        </p:nvSpPr>
        <p:spPr>
          <a:xfrm>
            <a:off x="7424928" y="453542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4</a:t>
            </a:r>
            <a:endParaRPr lang="en-US" sz="1250" dirty="0"/>
          </a:p>
        </p:txBody>
      </p:sp>
      <p:sp>
        <p:nvSpPr>
          <p:cNvPr id="31" name="Text 29"/>
          <p:cNvSpPr/>
          <p:nvPr/>
        </p:nvSpPr>
        <p:spPr>
          <a:xfrm>
            <a:off x="7863840" y="4462272"/>
            <a:ext cx="3468319" cy="566928"/>
          </a:xfrm>
          <a:prstGeom prst="rect">
            <a:avLst/>
          </a:prstGeom>
          <a:noFill/>
          <a:ln/>
        </p:spPr>
        <p:txBody>
          <a:bodyPr wrap="square" lIns="0" tIns="0" rIns="0" bIns="0" rtlCol="0" anchor="ctr"/>
          <a:lstStyle/>
          <a:p>
            <a:pPr indent="0" marL="0">
              <a:lnSpc>
                <a:spcPts val="1800"/>
              </a:lnSpc>
              <a:buNone/>
            </a:pPr>
            <a:r>
              <a:rPr lang="en-US" sz="1200" dirty="0">
                <a:solidFill>
                  <a:srgbClr val="6B4A24"/>
                </a:solidFill>
                <a:latin typeface="Meiryo" pitchFamily="34" charset="0"/>
                <a:ea typeface="Meiryo" pitchFamily="34" charset="-122"/>
                <a:cs typeface="Meiryo" pitchFamily="34" charset="-120"/>
              </a:rPr>
              <a:t>結果として、次の投資判断ができない</a:t>
            </a:r>
            <a:endParaRPr lang="en-US" sz="1200" dirty="0"/>
          </a:p>
        </p:txBody>
      </p:sp>
      <p:sp>
        <p:nvSpPr>
          <p:cNvPr id="32" name="Shape 30"/>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33" name="Shape 31"/>
          <p:cNvSpPr/>
          <p:nvPr/>
        </p:nvSpPr>
        <p:spPr>
          <a:xfrm>
            <a:off x="804672" y="5760720"/>
            <a:ext cx="219456" cy="219456"/>
          </a:xfrm>
          <a:prstGeom prst="ellipse">
            <a:avLst/>
          </a:prstGeom>
          <a:solidFill>
            <a:srgbClr val="A85705"/>
          </a:solidFill>
          <a:ln w="12700">
            <a:solidFill>
              <a:srgbClr val="A85705"/>
            </a:solidFill>
            <a:prstDash val="solid"/>
          </a:ln>
        </p:spPr>
      </p:sp>
      <p:sp>
        <p:nvSpPr>
          <p:cNvPr id="34" name="Text 32"/>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そして「工数の実態」は、Excelの自己申告では取れません。申告する側にも手間がかかり、精度も上がらないためです。</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03</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プロジェクトの名前を、変えてください</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名前が変わると、議論の中身と予算の通り方が変わります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22</a:t>
            </a:r>
            <a:endParaRPr lang="en-US" sz="850" dirty="0"/>
          </a:p>
        </p:txBody>
      </p:sp>
      <p:sp>
        <p:nvSpPr>
          <p:cNvPr id="7" name="Shape 5"/>
          <p:cNvSpPr/>
          <p:nvPr/>
        </p:nvSpPr>
        <p:spPr>
          <a:xfrm>
            <a:off x="566928" y="1755648"/>
            <a:ext cx="5349240" cy="2103120"/>
          </a:xfrm>
          <a:prstGeom prst="roundRect">
            <a:avLst>
              <a:gd name="adj" fmla="val 3043"/>
            </a:avLst>
          </a:prstGeom>
          <a:solidFill>
            <a:srgbClr val="F2F4F6"/>
          </a:solidFill>
          <a:ln w="12700">
            <a:solidFill>
              <a:srgbClr val="F2F4F6"/>
            </a:solidFill>
            <a:prstDash val="solid"/>
          </a:ln>
        </p:spPr>
      </p:sp>
      <p:sp>
        <p:nvSpPr>
          <p:cNvPr id="8" name="Shape 6"/>
          <p:cNvSpPr/>
          <p:nvPr/>
        </p:nvSpPr>
        <p:spPr>
          <a:xfrm>
            <a:off x="859536" y="1993392"/>
            <a:ext cx="402336" cy="402336"/>
          </a:xfrm>
          <a:prstGeom prst="ellipse">
            <a:avLst/>
          </a:prstGeom>
          <a:solidFill>
            <a:srgbClr val="667382"/>
          </a:solidFill>
          <a:ln w="12700">
            <a:solidFill>
              <a:srgbClr val="667382"/>
            </a:solidFill>
            <a:prstDash val="solid"/>
          </a:ln>
        </p:spPr>
      </p:sp>
      <p:sp>
        <p:nvSpPr>
          <p:cNvPr id="9" name="Text 7"/>
          <p:cNvSpPr/>
          <p:nvPr/>
        </p:nvSpPr>
        <p:spPr>
          <a:xfrm>
            <a:off x="859536" y="19933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0" name="Text 8"/>
          <p:cNvSpPr/>
          <p:nvPr/>
        </p:nvSpPr>
        <p:spPr>
          <a:xfrm>
            <a:off x="1426464" y="1938528"/>
            <a:ext cx="4206240" cy="512064"/>
          </a:xfrm>
          <a:prstGeom prst="rect">
            <a:avLst/>
          </a:prstGeom>
          <a:noFill/>
          <a:ln/>
        </p:spPr>
        <p:txBody>
          <a:bodyPr wrap="square" lIns="0" tIns="0" rIns="0" bIns="0" rtlCol="0" anchor="ctr"/>
          <a:lstStyle/>
          <a:p>
            <a:pPr indent="0" marL="0">
              <a:buNone/>
            </a:pPr>
            <a:r>
              <a:rPr lang="en-US" sz="1800" b="1" dirty="0">
                <a:solidFill>
                  <a:srgbClr val="1B2733"/>
                </a:solidFill>
                <a:latin typeface="Meiryo" pitchFamily="34" charset="0"/>
                <a:ea typeface="Meiryo" pitchFamily="34" charset="-122"/>
                <a:cs typeface="Meiryo" pitchFamily="34" charset="-120"/>
              </a:rPr>
              <a:t>「AI導入プロジェクト」</a:t>
            </a:r>
            <a:endParaRPr lang="en-US" sz="1800" dirty="0"/>
          </a:p>
        </p:txBody>
      </p:sp>
      <p:sp>
        <p:nvSpPr>
          <p:cNvPr id="11" name="Text 9"/>
          <p:cNvSpPr/>
          <p:nvPr/>
        </p:nvSpPr>
        <p:spPr>
          <a:xfrm>
            <a:off x="1426464" y="2542032"/>
            <a:ext cx="4206240" cy="1133856"/>
          </a:xfrm>
          <a:prstGeom prst="rect">
            <a:avLst/>
          </a:prstGeom>
          <a:noFill/>
          <a:ln/>
        </p:spPr>
        <p:txBody>
          <a:bodyPr wrap="square" lIns="0" tIns="0" rIns="0" bIns="0" rtlCol="0" anchor="t"/>
          <a:lstStyle/>
          <a:p>
            <a:pPr indent="0" marL="0">
              <a:lnSpc>
                <a:spcPts val="2000"/>
              </a:lnSpc>
              <a:buNone/>
            </a:pPr>
            <a:r>
              <a:rPr lang="en-US" sz="1200" dirty="0">
                <a:solidFill>
                  <a:srgbClr val="667382"/>
                </a:solidFill>
                <a:latin typeface="Meiryo" pitchFamily="34" charset="0"/>
                <a:ea typeface="Meiryo" pitchFamily="34" charset="-122"/>
                <a:cs typeface="Meiryo" pitchFamily="34" charset="-120"/>
              </a:rPr>
              <a:t>→ ツール選定の話になります。現場は「また新しいものが増えるのか」と身構え、情報システム部門との調整に時間が消えます。</a:t>
            </a:r>
            <a:endParaRPr lang="en-US" sz="1200" dirty="0"/>
          </a:p>
        </p:txBody>
      </p:sp>
      <p:sp>
        <p:nvSpPr>
          <p:cNvPr id="12" name="Shape 10"/>
          <p:cNvSpPr/>
          <p:nvPr/>
        </p:nvSpPr>
        <p:spPr>
          <a:xfrm>
            <a:off x="6272784" y="1755648"/>
            <a:ext cx="5349240" cy="2103120"/>
          </a:xfrm>
          <a:prstGeom prst="roundRect">
            <a:avLst>
              <a:gd name="adj" fmla="val 3043"/>
            </a:avLst>
          </a:prstGeom>
          <a:solidFill>
            <a:srgbClr val="FDF1E2"/>
          </a:solidFill>
          <a:ln w="12700">
            <a:solidFill>
              <a:srgbClr val="FDF1E2"/>
            </a:solidFill>
            <a:prstDash val="solid"/>
          </a:ln>
        </p:spPr>
      </p:sp>
      <p:sp>
        <p:nvSpPr>
          <p:cNvPr id="13" name="Shape 11"/>
          <p:cNvSpPr/>
          <p:nvPr/>
        </p:nvSpPr>
        <p:spPr>
          <a:xfrm>
            <a:off x="6565392" y="1993392"/>
            <a:ext cx="402336" cy="402336"/>
          </a:xfrm>
          <a:prstGeom prst="ellipse">
            <a:avLst/>
          </a:prstGeom>
          <a:solidFill>
            <a:srgbClr val="12695D"/>
          </a:solidFill>
          <a:ln w="12700">
            <a:solidFill>
              <a:srgbClr val="12695D"/>
            </a:solidFill>
            <a:prstDash val="solid"/>
          </a:ln>
        </p:spPr>
      </p:sp>
      <p:sp>
        <p:nvSpPr>
          <p:cNvPr id="14" name="Text 12"/>
          <p:cNvSpPr/>
          <p:nvPr/>
        </p:nvSpPr>
        <p:spPr>
          <a:xfrm>
            <a:off x="6565392" y="19933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5" name="Text 13"/>
          <p:cNvSpPr/>
          <p:nvPr/>
        </p:nvSpPr>
        <p:spPr>
          <a:xfrm>
            <a:off x="7132320" y="1938528"/>
            <a:ext cx="4206240" cy="512064"/>
          </a:xfrm>
          <a:prstGeom prst="rect">
            <a:avLst/>
          </a:prstGeom>
          <a:noFill/>
          <a:ln/>
        </p:spPr>
        <p:txBody>
          <a:bodyPr wrap="square" lIns="0" tIns="0" rIns="0" bIns="0" rtlCol="0" anchor="ctr"/>
          <a:lstStyle/>
          <a:p>
            <a:pPr indent="0" marL="0">
              <a:buNone/>
            </a:pPr>
            <a:r>
              <a:rPr lang="en-US" sz="1800" b="1" dirty="0">
                <a:solidFill>
                  <a:srgbClr val="A85705"/>
                </a:solidFill>
                <a:latin typeface="Meiryo" pitchFamily="34" charset="0"/>
                <a:ea typeface="Meiryo" pitchFamily="34" charset="-122"/>
                <a:cs typeface="Meiryo" pitchFamily="34" charset="-120"/>
              </a:rPr>
              <a:t>「AIが読める状態づくり」</a:t>
            </a:r>
            <a:endParaRPr lang="en-US" sz="1800" dirty="0"/>
          </a:p>
        </p:txBody>
      </p:sp>
      <p:sp>
        <p:nvSpPr>
          <p:cNvPr id="16" name="Text 14"/>
          <p:cNvSpPr/>
          <p:nvPr/>
        </p:nvSpPr>
        <p:spPr>
          <a:xfrm>
            <a:off x="7132320" y="2542032"/>
            <a:ext cx="4206240" cy="1133856"/>
          </a:xfrm>
          <a:prstGeom prst="rect">
            <a:avLst/>
          </a:prstGeom>
          <a:noFill/>
          <a:ln/>
        </p:spPr>
        <p:txBody>
          <a:bodyPr wrap="square" lIns="0" tIns="0" rIns="0" bIns="0" rtlCol="0" anchor="t"/>
          <a:lstStyle/>
          <a:p>
            <a:pPr indent="0" marL="0">
              <a:lnSpc>
                <a:spcPts val="2000"/>
              </a:lnSpc>
              <a:buNone/>
            </a:pPr>
            <a:r>
              <a:rPr lang="en-US" sz="1200" dirty="0">
                <a:solidFill>
                  <a:srgbClr val="6B4A24"/>
                </a:solidFill>
                <a:latin typeface="Meiryo" pitchFamily="34" charset="0"/>
                <a:ea typeface="Meiryo" pitchFamily="34" charset="-122"/>
                <a:cs typeface="Meiryo" pitchFamily="34" charset="-120"/>
              </a:rPr>
              <a:t>→ 記録・権限・つなぎ先の整備が主題になります。何にいくら使うのかが説明でき、投資判断ができます。</a:t>
            </a:r>
            <a:endParaRPr lang="en-US" sz="1200" dirty="0"/>
          </a:p>
        </p:txBody>
      </p:sp>
      <p:sp>
        <p:nvSpPr>
          <p:cNvPr id="17" name="Text 15"/>
          <p:cNvSpPr/>
          <p:nvPr/>
        </p:nvSpPr>
        <p:spPr>
          <a:xfrm>
            <a:off x="566928" y="4023360"/>
            <a:ext cx="11057839" cy="329184"/>
          </a:xfrm>
          <a:prstGeom prst="rect">
            <a:avLst/>
          </a:prstGeom>
          <a:noFill/>
          <a:ln/>
        </p:spPr>
        <p:txBody>
          <a:bodyPr wrap="square" lIns="0" tIns="0" rIns="0" bIns="0" rtlCol="0" anchor="ctr"/>
          <a:lstStyle/>
          <a:p>
            <a:pPr indent="0" marL="0">
              <a:buNone/>
            </a:pPr>
            <a:r>
              <a:rPr lang="en-US" sz="1300" b="1" dirty="0">
                <a:solidFill>
                  <a:srgbClr val="1B2733"/>
                </a:solidFill>
                <a:latin typeface="Meiryo" pitchFamily="34" charset="0"/>
                <a:ea typeface="Meiryo" pitchFamily="34" charset="-122"/>
                <a:cs typeface="Meiryo" pitchFamily="34" charset="-120"/>
              </a:rPr>
              <a:t>進め方は、この順番です</a:t>
            </a:r>
            <a:endParaRPr lang="en-US" sz="1300" dirty="0"/>
          </a:p>
        </p:txBody>
      </p:sp>
      <p:sp>
        <p:nvSpPr>
          <p:cNvPr id="18" name="Shape 16"/>
          <p:cNvSpPr/>
          <p:nvPr/>
        </p:nvSpPr>
        <p:spPr>
          <a:xfrm>
            <a:off x="566928" y="4443984"/>
            <a:ext cx="3320186" cy="932688"/>
          </a:xfrm>
          <a:prstGeom prst="roundRect">
            <a:avLst>
              <a:gd name="adj" fmla="val 6863"/>
            </a:avLst>
          </a:prstGeom>
          <a:solidFill>
            <a:srgbClr val="16202B"/>
          </a:solidFill>
          <a:ln w="12700">
            <a:solidFill>
              <a:srgbClr val="16202B"/>
            </a:solidFill>
            <a:prstDash val="solid"/>
          </a:ln>
        </p:spPr>
      </p:sp>
      <p:sp>
        <p:nvSpPr>
          <p:cNvPr id="19" name="Shape 17"/>
          <p:cNvSpPr/>
          <p:nvPr/>
        </p:nvSpPr>
        <p:spPr>
          <a:xfrm>
            <a:off x="804672" y="4663440"/>
            <a:ext cx="384048" cy="384048"/>
          </a:xfrm>
          <a:prstGeom prst="ellipse">
            <a:avLst/>
          </a:prstGeom>
          <a:solidFill>
            <a:srgbClr val="D97612"/>
          </a:solidFill>
          <a:ln w="12700">
            <a:solidFill>
              <a:srgbClr val="D97612"/>
            </a:solidFill>
            <a:prstDash val="solid"/>
          </a:ln>
        </p:spPr>
      </p:sp>
      <p:sp>
        <p:nvSpPr>
          <p:cNvPr id="20" name="Text 18"/>
          <p:cNvSpPr/>
          <p:nvPr/>
        </p:nvSpPr>
        <p:spPr>
          <a:xfrm>
            <a:off x="804672" y="46634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21" name="Text 19"/>
          <p:cNvSpPr/>
          <p:nvPr/>
        </p:nvSpPr>
        <p:spPr>
          <a:xfrm>
            <a:off x="1316736" y="4535424"/>
            <a:ext cx="2314346"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棚卸し</a:t>
            </a:r>
            <a:endParaRPr lang="en-US" sz="1400" dirty="0"/>
          </a:p>
        </p:txBody>
      </p:sp>
      <p:sp>
        <p:nvSpPr>
          <p:cNvPr id="22" name="Text 20"/>
          <p:cNvSpPr/>
          <p:nvPr/>
        </p:nvSpPr>
        <p:spPr>
          <a:xfrm>
            <a:off x="1316736" y="4882896"/>
            <a:ext cx="2314346" cy="420624"/>
          </a:xfrm>
          <a:prstGeom prst="rect">
            <a:avLst/>
          </a:prstGeom>
          <a:noFill/>
          <a:ln/>
        </p:spPr>
        <p:txBody>
          <a:bodyPr wrap="square" lIns="0" tIns="0" rIns="0" bIns="0" rtlCol="0" anchor="t"/>
          <a:lstStyle/>
          <a:p>
            <a:pPr indent="0" marL="0">
              <a:lnSpc>
                <a:spcPts val="1600"/>
              </a:lnSpc>
              <a:buNone/>
            </a:pPr>
            <a:r>
              <a:rPr lang="en-US" sz="1050" dirty="0">
                <a:solidFill>
                  <a:srgbClr val="B9C4CF"/>
                </a:solidFill>
                <a:latin typeface="Meiryo" pitchFamily="34" charset="0"/>
                <a:ea typeface="Meiryo" pitchFamily="34" charset="-122"/>
                <a:cs typeface="Meiryo" pitchFamily="34" charset="-120"/>
              </a:rPr>
              <a:t>どこに、どんな記録があるか／無いかを一覧にする</a:t>
            </a:r>
            <a:endParaRPr lang="en-US" sz="1050" dirty="0"/>
          </a:p>
        </p:txBody>
      </p:sp>
      <p:sp>
        <p:nvSpPr>
          <p:cNvPr id="23" name="Text 21"/>
          <p:cNvSpPr/>
          <p:nvPr/>
        </p:nvSpPr>
        <p:spPr>
          <a:xfrm>
            <a:off x="3887114" y="4443984"/>
            <a:ext cx="548640" cy="932688"/>
          </a:xfrm>
          <a:prstGeom prst="rect">
            <a:avLst/>
          </a:prstGeom>
          <a:noFill/>
          <a:ln/>
        </p:spPr>
        <p:txBody>
          <a:bodyPr wrap="square" lIns="0" tIns="0" rIns="0" bIns="0" rtlCol="0" anchor="ctr"/>
          <a:lstStyle/>
          <a:p>
            <a:pPr algn="ctr" indent="0" marL="0">
              <a:buNone/>
            </a:pPr>
            <a:r>
              <a:rPr lang="en-US" sz="1400" dirty="0">
                <a:solidFill>
                  <a:srgbClr val="D97612"/>
                </a:solidFill>
                <a:latin typeface="Meiryo" pitchFamily="34" charset="0"/>
                <a:ea typeface="Meiryo" pitchFamily="34" charset="-122"/>
                <a:cs typeface="Meiryo" pitchFamily="34" charset="-120"/>
              </a:rPr>
              <a:t>▶</a:t>
            </a:r>
            <a:endParaRPr lang="en-US" sz="1400" dirty="0"/>
          </a:p>
        </p:txBody>
      </p:sp>
      <p:sp>
        <p:nvSpPr>
          <p:cNvPr id="24" name="Shape 22"/>
          <p:cNvSpPr/>
          <p:nvPr/>
        </p:nvSpPr>
        <p:spPr>
          <a:xfrm>
            <a:off x="4435754" y="4443984"/>
            <a:ext cx="3320186" cy="932688"/>
          </a:xfrm>
          <a:prstGeom prst="roundRect">
            <a:avLst>
              <a:gd name="adj" fmla="val 6863"/>
            </a:avLst>
          </a:prstGeom>
          <a:solidFill>
            <a:srgbClr val="16202B"/>
          </a:solidFill>
          <a:ln w="12700">
            <a:solidFill>
              <a:srgbClr val="16202B"/>
            </a:solidFill>
            <a:prstDash val="solid"/>
          </a:ln>
        </p:spPr>
      </p:sp>
      <p:sp>
        <p:nvSpPr>
          <p:cNvPr id="25" name="Shape 23"/>
          <p:cNvSpPr/>
          <p:nvPr/>
        </p:nvSpPr>
        <p:spPr>
          <a:xfrm>
            <a:off x="4673498" y="4663440"/>
            <a:ext cx="384048" cy="384048"/>
          </a:xfrm>
          <a:prstGeom prst="ellipse">
            <a:avLst/>
          </a:prstGeom>
          <a:solidFill>
            <a:srgbClr val="D97612"/>
          </a:solidFill>
          <a:ln w="12700">
            <a:solidFill>
              <a:srgbClr val="D97612"/>
            </a:solidFill>
            <a:prstDash val="solid"/>
          </a:ln>
        </p:spPr>
      </p:sp>
      <p:sp>
        <p:nvSpPr>
          <p:cNvPr id="26" name="Text 24"/>
          <p:cNvSpPr/>
          <p:nvPr/>
        </p:nvSpPr>
        <p:spPr>
          <a:xfrm>
            <a:off x="4673498" y="46634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27" name="Text 25"/>
          <p:cNvSpPr/>
          <p:nvPr/>
        </p:nvSpPr>
        <p:spPr>
          <a:xfrm>
            <a:off x="5185562" y="4535424"/>
            <a:ext cx="2314346"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つなぐ</a:t>
            </a:r>
            <a:endParaRPr lang="en-US" sz="1400" dirty="0"/>
          </a:p>
        </p:txBody>
      </p:sp>
      <p:sp>
        <p:nvSpPr>
          <p:cNvPr id="28" name="Text 26"/>
          <p:cNvSpPr/>
          <p:nvPr/>
        </p:nvSpPr>
        <p:spPr>
          <a:xfrm>
            <a:off x="5185562" y="4882896"/>
            <a:ext cx="2314346" cy="420624"/>
          </a:xfrm>
          <a:prstGeom prst="rect">
            <a:avLst/>
          </a:prstGeom>
          <a:noFill/>
          <a:ln/>
        </p:spPr>
        <p:txBody>
          <a:bodyPr wrap="square" lIns="0" tIns="0" rIns="0" bIns="0" rtlCol="0" anchor="t"/>
          <a:lstStyle/>
          <a:p>
            <a:pPr indent="0" marL="0">
              <a:lnSpc>
                <a:spcPts val="1600"/>
              </a:lnSpc>
              <a:buNone/>
            </a:pPr>
            <a:r>
              <a:rPr lang="en-US" sz="1050" dirty="0">
                <a:solidFill>
                  <a:srgbClr val="B9C4CF"/>
                </a:solidFill>
                <a:latin typeface="Meiryo" pitchFamily="34" charset="0"/>
                <a:ea typeface="Meiryo" pitchFamily="34" charset="-122"/>
                <a:cs typeface="Meiryo" pitchFamily="34" charset="-120"/>
              </a:rPr>
              <a:t>必要な記録を、AIから読める形にする（ここでMCP）</a:t>
            </a:r>
            <a:endParaRPr lang="en-US" sz="1050" dirty="0"/>
          </a:p>
        </p:txBody>
      </p:sp>
      <p:sp>
        <p:nvSpPr>
          <p:cNvPr id="29" name="Text 27"/>
          <p:cNvSpPr/>
          <p:nvPr/>
        </p:nvSpPr>
        <p:spPr>
          <a:xfrm>
            <a:off x="7755941" y="4443984"/>
            <a:ext cx="548640" cy="932688"/>
          </a:xfrm>
          <a:prstGeom prst="rect">
            <a:avLst/>
          </a:prstGeom>
          <a:noFill/>
          <a:ln/>
        </p:spPr>
        <p:txBody>
          <a:bodyPr wrap="square" lIns="0" tIns="0" rIns="0" bIns="0" rtlCol="0" anchor="ctr"/>
          <a:lstStyle/>
          <a:p>
            <a:pPr algn="ctr" indent="0" marL="0">
              <a:buNone/>
            </a:pPr>
            <a:r>
              <a:rPr lang="en-US" sz="1400" dirty="0">
                <a:solidFill>
                  <a:srgbClr val="D97612"/>
                </a:solidFill>
                <a:latin typeface="Meiryo" pitchFamily="34" charset="0"/>
                <a:ea typeface="Meiryo" pitchFamily="34" charset="-122"/>
                <a:cs typeface="Meiryo" pitchFamily="34" charset="-120"/>
              </a:rPr>
              <a:t>▶</a:t>
            </a:r>
            <a:endParaRPr lang="en-US" sz="1400" dirty="0"/>
          </a:p>
        </p:txBody>
      </p:sp>
      <p:sp>
        <p:nvSpPr>
          <p:cNvPr id="30" name="Shape 28"/>
          <p:cNvSpPr/>
          <p:nvPr/>
        </p:nvSpPr>
        <p:spPr>
          <a:xfrm>
            <a:off x="8304581" y="4443984"/>
            <a:ext cx="3320186" cy="932688"/>
          </a:xfrm>
          <a:prstGeom prst="roundRect">
            <a:avLst>
              <a:gd name="adj" fmla="val 6863"/>
            </a:avLst>
          </a:prstGeom>
          <a:solidFill>
            <a:srgbClr val="16202B"/>
          </a:solidFill>
          <a:ln w="12700">
            <a:solidFill>
              <a:srgbClr val="16202B"/>
            </a:solidFill>
            <a:prstDash val="solid"/>
          </a:ln>
        </p:spPr>
      </p:sp>
      <p:sp>
        <p:nvSpPr>
          <p:cNvPr id="31" name="Shape 29"/>
          <p:cNvSpPr/>
          <p:nvPr/>
        </p:nvSpPr>
        <p:spPr>
          <a:xfrm>
            <a:off x="8542325" y="4663440"/>
            <a:ext cx="384048" cy="384048"/>
          </a:xfrm>
          <a:prstGeom prst="ellipse">
            <a:avLst/>
          </a:prstGeom>
          <a:solidFill>
            <a:srgbClr val="D97612"/>
          </a:solidFill>
          <a:ln w="12700">
            <a:solidFill>
              <a:srgbClr val="D97612"/>
            </a:solidFill>
            <a:prstDash val="solid"/>
          </a:ln>
        </p:spPr>
      </p:sp>
      <p:sp>
        <p:nvSpPr>
          <p:cNvPr id="32" name="Text 30"/>
          <p:cNvSpPr/>
          <p:nvPr/>
        </p:nvSpPr>
        <p:spPr>
          <a:xfrm>
            <a:off x="8542325" y="466344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33" name="Text 31"/>
          <p:cNvSpPr/>
          <p:nvPr/>
        </p:nvSpPr>
        <p:spPr>
          <a:xfrm>
            <a:off x="9054389" y="4535424"/>
            <a:ext cx="2314346"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問う</a:t>
            </a:r>
            <a:endParaRPr lang="en-US" sz="1400" dirty="0"/>
          </a:p>
        </p:txBody>
      </p:sp>
      <p:sp>
        <p:nvSpPr>
          <p:cNvPr id="34" name="Text 32"/>
          <p:cNvSpPr/>
          <p:nvPr/>
        </p:nvSpPr>
        <p:spPr>
          <a:xfrm>
            <a:off x="9054389" y="4882896"/>
            <a:ext cx="2314346" cy="420624"/>
          </a:xfrm>
          <a:prstGeom prst="rect">
            <a:avLst/>
          </a:prstGeom>
          <a:noFill/>
          <a:ln/>
        </p:spPr>
        <p:txBody>
          <a:bodyPr wrap="square" lIns="0" tIns="0" rIns="0" bIns="0" rtlCol="0" anchor="t"/>
          <a:lstStyle/>
          <a:p>
            <a:pPr indent="0" marL="0">
              <a:lnSpc>
                <a:spcPts val="1600"/>
              </a:lnSpc>
              <a:buNone/>
            </a:pPr>
            <a:r>
              <a:rPr lang="en-US" sz="1050" dirty="0">
                <a:solidFill>
                  <a:srgbClr val="B9C4CF"/>
                </a:solidFill>
                <a:latin typeface="Meiryo" pitchFamily="34" charset="0"/>
                <a:ea typeface="Meiryo" pitchFamily="34" charset="-122"/>
                <a:cs typeface="Meiryo" pitchFamily="34" charset="-120"/>
              </a:rPr>
              <a:t>実際の業務手順の中に、質問する工程を組み込む</a:t>
            </a:r>
            <a:endParaRPr lang="en-US" sz="1050" dirty="0"/>
          </a:p>
        </p:txBody>
      </p:sp>
      <p:sp>
        <p:nvSpPr>
          <p:cNvPr id="35" name="Shape 33"/>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36" name="Shape 34"/>
          <p:cNvSpPr/>
          <p:nvPr/>
        </p:nvSpPr>
        <p:spPr>
          <a:xfrm>
            <a:off x="804672" y="5760720"/>
            <a:ext cx="219456" cy="219456"/>
          </a:xfrm>
          <a:prstGeom prst="ellipse">
            <a:avLst/>
          </a:prstGeom>
          <a:solidFill>
            <a:srgbClr val="12695D"/>
          </a:solidFill>
          <a:ln w="12700">
            <a:solidFill>
              <a:srgbClr val="12695D"/>
            </a:solidFill>
            <a:prstDash val="solid"/>
          </a:ln>
        </p:spPr>
      </p:sp>
      <p:sp>
        <p:nvSpPr>
          <p:cNvPr id="37" name="Text 35"/>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経営企画が主導すべきはこの3ステップです。ツール選定は、いちばん最後で構いません。</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Text 1"/>
          <p:cNvSpPr/>
          <p:nvPr/>
        </p:nvSpPr>
        <p:spPr>
          <a:xfrm>
            <a:off x="8332927" y="1280160"/>
            <a:ext cx="3291840" cy="4023360"/>
          </a:xfrm>
          <a:prstGeom prst="rect">
            <a:avLst/>
          </a:prstGeom>
          <a:noFill/>
          <a:ln/>
        </p:spPr>
        <p:txBody>
          <a:bodyPr wrap="square" lIns="0" tIns="0" rIns="0" bIns="0" rtlCol="0" anchor="ctr"/>
          <a:lstStyle/>
          <a:p>
            <a:pPr algn="r" indent="0" marL="0">
              <a:buNone/>
            </a:pPr>
            <a:r>
              <a:rPr lang="en-US" sz="20000" b="1" dirty="0">
                <a:solidFill>
                  <a:srgbClr val="223140"/>
                </a:solidFill>
                <a:latin typeface="Meiryo" pitchFamily="34" charset="0"/>
                <a:ea typeface="Meiryo" pitchFamily="34" charset="-122"/>
                <a:cs typeface="Meiryo" pitchFamily="34" charset="-120"/>
              </a:rPr>
              <a:t>04</a:t>
            </a:r>
            <a:endParaRPr lang="en-US" sz="20000" dirty="0"/>
          </a:p>
        </p:txBody>
      </p:sp>
      <p:sp>
        <p:nvSpPr>
          <p:cNvPr id="4" name="Shape 2"/>
          <p:cNvSpPr/>
          <p:nvPr/>
        </p:nvSpPr>
        <p:spPr>
          <a:xfrm>
            <a:off x="566928" y="2103120"/>
            <a:ext cx="713232" cy="713232"/>
          </a:xfrm>
          <a:prstGeom prst="ellipse">
            <a:avLst/>
          </a:prstGeom>
          <a:solidFill>
            <a:srgbClr val="D97612"/>
          </a:solidFill>
          <a:ln w="12700">
            <a:solidFill>
              <a:srgbClr val="D97612"/>
            </a:solidFill>
            <a:prstDash val="solid"/>
          </a:ln>
        </p:spPr>
      </p:sp>
      <p:sp>
        <p:nvSpPr>
          <p:cNvPr id="5" name="Text 3"/>
          <p:cNvSpPr/>
          <p:nvPr/>
        </p:nvSpPr>
        <p:spPr>
          <a:xfrm>
            <a:off x="566928" y="2103120"/>
            <a:ext cx="713232"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04</a:t>
            </a:r>
            <a:endParaRPr lang="en-US" sz="1500" dirty="0"/>
          </a:p>
        </p:txBody>
      </p:sp>
      <p:sp>
        <p:nvSpPr>
          <p:cNvPr id="6" name="Text 4"/>
          <p:cNvSpPr/>
          <p:nvPr/>
        </p:nvSpPr>
        <p:spPr>
          <a:xfrm>
            <a:off x="1536192" y="2103120"/>
            <a:ext cx="3657600" cy="237744"/>
          </a:xfrm>
          <a:prstGeom prst="rect">
            <a:avLst/>
          </a:prstGeom>
          <a:noFill/>
          <a:ln/>
        </p:spPr>
        <p:txBody>
          <a:bodyPr wrap="square" lIns="0" tIns="0" rIns="0" bIns="0" rtlCol="0" anchor="ctr"/>
          <a:lstStyle/>
          <a:p>
            <a:pPr indent="0" marL="0">
              <a:buNone/>
            </a:pPr>
            <a:r>
              <a:rPr lang="en-US" sz="1000" b="1" spc="200" kern="0" dirty="0">
                <a:solidFill>
                  <a:srgbClr val="D97612"/>
                </a:solidFill>
                <a:latin typeface="Meiryo" pitchFamily="34" charset="0"/>
                <a:ea typeface="Meiryo" pitchFamily="34" charset="-122"/>
                <a:cs typeface="Meiryo" pitchFamily="34" charset="-120"/>
              </a:rPr>
              <a:t>SECTION</a:t>
            </a:r>
            <a:endParaRPr lang="en-US" sz="1000" dirty="0"/>
          </a:p>
        </p:txBody>
      </p:sp>
      <p:sp>
        <p:nvSpPr>
          <p:cNvPr id="7" name="Text 5"/>
          <p:cNvSpPr/>
          <p:nvPr/>
        </p:nvSpPr>
        <p:spPr>
          <a:xfrm>
            <a:off x="1536192" y="2359152"/>
            <a:ext cx="10088575"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経営企画の使いどころと始め方</a:t>
            </a:r>
            <a:endParaRPr lang="en-US" sz="3200" dirty="0"/>
          </a:p>
        </p:txBody>
      </p:sp>
      <p:sp>
        <p:nvSpPr>
          <p:cNvPr id="8" name="Text 6"/>
          <p:cNvSpPr/>
          <p:nvPr/>
        </p:nvSpPr>
        <p:spPr>
          <a:xfrm>
            <a:off x="1536192" y="3054096"/>
            <a:ext cx="9594799" cy="384048"/>
          </a:xfrm>
          <a:prstGeom prst="rect">
            <a:avLst/>
          </a:prstGeom>
          <a:noFill/>
          <a:ln/>
        </p:spPr>
        <p:txBody>
          <a:bodyPr wrap="square" lIns="0" tIns="0" rIns="0" bIns="0" rtlCol="0" anchor="ctr"/>
          <a:lstStyle/>
          <a:p>
            <a:pPr indent="0" marL="0">
              <a:buNone/>
            </a:pPr>
            <a:r>
              <a:rPr lang="en-US" sz="1400" dirty="0">
                <a:solidFill>
                  <a:srgbClr val="B9C4CF"/>
                </a:solidFill>
                <a:latin typeface="Meiryo" pitchFamily="34" charset="0"/>
                <a:ea typeface="Meiryo" pitchFamily="34" charset="-122"/>
                <a:cs typeface="Meiryo" pitchFamily="34" charset="-120"/>
              </a:rPr>
              <a:t>どの業務から着手し、どう4週間で回すかを具体化します</a:t>
            </a:r>
            <a:endParaRPr lang="en-US" sz="1400" dirty="0"/>
          </a:p>
        </p:txBody>
      </p:sp>
      <p:sp>
        <p:nvSpPr>
          <p:cNvPr id="9" name="Shape 7"/>
          <p:cNvSpPr/>
          <p:nvPr/>
        </p:nvSpPr>
        <p:spPr>
          <a:xfrm>
            <a:off x="1536192" y="3675888"/>
            <a:ext cx="5852160" cy="566928"/>
          </a:xfrm>
          <a:prstGeom prst="roundRect">
            <a:avLst>
              <a:gd name="adj" fmla="val 11290"/>
            </a:avLst>
          </a:prstGeom>
          <a:solidFill>
            <a:srgbClr val="223140"/>
          </a:solidFill>
          <a:ln w="12700">
            <a:solidFill>
              <a:srgbClr val="223140"/>
            </a:solidFill>
            <a:prstDash val="solid"/>
          </a:ln>
        </p:spPr>
      </p:sp>
      <p:sp>
        <p:nvSpPr>
          <p:cNvPr id="10" name="Text 8"/>
          <p:cNvSpPr/>
          <p:nvPr/>
        </p:nvSpPr>
        <p:spPr>
          <a:xfrm>
            <a:off x="1719072" y="3675888"/>
            <a:ext cx="5486400" cy="566928"/>
          </a:xfrm>
          <a:prstGeom prst="rect">
            <a:avLst/>
          </a:prstGeom>
          <a:noFill/>
          <a:ln/>
        </p:spPr>
        <p:txBody>
          <a:bodyPr wrap="square" lIns="0" tIns="0" rIns="0" bIns="0" rtlCol="0" anchor="ctr"/>
          <a:lstStyle/>
          <a:p>
            <a:pPr indent="0" marL="0">
              <a:buNone/>
            </a:pPr>
            <a:r>
              <a:rPr lang="en-US" sz="1150" dirty="0">
                <a:solidFill>
                  <a:srgbClr val="E4E9ED"/>
                </a:solidFill>
                <a:latin typeface="Meiryo" pitchFamily="34" charset="0"/>
                <a:ea typeface="Meiryo" pitchFamily="34" charset="-122"/>
                <a:cs typeface="Meiryo" pitchFamily="34" charset="-120"/>
              </a:rPr>
              <a:t>ここまでが一般論です。次のセクションから具体策のご紹介に入ります。</a:t>
            </a:r>
            <a:endParaRPr lang="en-US" sz="1150" dirty="0"/>
          </a:p>
        </p:txBody>
      </p:sp>
      <p:sp>
        <p:nvSpPr>
          <p:cNvPr id="11" name="Text 9"/>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6B7684"/>
                </a:solidFill>
                <a:latin typeface="Meiryo" pitchFamily="34" charset="0"/>
                <a:ea typeface="Meiryo" pitchFamily="34" charset="-122"/>
                <a:cs typeface="Meiryo"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04</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経営企画の業務 × AI適合度マップ</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縦軸は「記録が揃っているか」、横軸は「判断の重さ」です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24</a:t>
            </a:r>
            <a:endParaRPr lang="en-US" sz="850" dirty="0"/>
          </a:p>
        </p:txBody>
      </p:sp>
      <p:sp>
        <p:nvSpPr>
          <p:cNvPr id="7" name="Shape 5"/>
          <p:cNvSpPr/>
          <p:nvPr/>
        </p:nvSpPr>
        <p:spPr>
          <a:xfrm>
            <a:off x="1801368" y="1938528"/>
            <a:ext cx="4617720" cy="1609344"/>
          </a:xfrm>
          <a:prstGeom prst="roundRect">
            <a:avLst>
              <a:gd name="adj" fmla="val 3977"/>
            </a:avLst>
          </a:prstGeom>
          <a:solidFill>
            <a:srgbClr val="E3EFED"/>
          </a:solidFill>
          <a:ln w="12700">
            <a:solidFill>
              <a:srgbClr val="E3EFED"/>
            </a:solidFill>
            <a:prstDash val="solid"/>
          </a:ln>
        </p:spPr>
      </p:sp>
      <p:sp>
        <p:nvSpPr>
          <p:cNvPr id="8" name="Text 6"/>
          <p:cNvSpPr/>
          <p:nvPr/>
        </p:nvSpPr>
        <p:spPr>
          <a:xfrm>
            <a:off x="2057400" y="2084832"/>
            <a:ext cx="4105656" cy="384048"/>
          </a:xfrm>
          <a:prstGeom prst="rect">
            <a:avLst/>
          </a:prstGeom>
          <a:noFill/>
          <a:ln/>
        </p:spPr>
        <p:txBody>
          <a:bodyPr wrap="square" lIns="0" tIns="0" rIns="0" bIns="0" rtlCol="0" anchor="ctr"/>
          <a:lstStyle/>
          <a:p>
            <a:pPr indent="0" marL="0">
              <a:buNone/>
            </a:pPr>
            <a:r>
              <a:rPr lang="en-US" sz="1500" b="1" dirty="0">
                <a:solidFill>
                  <a:srgbClr val="12695D"/>
                </a:solidFill>
                <a:latin typeface="Meiryo" pitchFamily="34" charset="0"/>
                <a:ea typeface="Meiryo" pitchFamily="34" charset="-122"/>
                <a:cs typeface="Meiryo" pitchFamily="34" charset="-120"/>
              </a:rPr>
              <a:t>今すぐ着手できる</a:t>
            </a:r>
            <a:endParaRPr lang="en-US" sz="1500" dirty="0"/>
          </a:p>
        </p:txBody>
      </p:sp>
      <p:sp>
        <p:nvSpPr>
          <p:cNvPr id="9" name="Text 7"/>
          <p:cNvSpPr/>
          <p:nvPr/>
        </p:nvSpPr>
        <p:spPr>
          <a:xfrm>
            <a:off x="2057400" y="2468880"/>
            <a:ext cx="4105656" cy="274320"/>
          </a:xfrm>
          <a:prstGeom prst="rect">
            <a:avLst/>
          </a:prstGeom>
          <a:noFill/>
          <a:ln/>
        </p:spPr>
        <p:txBody>
          <a:bodyPr wrap="square" lIns="0" tIns="0" rIns="0" bIns="0" rtlCol="0" anchor="ctr"/>
          <a:lstStyle/>
          <a:p>
            <a:pPr indent="0" marL="0">
              <a:buNone/>
            </a:pPr>
            <a:r>
              <a:rPr lang="en-US" sz="1000" b="1" dirty="0">
                <a:solidFill>
                  <a:srgbClr val="12695D"/>
                </a:solidFill>
                <a:latin typeface="Meiryo" pitchFamily="34" charset="0"/>
                <a:ea typeface="Meiryo" pitchFamily="34" charset="-122"/>
                <a:cs typeface="Meiryo" pitchFamily="34" charset="-120"/>
              </a:rPr>
              <a:t>記録あり × 判断が軽い</a:t>
            </a:r>
            <a:endParaRPr lang="en-US" sz="1000" dirty="0"/>
          </a:p>
        </p:txBody>
      </p:sp>
      <p:sp>
        <p:nvSpPr>
          <p:cNvPr id="10" name="Text 8"/>
          <p:cNvSpPr/>
          <p:nvPr/>
        </p:nvSpPr>
        <p:spPr>
          <a:xfrm>
            <a:off x="2057400" y="2761488"/>
            <a:ext cx="4105656" cy="713232"/>
          </a:xfrm>
          <a:prstGeom prst="rect">
            <a:avLst/>
          </a:prstGeom>
          <a:noFill/>
          <a:ln/>
        </p:spPr>
        <p:txBody>
          <a:bodyPr wrap="square" lIns="0" tIns="0" rIns="0" bIns="0" rtlCol="0" anchor="t"/>
          <a:lstStyle/>
          <a:p>
            <a:pPr indent="0" marL="0">
              <a:lnSpc>
                <a:spcPts val="1800"/>
              </a:lnSpc>
              <a:buNone/>
            </a:pPr>
            <a:r>
              <a:rPr lang="en-US" sz="1150" dirty="0">
                <a:solidFill>
                  <a:srgbClr val="1B2733"/>
                </a:solidFill>
                <a:latin typeface="Meiryo" pitchFamily="34" charset="0"/>
                <a:ea typeface="Meiryo" pitchFamily="34" charset="-122"/>
                <a:cs typeface="Meiryo" pitchFamily="34" charset="-120"/>
              </a:rPr>
              <a:t>月次レポートの作成／会議資料の下書き／データの整形・分類／議事録の要約</a:t>
            </a:r>
            <a:endParaRPr lang="en-US" sz="1150" dirty="0"/>
          </a:p>
        </p:txBody>
      </p:sp>
      <p:sp>
        <p:nvSpPr>
          <p:cNvPr id="11" name="Shape 9"/>
          <p:cNvSpPr/>
          <p:nvPr/>
        </p:nvSpPr>
        <p:spPr>
          <a:xfrm>
            <a:off x="6601968" y="1938528"/>
            <a:ext cx="4617720" cy="1609344"/>
          </a:xfrm>
          <a:prstGeom prst="roundRect">
            <a:avLst>
              <a:gd name="adj" fmla="val 3977"/>
            </a:avLst>
          </a:prstGeom>
          <a:solidFill>
            <a:srgbClr val="F2F4F6"/>
          </a:solidFill>
          <a:ln w="12700">
            <a:solidFill>
              <a:srgbClr val="F2F4F6"/>
            </a:solidFill>
            <a:prstDash val="solid"/>
          </a:ln>
        </p:spPr>
      </p:sp>
      <p:sp>
        <p:nvSpPr>
          <p:cNvPr id="12" name="Text 10"/>
          <p:cNvSpPr/>
          <p:nvPr/>
        </p:nvSpPr>
        <p:spPr>
          <a:xfrm>
            <a:off x="6858000" y="2084832"/>
            <a:ext cx="4105656" cy="384048"/>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一次案づくりに使う</a:t>
            </a:r>
            <a:endParaRPr lang="en-US" sz="1500" dirty="0"/>
          </a:p>
        </p:txBody>
      </p:sp>
      <p:sp>
        <p:nvSpPr>
          <p:cNvPr id="13" name="Text 11"/>
          <p:cNvSpPr/>
          <p:nvPr/>
        </p:nvSpPr>
        <p:spPr>
          <a:xfrm>
            <a:off x="6858000" y="2468880"/>
            <a:ext cx="4105656" cy="274320"/>
          </a:xfrm>
          <a:prstGeom prst="rect">
            <a:avLst/>
          </a:prstGeom>
          <a:noFill/>
          <a:ln/>
        </p:spPr>
        <p:txBody>
          <a:bodyPr wrap="square" lIns="0" tIns="0" rIns="0" bIns="0" rtlCol="0" anchor="ctr"/>
          <a:lstStyle/>
          <a:p>
            <a:pPr indent="0" marL="0">
              <a:buNone/>
            </a:pPr>
            <a:r>
              <a:rPr lang="en-US" sz="1000" b="1" dirty="0">
                <a:solidFill>
                  <a:srgbClr val="667382"/>
                </a:solidFill>
                <a:latin typeface="Meiryo" pitchFamily="34" charset="0"/>
                <a:ea typeface="Meiryo" pitchFamily="34" charset="-122"/>
                <a:cs typeface="Meiryo" pitchFamily="34" charset="-120"/>
              </a:rPr>
              <a:t>記録あり × 判断が重い</a:t>
            </a:r>
            <a:endParaRPr lang="en-US" sz="1000" dirty="0"/>
          </a:p>
        </p:txBody>
      </p:sp>
      <p:sp>
        <p:nvSpPr>
          <p:cNvPr id="14" name="Text 12"/>
          <p:cNvSpPr/>
          <p:nvPr/>
        </p:nvSpPr>
        <p:spPr>
          <a:xfrm>
            <a:off x="6858000" y="2761488"/>
            <a:ext cx="4105656" cy="713232"/>
          </a:xfrm>
          <a:prstGeom prst="rect">
            <a:avLst/>
          </a:prstGeom>
          <a:noFill/>
          <a:ln/>
        </p:spPr>
        <p:txBody>
          <a:bodyPr wrap="square" lIns="0" tIns="0" rIns="0" bIns="0" rtlCol="0" anchor="t"/>
          <a:lstStyle/>
          <a:p>
            <a:pPr indent="0" marL="0">
              <a:lnSpc>
                <a:spcPts val="1800"/>
              </a:lnSpc>
              <a:buNone/>
            </a:pPr>
            <a:r>
              <a:rPr lang="en-US" sz="1150" dirty="0">
                <a:solidFill>
                  <a:srgbClr val="1B2733"/>
                </a:solidFill>
                <a:latin typeface="Meiryo" pitchFamily="34" charset="0"/>
                <a:ea typeface="Meiryo" pitchFamily="34" charset="-122"/>
                <a:cs typeface="Meiryo" pitchFamily="34" charset="-120"/>
              </a:rPr>
              <a:t>予実差異の分析／KPIモニタリング／市場調査の整理／競合情報のまとめ</a:t>
            </a:r>
            <a:endParaRPr lang="en-US" sz="1150" dirty="0"/>
          </a:p>
        </p:txBody>
      </p:sp>
      <p:sp>
        <p:nvSpPr>
          <p:cNvPr id="15" name="Shape 13"/>
          <p:cNvSpPr/>
          <p:nvPr/>
        </p:nvSpPr>
        <p:spPr>
          <a:xfrm>
            <a:off x="1801368" y="3730752"/>
            <a:ext cx="4617720" cy="1609344"/>
          </a:xfrm>
          <a:prstGeom prst="roundRect">
            <a:avLst>
              <a:gd name="adj" fmla="val 3977"/>
            </a:avLst>
          </a:prstGeom>
          <a:solidFill>
            <a:srgbClr val="FDF1E2"/>
          </a:solidFill>
          <a:ln w="12700">
            <a:solidFill>
              <a:srgbClr val="FDF1E2"/>
            </a:solidFill>
            <a:prstDash val="solid"/>
          </a:ln>
        </p:spPr>
      </p:sp>
      <p:sp>
        <p:nvSpPr>
          <p:cNvPr id="16" name="Text 14"/>
          <p:cNvSpPr/>
          <p:nvPr/>
        </p:nvSpPr>
        <p:spPr>
          <a:xfrm>
            <a:off x="2057400" y="3877056"/>
            <a:ext cx="4105656" cy="384048"/>
          </a:xfrm>
          <a:prstGeom prst="rect">
            <a:avLst/>
          </a:prstGeom>
          <a:noFill/>
          <a:ln/>
        </p:spPr>
        <p:txBody>
          <a:bodyPr wrap="square" lIns="0" tIns="0" rIns="0" bIns="0" rtlCol="0" anchor="ctr"/>
          <a:lstStyle/>
          <a:p>
            <a:pPr indent="0" marL="0">
              <a:buNone/>
            </a:pPr>
            <a:r>
              <a:rPr lang="en-US" sz="1500" b="1" dirty="0">
                <a:solidFill>
                  <a:srgbClr val="A85705"/>
                </a:solidFill>
                <a:latin typeface="Meiryo" pitchFamily="34" charset="0"/>
                <a:ea typeface="Meiryo" pitchFamily="34" charset="-122"/>
                <a:cs typeface="Meiryo" pitchFamily="34" charset="-120"/>
              </a:rPr>
              <a:t>記録を整えれば効く</a:t>
            </a:r>
            <a:endParaRPr lang="en-US" sz="1500" dirty="0"/>
          </a:p>
        </p:txBody>
      </p:sp>
      <p:sp>
        <p:nvSpPr>
          <p:cNvPr id="17" name="Text 15"/>
          <p:cNvSpPr/>
          <p:nvPr/>
        </p:nvSpPr>
        <p:spPr>
          <a:xfrm>
            <a:off x="2057400" y="4261104"/>
            <a:ext cx="4105656" cy="274320"/>
          </a:xfrm>
          <a:prstGeom prst="rect">
            <a:avLst/>
          </a:prstGeom>
          <a:noFill/>
          <a:ln/>
        </p:spPr>
        <p:txBody>
          <a:bodyPr wrap="square" lIns="0" tIns="0" rIns="0" bIns="0" rtlCol="0" anchor="ctr"/>
          <a:lstStyle/>
          <a:p>
            <a:pPr indent="0" marL="0">
              <a:buNone/>
            </a:pPr>
            <a:r>
              <a:rPr lang="en-US" sz="1000" b="1" dirty="0">
                <a:solidFill>
                  <a:srgbClr val="A85705"/>
                </a:solidFill>
                <a:latin typeface="Meiryo" pitchFamily="34" charset="0"/>
                <a:ea typeface="Meiryo" pitchFamily="34" charset="-122"/>
                <a:cs typeface="Meiryo" pitchFamily="34" charset="-120"/>
              </a:rPr>
              <a:t>記録なし × 判断が軽い</a:t>
            </a:r>
            <a:endParaRPr lang="en-US" sz="1000" dirty="0"/>
          </a:p>
        </p:txBody>
      </p:sp>
      <p:sp>
        <p:nvSpPr>
          <p:cNvPr id="18" name="Text 16"/>
          <p:cNvSpPr/>
          <p:nvPr/>
        </p:nvSpPr>
        <p:spPr>
          <a:xfrm>
            <a:off x="2057400" y="4553712"/>
            <a:ext cx="4105656" cy="713232"/>
          </a:xfrm>
          <a:prstGeom prst="rect">
            <a:avLst/>
          </a:prstGeom>
          <a:noFill/>
          <a:ln/>
        </p:spPr>
        <p:txBody>
          <a:bodyPr wrap="square" lIns="0" tIns="0" rIns="0" bIns="0" rtlCol="0" anchor="t"/>
          <a:lstStyle/>
          <a:p>
            <a:pPr indent="0" marL="0">
              <a:lnSpc>
                <a:spcPts val="1800"/>
              </a:lnSpc>
              <a:buNone/>
            </a:pPr>
            <a:r>
              <a:rPr lang="en-US" sz="1150" dirty="0">
                <a:solidFill>
                  <a:srgbClr val="1B2733"/>
                </a:solidFill>
                <a:latin typeface="Meiryo" pitchFamily="34" charset="0"/>
                <a:ea typeface="Meiryo" pitchFamily="34" charset="-122"/>
                <a:cs typeface="Meiryo" pitchFamily="34" charset="-120"/>
              </a:rPr>
              <a:t>業務量の把握／工数分析／業務の棚卸し／属人化業務の洗い出し</a:t>
            </a:r>
            <a:endParaRPr lang="en-US" sz="1150" dirty="0"/>
          </a:p>
        </p:txBody>
      </p:sp>
      <p:sp>
        <p:nvSpPr>
          <p:cNvPr id="19" name="Shape 17"/>
          <p:cNvSpPr/>
          <p:nvPr/>
        </p:nvSpPr>
        <p:spPr>
          <a:xfrm>
            <a:off x="6601968" y="3730752"/>
            <a:ext cx="4617720" cy="1609344"/>
          </a:xfrm>
          <a:prstGeom prst="roundRect">
            <a:avLst>
              <a:gd name="adj" fmla="val 3977"/>
            </a:avLst>
          </a:prstGeom>
          <a:solidFill>
            <a:srgbClr val="F2F4F6"/>
          </a:solidFill>
          <a:ln w="12700">
            <a:solidFill>
              <a:srgbClr val="F2F4F6"/>
            </a:solidFill>
            <a:prstDash val="solid"/>
          </a:ln>
        </p:spPr>
      </p:sp>
      <p:sp>
        <p:nvSpPr>
          <p:cNvPr id="20" name="Text 18"/>
          <p:cNvSpPr/>
          <p:nvPr/>
        </p:nvSpPr>
        <p:spPr>
          <a:xfrm>
            <a:off x="6858000" y="3877056"/>
            <a:ext cx="4105656" cy="384048"/>
          </a:xfrm>
          <a:prstGeom prst="rect">
            <a:avLst/>
          </a:prstGeom>
          <a:noFill/>
          <a:ln/>
        </p:spPr>
        <p:txBody>
          <a:bodyPr wrap="square" lIns="0" tIns="0" rIns="0" bIns="0" rtlCol="0" anchor="ctr"/>
          <a:lstStyle/>
          <a:p>
            <a:pPr indent="0" marL="0">
              <a:buNone/>
            </a:pPr>
            <a:r>
              <a:rPr lang="en-US" sz="1500" b="1" dirty="0">
                <a:solidFill>
                  <a:srgbClr val="667382"/>
                </a:solidFill>
                <a:latin typeface="Meiryo" pitchFamily="34" charset="0"/>
                <a:ea typeface="Meiryo" pitchFamily="34" charset="-122"/>
                <a:cs typeface="Meiryo" pitchFamily="34" charset="-120"/>
              </a:rPr>
              <a:t>当面は人が担う</a:t>
            </a:r>
            <a:endParaRPr lang="en-US" sz="1500" dirty="0"/>
          </a:p>
        </p:txBody>
      </p:sp>
      <p:sp>
        <p:nvSpPr>
          <p:cNvPr id="21" name="Text 19"/>
          <p:cNvSpPr/>
          <p:nvPr/>
        </p:nvSpPr>
        <p:spPr>
          <a:xfrm>
            <a:off x="6858000" y="4261104"/>
            <a:ext cx="4105656" cy="274320"/>
          </a:xfrm>
          <a:prstGeom prst="rect">
            <a:avLst/>
          </a:prstGeom>
          <a:noFill/>
          <a:ln/>
        </p:spPr>
        <p:txBody>
          <a:bodyPr wrap="square" lIns="0" tIns="0" rIns="0" bIns="0" rtlCol="0" anchor="ctr"/>
          <a:lstStyle/>
          <a:p>
            <a:pPr indent="0" marL="0">
              <a:buNone/>
            </a:pPr>
            <a:r>
              <a:rPr lang="en-US" sz="1000" b="1" dirty="0">
                <a:solidFill>
                  <a:srgbClr val="667382"/>
                </a:solidFill>
                <a:latin typeface="Meiryo" pitchFamily="34" charset="0"/>
                <a:ea typeface="Meiryo" pitchFamily="34" charset="-122"/>
                <a:cs typeface="Meiryo" pitchFamily="34" charset="-120"/>
              </a:rPr>
              <a:t>記録なし × 判断が重い</a:t>
            </a:r>
            <a:endParaRPr lang="en-US" sz="1000" dirty="0"/>
          </a:p>
        </p:txBody>
      </p:sp>
      <p:sp>
        <p:nvSpPr>
          <p:cNvPr id="22" name="Text 20"/>
          <p:cNvSpPr/>
          <p:nvPr/>
        </p:nvSpPr>
        <p:spPr>
          <a:xfrm>
            <a:off x="6858000" y="4553712"/>
            <a:ext cx="4105656" cy="713232"/>
          </a:xfrm>
          <a:prstGeom prst="rect">
            <a:avLst/>
          </a:prstGeom>
          <a:noFill/>
          <a:ln/>
        </p:spPr>
        <p:txBody>
          <a:bodyPr wrap="square" lIns="0" tIns="0" rIns="0" bIns="0" rtlCol="0" anchor="t"/>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人事評価／投資判断／組織設計／事業撤退の判断</a:t>
            </a:r>
            <a:endParaRPr lang="en-US" sz="1150" dirty="0"/>
          </a:p>
        </p:txBody>
      </p:sp>
      <p:sp>
        <p:nvSpPr>
          <p:cNvPr id="23" name="Text 21"/>
          <p:cNvSpPr/>
          <p:nvPr/>
        </p:nvSpPr>
        <p:spPr>
          <a:xfrm>
            <a:off x="548640" y="2194560"/>
            <a:ext cx="1143000" cy="731520"/>
          </a:xfrm>
          <a:prstGeom prst="rect">
            <a:avLst/>
          </a:prstGeom>
          <a:noFill/>
          <a:ln/>
        </p:spPr>
        <p:txBody>
          <a:bodyPr wrap="square" lIns="0" tIns="0" rIns="0" bIns="0" rtlCol="0" anchor="ctr"/>
          <a:lstStyle/>
          <a:p>
            <a:pPr algn="r" indent="0" marL="0">
              <a:lnSpc>
                <a:spcPts val="1600"/>
              </a:lnSpc>
              <a:buNone/>
            </a:pPr>
            <a:r>
              <a:rPr lang="en-US" sz="1050" b="1" dirty="0">
                <a:solidFill>
                  <a:srgbClr val="667382"/>
                </a:solidFill>
                <a:latin typeface="Meiryo" pitchFamily="34" charset="0"/>
                <a:ea typeface="Meiryo" pitchFamily="34" charset="-122"/>
                <a:cs typeface="Meiryo" pitchFamily="34" charset="-120"/>
              </a:rPr>
              <a:t>記録が</a:t>
            </a:r>
            <a:endParaRPr lang="en-US" sz="1050" dirty="0"/>
          </a:p>
          <a:p>
            <a:pPr algn="r" indent="0" marL="0">
              <a:lnSpc>
                <a:spcPts val="1600"/>
              </a:lnSpc>
              <a:buNone/>
            </a:pPr>
            <a:r>
              <a:rPr lang="en-US" sz="1050" b="1" dirty="0">
                <a:solidFill>
                  <a:srgbClr val="667382"/>
                </a:solidFill>
                <a:latin typeface="Meiryo" pitchFamily="34" charset="0"/>
                <a:ea typeface="Meiryo" pitchFamily="34" charset="-122"/>
                <a:cs typeface="Meiryo" pitchFamily="34" charset="-120"/>
              </a:rPr>
              <a:t>揃っている</a:t>
            </a:r>
            <a:endParaRPr lang="en-US" sz="1050" dirty="0"/>
          </a:p>
        </p:txBody>
      </p:sp>
      <p:sp>
        <p:nvSpPr>
          <p:cNvPr id="24" name="Text 22"/>
          <p:cNvSpPr/>
          <p:nvPr/>
        </p:nvSpPr>
        <p:spPr>
          <a:xfrm>
            <a:off x="548640" y="3986784"/>
            <a:ext cx="1143000" cy="731520"/>
          </a:xfrm>
          <a:prstGeom prst="rect">
            <a:avLst/>
          </a:prstGeom>
          <a:noFill/>
          <a:ln/>
        </p:spPr>
        <p:txBody>
          <a:bodyPr wrap="square" lIns="0" tIns="0" rIns="0" bIns="0" rtlCol="0" anchor="ctr"/>
          <a:lstStyle/>
          <a:p>
            <a:pPr algn="r" indent="0" marL="0">
              <a:lnSpc>
                <a:spcPts val="1600"/>
              </a:lnSpc>
              <a:buNone/>
            </a:pPr>
            <a:r>
              <a:rPr lang="en-US" sz="1050" b="1" dirty="0">
                <a:solidFill>
                  <a:srgbClr val="667382"/>
                </a:solidFill>
                <a:latin typeface="Meiryo" pitchFamily="34" charset="0"/>
                <a:ea typeface="Meiryo" pitchFamily="34" charset="-122"/>
                <a:cs typeface="Meiryo" pitchFamily="34" charset="-120"/>
              </a:rPr>
              <a:t>記録が</a:t>
            </a:r>
            <a:endParaRPr lang="en-US" sz="1050" dirty="0"/>
          </a:p>
          <a:p>
            <a:pPr algn="r" indent="0" marL="0">
              <a:lnSpc>
                <a:spcPts val="1600"/>
              </a:lnSpc>
              <a:buNone/>
            </a:pPr>
            <a:r>
              <a:rPr lang="en-US" sz="1050" b="1" dirty="0">
                <a:solidFill>
                  <a:srgbClr val="667382"/>
                </a:solidFill>
                <a:latin typeface="Meiryo" pitchFamily="34" charset="0"/>
                <a:ea typeface="Meiryo" pitchFamily="34" charset="-122"/>
                <a:cs typeface="Meiryo" pitchFamily="34" charset="-120"/>
              </a:rPr>
              <a:t>無い</a:t>
            </a:r>
            <a:endParaRPr lang="en-US" sz="1050" dirty="0"/>
          </a:p>
        </p:txBody>
      </p:sp>
      <p:sp>
        <p:nvSpPr>
          <p:cNvPr id="25" name="Text 23"/>
          <p:cNvSpPr/>
          <p:nvPr/>
        </p:nvSpPr>
        <p:spPr>
          <a:xfrm>
            <a:off x="1801368" y="1627632"/>
            <a:ext cx="4617720" cy="274320"/>
          </a:xfrm>
          <a:prstGeom prst="rect">
            <a:avLst/>
          </a:prstGeom>
          <a:noFill/>
          <a:ln/>
        </p:spPr>
        <p:txBody>
          <a:bodyPr wrap="square" lIns="0" tIns="0" rIns="0" bIns="0" rtlCol="0" anchor="ctr"/>
          <a:lstStyle/>
          <a:p>
            <a:pPr algn="ctr" indent="0" marL="0">
              <a:buNone/>
            </a:pPr>
            <a:r>
              <a:rPr lang="en-US" sz="1050" b="1" dirty="0">
                <a:solidFill>
                  <a:srgbClr val="667382"/>
                </a:solidFill>
                <a:latin typeface="Meiryo" pitchFamily="34" charset="0"/>
                <a:ea typeface="Meiryo" pitchFamily="34" charset="-122"/>
                <a:cs typeface="Meiryo" pitchFamily="34" charset="-120"/>
              </a:rPr>
              <a:t>判断が軽い</a:t>
            </a:r>
            <a:endParaRPr lang="en-US" sz="1050" dirty="0"/>
          </a:p>
        </p:txBody>
      </p:sp>
      <p:sp>
        <p:nvSpPr>
          <p:cNvPr id="26" name="Text 24"/>
          <p:cNvSpPr/>
          <p:nvPr/>
        </p:nvSpPr>
        <p:spPr>
          <a:xfrm>
            <a:off x="6601968" y="1627632"/>
            <a:ext cx="4617720" cy="274320"/>
          </a:xfrm>
          <a:prstGeom prst="rect">
            <a:avLst/>
          </a:prstGeom>
          <a:noFill/>
          <a:ln/>
        </p:spPr>
        <p:txBody>
          <a:bodyPr wrap="square" lIns="0" tIns="0" rIns="0" bIns="0" rtlCol="0" anchor="ctr"/>
          <a:lstStyle/>
          <a:p>
            <a:pPr algn="ctr" indent="0" marL="0">
              <a:buNone/>
            </a:pPr>
            <a:r>
              <a:rPr lang="en-US" sz="1050" b="1" dirty="0">
                <a:solidFill>
                  <a:srgbClr val="667382"/>
                </a:solidFill>
                <a:latin typeface="Meiryo" pitchFamily="34" charset="0"/>
                <a:ea typeface="Meiryo" pitchFamily="34" charset="-122"/>
                <a:cs typeface="Meiryo" pitchFamily="34" charset="-120"/>
              </a:rPr>
              <a:t>判断が重い</a:t>
            </a:r>
            <a:endParaRPr lang="en-US" sz="1050" dirty="0"/>
          </a:p>
        </p:txBody>
      </p:sp>
      <p:sp>
        <p:nvSpPr>
          <p:cNvPr id="27" name="Shape 25"/>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28" name="Shape 26"/>
          <p:cNvSpPr/>
          <p:nvPr/>
        </p:nvSpPr>
        <p:spPr>
          <a:xfrm>
            <a:off x="804672" y="5760720"/>
            <a:ext cx="219456" cy="219456"/>
          </a:xfrm>
          <a:prstGeom prst="ellipse">
            <a:avLst/>
          </a:prstGeom>
          <a:solidFill>
            <a:srgbClr val="A85705"/>
          </a:solidFill>
          <a:ln w="12700">
            <a:solidFill>
              <a:srgbClr val="A85705"/>
            </a:solidFill>
            <a:prstDash val="solid"/>
          </a:ln>
        </p:spPr>
      </p:sp>
      <p:sp>
        <p:nvSpPr>
          <p:cNvPr id="29" name="Text 27"/>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左上から始めるのが定石です。ただし本命は左下 — 記録を整えるだけで、いまは手が出せない領域が動き出します。</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04</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すぐ効く3つのシナリオ</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いずれも「人が探して整える工程」をなくしています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25</a:t>
            </a:r>
            <a:endParaRPr lang="en-US" sz="850" dirty="0"/>
          </a:p>
        </p:txBody>
      </p:sp>
      <p:sp>
        <p:nvSpPr>
          <p:cNvPr id="7" name="Shape 5"/>
          <p:cNvSpPr/>
          <p:nvPr/>
        </p:nvSpPr>
        <p:spPr>
          <a:xfrm>
            <a:off x="566928" y="1737360"/>
            <a:ext cx="402336" cy="402336"/>
          </a:xfrm>
          <a:prstGeom prst="ellipse">
            <a:avLst/>
          </a:prstGeom>
          <a:solidFill>
            <a:srgbClr val="D97612"/>
          </a:solidFill>
          <a:ln w="12700">
            <a:solidFill>
              <a:srgbClr val="D97612"/>
            </a:solidFill>
            <a:prstDash val="solid"/>
          </a:ln>
        </p:spPr>
      </p:sp>
      <p:sp>
        <p:nvSpPr>
          <p:cNvPr id="8" name="Text 6"/>
          <p:cNvSpPr/>
          <p:nvPr/>
        </p:nvSpPr>
        <p:spPr>
          <a:xfrm>
            <a:off x="566928" y="1737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9" name="Text 7"/>
          <p:cNvSpPr/>
          <p:nvPr/>
        </p:nvSpPr>
        <p:spPr>
          <a:xfrm>
            <a:off x="1078992" y="1737360"/>
            <a:ext cx="2991002"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月次報告の下書き</a:t>
            </a:r>
            <a:endParaRPr lang="en-US" sz="1500" dirty="0"/>
          </a:p>
        </p:txBody>
      </p:sp>
      <p:sp>
        <p:nvSpPr>
          <p:cNvPr id="10" name="Shape 8"/>
          <p:cNvSpPr/>
          <p:nvPr/>
        </p:nvSpPr>
        <p:spPr>
          <a:xfrm>
            <a:off x="566928" y="2286000"/>
            <a:ext cx="3503066" cy="1463040"/>
          </a:xfrm>
          <a:prstGeom prst="roundRect">
            <a:avLst>
              <a:gd name="adj" fmla="val 4375"/>
            </a:avLst>
          </a:prstGeom>
          <a:solidFill>
            <a:srgbClr val="F2F4F6"/>
          </a:solidFill>
          <a:ln w="12700">
            <a:solidFill>
              <a:srgbClr val="F2F4F6"/>
            </a:solidFill>
            <a:prstDash val="solid"/>
          </a:ln>
        </p:spPr>
      </p:sp>
      <p:sp>
        <p:nvSpPr>
          <p:cNvPr id="11" name="Text 9"/>
          <p:cNvSpPr/>
          <p:nvPr/>
        </p:nvSpPr>
        <p:spPr>
          <a:xfrm>
            <a:off x="804672" y="2395728"/>
            <a:ext cx="3027578" cy="274320"/>
          </a:xfrm>
          <a:prstGeom prst="rect">
            <a:avLst/>
          </a:prstGeom>
          <a:noFill/>
          <a:ln/>
        </p:spPr>
        <p:txBody>
          <a:bodyPr wrap="square" lIns="0" tIns="0" rIns="0" bIns="0" rtlCol="0" anchor="ctr"/>
          <a:lstStyle/>
          <a:p>
            <a:pPr indent="0" marL="0">
              <a:buNone/>
            </a:pPr>
            <a:r>
              <a:rPr lang="en-US" sz="1000" b="1" dirty="0">
                <a:solidFill>
                  <a:srgbClr val="667382"/>
                </a:solidFill>
                <a:latin typeface="Meiryo" pitchFamily="34" charset="0"/>
                <a:ea typeface="Meiryo" pitchFamily="34" charset="-122"/>
                <a:cs typeface="Meiryo" pitchFamily="34" charset="-120"/>
              </a:rPr>
              <a:t>いま</a:t>
            </a:r>
            <a:endParaRPr lang="en-US" sz="1000" dirty="0"/>
          </a:p>
        </p:txBody>
      </p:sp>
      <p:sp>
        <p:nvSpPr>
          <p:cNvPr id="12" name="Text 10"/>
          <p:cNvSpPr/>
          <p:nvPr/>
        </p:nvSpPr>
        <p:spPr>
          <a:xfrm>
            <a:off x="804672" y="2688336"/>
            <a:ext cx="3027578" cy="950976"/>
          </a:xfrm>
          <a:prstGeom prst="rect">
            <a:avLst/>
          </a:prstGeom>
          <a:noFill/>
          <a:ln/>
        </p:spPr>
        <p:txBody>
          <a:bodyPr wrap="square" lIns="0" tIns="0" rIns="0" bIns="0" rtlCol="0" anchor="t"/>
          <a:lstStyle/>
          <a:p>
            <a:pPr indent="0" marL="0">
              <a:lnSpc>
                <a:spcPts val="1900"/>
              </a:lnSpc>
              <a:buNone/>
            </a:pPr>
            <a:r>
              <a:rPr lang="en-US" sz="1150" dirty="0">
                <a:solidFill>
                  <a:srgbClr val="1B2733"/>
                </a:solidFill>
                <a:latin typeface="Meiryo" pitchFamily="34" charset="0"/>
                <a:ea typeface="Meiryo" pitchFamily="34" charset="-122"/>
                <a:cs typeface="Meiryo" pitchFamily="34" charset="-120"/>
              </a:rPr>
              <a:t>各部門から数字を集めてExcelで整形し、コメントを書く。所要 2〜3日。</a:t>
            </a:r>
            <a:endParaRPr lang="en-US" sz="1150" dirty="0"/>
          </a:p>
        </p:txBody>
      </p:sp>
      <p:sp>
        <p:nvSpPr>
          <p:cNvPr id="13" name="Text 11"/>
          <p:cNvSpPr/>
          <p:nvPr/>
        </p:nvSpPr>
        <p:spPr>
          <a:xfrm>
            <a:off x="566928" y="3785616"/>
            <a:ext cx="3503066" cy="274320"/>
          </a:xfrm>
          <a:prstGeom prst="rect">
            <a:avLst/>
          </a:prstGeom>
          <a:noFill/>
          <a:ln/>
        </p:spPr>
        <p:txBody>
          <a:bodyPr wrap="square" lIns="0" tIns="0" rIns="0" bIns="0" rtlCol="0" anchor="ctr"/>
          <a:lstStyle/>
          <a:p>
            <a:pPr algn="ctr" indent="0" marL="0">
              <a:buNone/>
            </a:pPr>
            <a:r>
              <a:rPr lang="en-US" sz="1100" dirty="0">
                <a:solidFill>
                  <a:srgbClr val="D97612"/>
                </a:solidFill>
                <a:latin typeface="Meiryo" pitchFamily="34" charset="0"/>
                <a:ea typeface="Meiryo" pitchFamily="34" charset="-122"/>
                <a:cs typeface="Meiryo" pitchFamily="34" charset="-120"/>
              </a:rPr>
              <a:t>▼</a:t>
            </a:r>
            <a:endParaRPr lang="en-US" sz="1100" dirty="0"/>
          </a:p>
        </p:txBody>
      </p:sp>
      <p:sp>
        <p:nvSpPr>
          <p:cNvPr id="14" name="Shape 12"/>
          <p:cNvSpPr/>
          <p:nvPr/>
        </p:nvSpPr>
        <p:spPr>
          <a:xfrm>
            <a:off x="566928" y="4078224"/>
            <a:ext cx="3503066" cy="1463040"/>
          </a:xfrm>
          <a:prstGeom prst="roundRect">
            <a:avLst>
              <a:gd name="adj" fmla="val 4375"/>
            </a:avLst>
          </a:prstGeom>
          <a:solidFill>
            <a:srgbClr val="16202B"/>
          </a:solidFill>
          <a:ln w="12700">
            <a:solidFill>
              <a:srgbClr val="16202B"/>
            </a:solidFill>
            <a:prstDash val="solid"/>
          </a:ln>
        </p:spPr>
      </p:sp>
      <p:sp>
        <p:nvSpPr>
          <p:cNvPr id="15" name="Text 13"/>
          <p:cNvSpPr/>
          <p:nvPr/>
        </p:nvSpPr>
        <p:spPr>
          <a:xfrm>
            <a:off x="804672" y="4187952"/>
            <a:ext cx="3027578" cy="274320"/>
          </a:xfrm>
          <a:prstGeom prst="rect">
            <a:avLst/>
          </a:prstGeom>
          <a:noFill/>
          <a:ln/>
        </p:spPr>
        <p:txBody>
          <a:bodyPr wrap="square" lIns="0" tIns="0" rIns="0" bIns="0" rtlCol="0" anchor="ctr"/>
          <a:lstStyle/>
          <a:p>
            <a:pPr indent="0" marL="0">
              <a:buNone/>
            </a:pPr>
            <a:r>
              <a:rPr lang="en-US" sz="1000" b="1" dirty="0">
                <a:solidFill>
                  <a:srgbClr val="D97612"/>
                </a:solidFill>
                <a:latin typeface="Meiryo" pitchFamily="34" charset="0"/>
                <a:ea typeface="Meiryo" pitchFamily="34" charset="-122"/>
                <a:cs typeface="Meiryo" pitchFamily="34" charset="-120"/>
              </a:rPr>
              <a:t>AIエージェント活用後</a:t>
            </a:r>
            <a:endParaRPr lang="en-US" sz="1000" dirty="0"/>
          </a:p>
        </p:txBody>
      </p:sp>
      <p:sp>
        <p:nvSpPr>
          <p:cNvPr id="16" name="Text 14"/>
          <p:cNvSpPr/>
          <p:nvPr/>
        </p:nvSpPr>
        <p:spPr>
          <a:xfrm>
            <a:off x="804672" y="4480560"/>
            <a:ext cx="3027578" cy="950976"/>
          </a:xfrm>
          <a:prstGeom prst="rect">
            <a:avLst/>
          </a:prstGeom>
          <a:noFill/>
          <a:ln/>
        </p:spPr>
        <p:txBody>
          <a:bodyPr wrap="square" lIns="0" tIns="0" rIns="0" bIns="0" rtlCol="0" anchor="t"/>
          <a:lstStyle/>
          <a:p>
            <a:pPr indent="0" marL="0">
              <a:lnSpc>
                <a:spcPts val="1900"/>
              </a:lnSpc>
              <a:buNone/>
            </a:pPr>
            <a:r>
              <a:rPr lang="en-US" sz="1150" dirty="0">
                <a:solidFill>
                  <a:srgbClr val="E4E9ED"/>
                </a:solidFill>
                <a:latin typeface="Meiryo" pitchFamily="34" charset="0"/>
                <a:ea typeface="Meiryo" pitchFamily="34" charset="-122"/>
                <a:cs typeface="Meiryo" pitchFamily="34" charset="-120"/>
              </a:rPr>
              <a:t>AIが必要な数字を取りに行き、グラフとコメント案まで下書き。所要 半日。</a:t>
            </a:r>
            <a:endParaRPr lang="en-US" sz="1150" dirty="0"/>
          </a:p>
        </p:txBody>
      </p:sp>
      <p:sp>
        <p:nvSpPr>
          <p:cNvPr id="17" name="Shape 15"/>
          <p:cNvSpPr/>
          <p:nvPr/>
        </p:nvSpPr>
        <p:spPr>
          <a:xfrm>
            <a:off x="4344314" y="1737360"/>
            <a:ext cx="402336" cy="402336"/>
          </a:xfrm>
          <a:prstGeom prst="ellipse">
            <a:avLst/>
          </a:prstGeom>
          <a:solidFill>
            <a:srgbClr val="D97612"/>
          </a:solidFill>
          <a:ln w="12700">
            <a:solidFill>
              <a:srgbClr val="D97612"/>
            </a:solidFill>
            <a:prstDash val="solid"/>
          </a:ln>
        </p:spPr>
      </p:sp>
      <p:sp>
        <p:nvSpPr>
          <p:cNvPr id="18" name="Text 16"/>
          <p:cNvSpPr/>
          <p:nvPr/>
        </p:nvSpPr>
        <p:spPr>
          <a:xfrm>
            <a:off x="4344314" y="1737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9" name="Text 17"/>
          <p:cNvSpPr/>
          <p:nvPr/>
        </p:nvSpPr>
        <p:spPr>
          <a:xfrm>
            <a:off x="4856378" y="1737360"/>
            <a:ext cx="2991002"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予実差異の一次分析</a:t>
            </a:r>
            <a:endParaRPr lang="en-US" sz="1500" dirty="0"/>
          </a:p>
        </p:txBody>
      </p:sp>
      <p:sp>
        <p:nvSpPr>
          <p:cNvPr id="20" name="Shape 18"/>
          <p:cNvSpPr/>
          <p:nvPr/>
        </p:nvSpPr>
        <p:spPr>
          <a:xfrm>
            <a:off x="4344314" y="2286000"/>
            <a:ext cx="3503066" cy="1463040"/>
          </a:xfrm>
          <a:prstGeom prst="roundRect">
            <a:avLst>
              <a:gd name="adj" fmla="val 4375"/>
            </a:avLst>
          </a:prstGeom>
          <a:solidFill>
            <a:srgbClr val="F2F4F6"/>
          </a:solidFill>
          <a:ln w="12700">
            <a:solidFill>
              <a:srgbClr val="F2F4F6"/>
            </a:solidFill>
            <a:prstDash val="solid"/>
          </a:ln>
        </p:spPr>
      </p:sp>
      <p:sp>
        <p:nvSpPr>
          <p:cNvPr id="21" name="Text 19"/>
          <p:cNvSpPr/>
          <p:nvPr/>
        </p:nvSpPr>
        <p:spPr>
          <a:xfrm>
            <a:off x="4582058" y="2395728"/>
            <a:ext cx="3027578" cy="274320"/>
          </a:xfrm>
          <a:prstGeom prst="rect">
            <a:avLst/>
          </a:prstGeom>
          <a:noFill/>
          <a:ln/>
        </p:spPr>
        <p:txBody>
          <a:bodyPr wrap="square" lIns="0" tIns="0" rIns="0" bIns="0" rtlCol="0" anchor="ctr"/>
          <a:lstStyle/>
          <a:p>
            <a:pPr indent="0" marL="0">
              <a:buNone/>
            </a:pPr>
            <a:r>
              <a:rPr lang="en-US" sz="1000" b="1" dirty="0">
                <a:solidFill>
                  <a:srgbClr val="667382"/>
                </a:solidFill>
                <a:latin typeface="Meiryo" pitchFamily="34" charset="0"/>
                <a:ea typeface="Meiryo" pitchFamily="34" charset="-122"/>
                <a:cs typeface="Meiryo" pitchFamily="34" charset="-120"/>
              </a:rPr>
              <a:t>いま</a:t>
            </a:r>
            <a:endParaRPr lang="en-US" sz="1000" dirty="0"/>
          </a:p>
        </p:txBody>
      </p:sp>
      <p:sp>
        <p:nvSpPr>
          <p:cNvPr id="22" name="Text 20"/>
          <p:cNvSpPr/>
          <p:nvPr/>
        </p:nvSpPr>
        <p:spPr>
          <a:xfrm>
            <a:off x="4582058" y="2688336"/>
            <a:ext cx="3027578" cy="950976"/>
          </a:xfrm>
          <a:prstGeom prst="rect">
            <a:avLst/>
          </a:prstGeom>
          <a:noFill/>
          <a:ln/>
        </p:spPr>
        <p:txBody>
          <a:bodyPr wrap="square" lIns="0" tIns="0" rIns="0" bIns="0" rtlCol="0" anchor="t"/>
          <a:lstStyle/>
          <a:p>
            <a:pPr indent="0" marL="0">
              <a:lnSpc>
                <a:spcPts val="1900"/>
              </a:lnSpc>
              <a:buNone/>
            </a:pPr>
            <a:r>
              <a:rPr lang="en-US" sz="1150" dirty="0">
                <a:solidFill>
                  <a:srgbClr val="1B2733"/>
                </a:solidFill>
                <a:latin typeface="Meiryo" pitchFamily="34" charset="0"/>
                <a:ea typeface="Meiryo" pitchFamily="34" charset="-122"/>
                <a:cs typeface="Meiryo" pitchFamily="34" charset="-120"/>
              </a:rPr>
              <a:t>差異の大きい科目を、担当者が目視で探す。見落としも起きる。</a:t>
            </a:r>
            <a:endParaRPr lang="en-US" sz="1150" dirty="0"/>
          </a:p>
        </p:txBody>
      </p:sp>
      <p:sp>
        <p:nvSpPr>
          <p:cNvPr id="23" name="Text 21"/>
          <p:cNvSpPr/>
          <p:nvPr/>
        </p:nvSpPr>
        <p:spPr>
          <a:xfrm>
            <a:off x="4344314" y="3785616"/>
            <a:ext cx="3503066" cy="274320"/>
          </a:xfrm>
          <a:prstGeom prst="rect">
            <a:avLst/>
          </a:prstGeom>
          <a:noFill/>
          <a:ln/>
        </p:spPr>
        <p:txBody>
          <a:bodyPr wrap="square" lIns="0" tIns="0" rIns="0" bIns="0" rtlCol="0" anchor="ctr"/>
          <a:lstStyle/>
          <a:p>
            <a:pPr algn="ctr" indent="0" marL="0">
              <a:buNone/>
            </a:pPr>
            <a:r>
              <a:rPr lang="en-US" sz="1100" dirty="0">
                <a:solidFill>
                  <a:srgbClr val="D97612"/>
                </a:solidFill>
                <a:latin typeface="Meiryo" pitchFamily="34" charset="0"/>
                <a:ea typeface="Meiryo" pitchFamily="34" charset="-122"/>
                <a:cs typeface="Meiryo" pitchFamily="34" charset="-120"/>
              </a:rPr>
              <a:t>▼</a:t>
            </a:r>
            <a:endParaRPr lang="en-US" sz="1100" dirty="0"/>
          </a:p>
        </p:txBody>
      </p:sp>
      <p:sp>
        <p:nvSpPr>
          <p:cNvPr id="24" name="Shape 22"/>
          <p:cNvSpPr/>
          <p:nvPr/>
        </p:nvSpPr>
        <p:spPr>
          <a:xfrm>
            <a:off x="4344314" y="4078224"/>
            <a:ext cx="3503066" cy="1463040"/>
          </a:xfrm>
          <a:prstGeom prst="roundRect">
            <a:avLst>
              <a:gd name="adj" fmla="val 4375"/>
            </a:avLst>
          </a:prstGeom>
          <a:solidFill>
            <a:srgbClr val="16202B"/>
          </a:solidFill>
          <a:ln w="12700">
            <a:solidFill>
              <a:srgbClr val="16202B"/>
            </a:solidFill>
            <a:prstDash val="solid"/>
          </a:ln>
        </p:spPr>
      </p:sp>
      <p:sp>
        <p:nvSpPr>
          <p:cNvPr id="25" name="Text 23"/>
          <p:cNvSpPr/>
          <p:nvPr/>
        </p:nvSpPr>
        <p:spPr>
          <a:xfrm>
            <a:off x="4582058" y="4187952"/>
            <a:ext cx="3027578" cy="274320"/>
          </a:xfrm>
          <a:prstGeom prst="rect">
            <a:avLst/>
          </a:prstGeom>
          <a:noFill/>
          <a:ln/>
        </p:spPr>
        <p:txBody>
          <a:bodyPr wrap="square" lIns="0" tIns="0" rIns="0" bIns="0" rtlCol="0" anchor="ctr"/>
          <a:lstStyle/>
          <a:p>
            <a:pPr indent="0" marL="0">
              <a:buNone/>
            </a:pPr>
            <a:r>
              <a:rPr lang="en-US" sz="1000" b="1" dirty="0">
                <a:solidFill>
                  <a:srgbClr val="D97612"/>
                </a:solidFill>
                <a:latin typeface="Meiryo" pitchFamily="34" charset="0"/>
                <a:ea typeface="Meiryo" pitchFamily="34" charset="-122"/>
                <a:cs typeface="Meiryo" pitchFamily="34" charset="-120"/>
              </a:rPr>
              <a:t>AIエージェント活用後</a:t>
            </a:r>
            <a:endParaRPr lang="en-US" sz="1000" dirty="0"/>
          </a:p>
        </p:txBody>
      </p:sp>
      <p:sp>
        <p:nvSpPr>
          <p:cNvPr id="26" name="Text 24"/>
          <p:cNvSpPr/>
          <p:nvPr/>
        </p:nvSpPr>
        <p:spPr>
          <a:xfrm>
            <a:off x="4582058" y="4480560"/>
            <a:ext cx="3027578" cy="950976"/>
          </a:xfrm>
          <a:prstGeom prst="rect">
            <a:avLst/>
          </a:prstGeom>
          <a:noFill/>
          <a:ln/>
        </p:spPr>
        <p:txBody>
          <a:bodyPr wrap="square" lIns="0" tIns="0" rIns="0" bIns="0" rtlCol="0" anchor="t"/>
          <a:lstStyle/>
          <a:p>
            <a:pPr indent="0" marL="0">
              <a:lnSpc>
                <a:spcPts val="1900"/>
              </a:lnSpc>
              <a:buNone/>
            </a:pPr>
            <a:r>
              <a:rPr lang="en-US" sz="1150" dirty="0">
                <a:solidFill>
                  <a:srgbClr val="E4E9ED"/>
                </a:solidFill>
                <a:latin typeface="Meiryo" pitchFamily="34" charset="0"/>
                <a:ea typeface="Meiryo" pitchFamily="34" charset="-122"/>
                <a:cs typeface="Meiryo" pitchFamily="34" charset="-120"/>
              </a:rPr>
              <a:t>差異の大きい順に列挙し、要因候補まで提示。人は検証と判断に集中。</a:t>
            </a:r>
            <a:endParaRPr lang="en-US" sz="1150" dirty="0"/>
          </a:p>
        </p:txBody>
      </p:sp>
      <p:sp>
        <p:nvSpPr>
          <p:cNvPr id="27" name="Shape 25"/>
          <p:cNvSpPr/>
          <p:nvPr/>
        </p:nvSpPr>
        <p:spPr>
          <a:xfrm>
            <a:off x="8121701" y="1737360"/>
            <a:ext cx="402336" cy="402336"/>
          </a:xfrm>
          <a:prstGeom prst="ellipse">
            <a:avLst/>
          </a:prstGeom>
          <a:solidFill>
            <a:srgbClr val="D97612"/>
          </a:solidFill>
          <a:ln w="12700">
            <a:solidFill>
              <a:srgbClr val="D97612"/>
            </a:solidFill>
            <a:prstDash val="solid"/>
          </a:ln>
        </p:spPr>
      </p:sp>
      <p:sp>
        <p:nvSpPr>
          <p:cNvPr id="28" name="Text 26"/>
          <p:cNvSpPr/>
          <p:nvPr/>
        </p:nvSpPr>
        <p:spPr>
          <a:xfrm>
            <a:off x="8121701" y="1737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9" name="Text 27"/>
          <p:cNvSpPr/>
          <p:nvPr/>
        </p:nvSpPr>
        <p:spPr>
          <a:xfrm>
            <a:off x="8633765" y="1737360"/>
            <a:ext cx="2991002"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業務量の実態把握</a:t>
            </a:r>
            <a:endParaRPr lang="en-US" sz="1500" dirty="0"/>
          </a:p>
        </p:txBody>
      </p:sp>
      <p:sp>
        <p:nvSpPr>
          <p:cNvPr id="30" name="Shape 28"/>
          <p:cNvSpPr/>
          <p:nvPr/>
        </p:nvSpPr>
        <p:spPr>
          <a:xfrm>
            <a:off x="8121701" y="2286000"/>
            <a:ext cx="3503066" cy="1463040"/>
          </a:xfrm>
          <a:prstGeom prst="roundRect">
            <a:avLst>
              <a:gd name="adj" fmla="val 4375"/>
            </a:avLst>
          </a:prstGeom>
          <a:solidFill>
            <a:srgbClr val="F2F4F6"/>
          </a:solidFill>
          <a:ln w="12700">
            <a:solidFill>
              <a:srgbClr val="F2F4F6"/>
            </a:solidFill>
            <a:prstDash val="solid"/>
          </a:ln>
        </p:spPr>
      </p:sp>
      <p:sp>
        <p:nvSpPr>
          <p:cNvPr id="31" name="Text 29"/>
          <p:cNvSpPr/>
          <p:nvPr/>
        </p:nvSpPr>
        <p:spPr>
          <a:xfrm>
            <a:off x="8359445" y="2395728"/>
            <a:ext cx="3027578" cy="274320"/>
          </a:xfrm>
          <a:prstGeom prst="rect">
            <a:avLst/>
          </a:prstGeom>
          <a:noFill/>
          <a:ln/>
        </p:spPr>
        <p:txBody>
          <a:bodyPr wrap="square" lIns="0" tIns="0" rIns="0" bIns="0" rtlCol="0" anchor="ctr"/>
          <a:lstStyle/>
          <a:p>
            <a:pPr indent="0" marL="0">
              <a:buNone/>
            </a:pPr>
            <a:r>
              <a:rPr lang="en-US" sz="1000" b="1" dirty="0">
                <a:solidFill>
                  <a:srgbClr val="667382"/>
                </a:solidFill>
                <a:latin typeface="Meiryo" pitchFamily="34" charset="0"/>
                <a:ea typeface="Meiryo" pitchFamily="34" charset="-122"/>
                <a:cs typeface="Meiryo" pitchFamily="34" charset="-120"/>
              </a:rPr>
              <a:t>いま</a:t>
            </a:r>
            <a:endParaRPr lang="en-US" sz="1000" dirty="0"/>
          </a:p>
        </p:txBody>
      </p:sp>
      <p:sp>
        <p:nvSpPr>
          <p:cNvPr id="32" name="Text 30"/>
          <p:cNvSpPr/>
          <p:nvPr/>
        </p:nvSpPr>
        <p:spPr>
          <a:xfrm>
            <a:off x="8359445" y="2688336"/>
            <a:ext cx="3027578" cy="950976"/>
          </a:xfrm>
          <a:prstGeom prst="rect">
            <a:avLst/>
          </a:prstGeom>
          <a:noFill/>
          <a:ln/>
        </p:spPr>
        <p:txBody>
          <a:bodyPr wrap="square" lIns="0" tIns="0" rIns="0" bIns="0" rtlCol="0" anchor="t"/>
          <a:lstStyle/>
          <a:p>
            <a:pPr indent="0" marL="0">
              <a:lnSpc>
                <a:spcPts val="1900"/>
              </a:lnSpc>
              <a:buNone/>
            </a:pPr>
            <a:r>
              <a:rPr lang="en-US" sz="1150" dirty="0">
                <a:solidFill>
                  <a:srgbClr val="1B2733"/>
                </a:solidFill>
                <a:latin typeface="Meiryo" pitchFamily="34" charset="0"/>
                <a:ea typeface="Meiryo" pitchFamily="34" charset="-122"/>
                <a:cs typeface="Meiryo" pitchFamily="34" charset="-120"/>
              </a:rPr>
              <a:t>アンケートで自己申告。回収に2週間、精度も上がらない。</a:t>
            </a:r>
            <a:endParaRPr lang="en-US" sz="1150" dirty="0"/>
          </a:p>
        </p:txBody>
      </p:sp>
      <p:sp>
        <p:nvSpPr>
          <p:cNvPr id="33" name="Text 31"/>
          <p:cNvSpPr/>
          <p:nvPr/>
        </p:nvSpPr>
        <p:spPr>
          <a:xfrm>
            <a:off x="8121701" y="3785616"/>
            <a:ext cx="3503066" cy="274320"/>
          </a:xfrm>
          <a:prstGeom prst="rect">
            <a:avLst/>
          </a:prstGeom>
          <a:noFill/>
          <a:ln/>
        </p:spPr>
        <p:txBody>
          <a:bodyPr wrap="square" lIns="0" tIns="0" rIns="0" bIns="0" rtlCol="0" anchor="ctr"/>
          <a:lstStyle/>
          <a:p>
            <a:pPr algn="ctr" indent="0" marL="0">
              <a:buNone/>
            </a:pPr>
            <a:r>
              <a:rPr lang="en-US" sz="1100" dirty="0">
                <a:solidFill>
                  <a:srgbClr val="D97612"/>
                </a:solidFill>
                <a:latin typeface="Meiryo" pitchFamily="34" charset="0"/>
                <a:ea typeface="Meiryo" pitchFamily="34" charset="-122"/>
                <a:cs typeface="Meiryo" pitchFamily="34" charset="-120"/>
              </a:rPr>
              <a:t>▼</a:t>
            </a:r>
            <a:endParaRPr lang="en-US" sz="1100" dirty="0"/>
          </a:p>
        </p:txBody>
      </p:sp>
      <p:sp>
        <p:nvSpPr>
          <p:cNvPr id="34" name="Shape 32"/>
          <p:cNvSpPr/>
          <p:nvPr/>
        </p:nvSpPr>
        <p:spPr>
          <a:xfrm>
            <a:off x="8121701" y="4078224"/>
            <a:ext cx="3503066" cy="1463040"/>
          </a:xfrm>
          <a:prstGeom prst="roundRect">
            <a:avLst>
              <a:gd name="adj" fmla="val 4375"/>
            </a:avLst>
          </a:prstGeom>
          <a:solidFill>
            <a:srgbClr val="16202B"/>
          </a:solidFill>
          <a:ln w="12700">
            <a:solidFill>
              <a:srgbClr val="16202B"/>
            </a:solidFill>
            <a:prstDash val="solid"/>
          </a:ln>
        </p:spPr>
      </p:sp>
      <p:sp>
        <p:nvSpPr>
          <p:cNvPr id="35" name="Text 33"/>
          <p:cNvSpPr/>
          <p:nvPr/>
        </p:nvSpPr>
        <p:spPr>
          <a:xfrm>
            <a:off x="8359445" y="4187952"/>
            <a:ext cx="3027578" cy="274320"/>
          </a:xfrm>
          <a:prstGeom prst="rect">
            <a:avLst/>
          </a:prstGeom>
          <a:noFill/>
          <a:ln/>
        </p:spPr>
        <p:txBody>
          <a:bodyPr wrap="square" lIns="0" tIns="0" rIns="0" bIns="0" rtlCol="0" anchor="ctr"/>
          <a:lstStyle/>
          <a:p>
            <a:pPr indent="0" marL="0">
              <a:buNone/>
            </a:pPr>
            <a:r>
              <a:rPr lang="en-US" sz="1000" b="1" dirty="0">
                <a:solidFill>
                  <a:srgbClr val="D97612"/>
                </a:solidFill>
                <a:latin typeface="Meiryo" pitchFamily="34" charset="0"/>
                <a:ea typeface="Meiryo" pitchFamily="34" charset="-122"/>
                <a:cs typeface="Meiryo" pitchFamily="34" charset="-120"/>
              </a:rPr>
              <a:t>AIエージェント活用後</a:t>
            </a:r>
            <a:endParaRPr lang="en-US" sz="1000" dirty="0"/>
          </a:p>
        </p:txBody>
      </p:sp>
      <p:sp>
        <p:nvSpPr>
          <p:cNvPr id="36" name="Text 34"/>
          <p:cNvSpPr/>
          <p:nvPr/>
        </p:nvSpPr>
        <p:spPr>
          <a:xfrm>
            <a:off x="8359445" y="4480560"/>
            <a:ext cx="3027578" cy="950976"/>
          </a:xfrm>
          <a:prstGeom prst="rect">
            <a:avLst/>
          </a:prstGeom>
          <a:noFill/>
          <a:ln/>
        </p:spPr>
        <p:txBody>
          <a:bodyPr wrap="square" lIns="0" tIns="0" rIns="0" bIns="0" rtlCol="0" anchor="t"/>
          <a:lstStyle/>
          <a:p>
            <a:pPr indent="0" marL="0">
              <a:lnSpc>
                <a:spcPts val="1900"/>
              </a:lnSpc>
              <a:buNone/>
            </a:pPr>
            <a:r>
              <a:rPr lang="en-US" sz="1150" dirty="0">
                <a:solidFill>
                  <a:srgbClr val="E4E9ED"/>
                </a:solidFill>
                <a:latin typeface="Meiryo" pitchFamily="34" charset="0"/>
                <a:ea typeface="Meiryo" pitchFamily="34" charset="-122"/>
                <a:cs typeface="Meiryo" pitchFamily="34" charset="-120"/>
              </a:rPr>
              <a:t>実際のログから部門別・業務別に自動集計。申告作業そのものが不要。</a:t>
            </a:r>
            <a:endParaRPr lang="en-US" sz="1150" dirty="0"/>
          </a:p>
        </p:txBody>
      </p:sp>
      <p:sp>
        <p:nvSpPr>
          <p:cNvPr id="37" name="Text 35"/>
          <p:cNvSpPr/>
          <p:nvPr/>
        </p:nvSpPr>
        <p:spPr>
          <a:xfrm>
            <a:off x="566928" y="5705856"/>
            <a:ext cx="11057839" cy="274320"/>
          </a:xfrm>
          <a:prstGeom prst="rect">
            <a:avLst/>
          </a:prstGeom>
          <a:noFill/>
          <a:ln/>
        </p:spPr>
        <p:txBody>
          <a:bodyPr wrap="square" lIns="0" tIns="0" rIns="0" bIns="0" rtlCol="0" anchor="ctr"/>
          <a:lstStyle/>
          <a:p>
            <a:pPr indent="0" marL="0">
              <a:buNone/>
            </a:pPr>
            <a:r>
              <a:rPr lang="en-US" sz="950" dirty="0">
                <a:solidFill>
                  <a:srgbClr val="8C97A3"/>
                </a:solidFill>
                <a:latin typeface="Meiryo" pitchFamily="34" charset="0"/>
                <a:ea typeface="Meiryo" pitchFamily="34" charset="-122"/>
                <a:cs typeface="Meiryo" pitchFamily="34" charset="-120"/>
              </a:rPr>
              <a:t>※ 所要時間は一般的な例です。実際の効果は業務内容と記録の整備状況によって変わります。</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04</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始め方の型：1業務・1指標・4週間</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全社一斉ではなく、1つに絞って4週間で回します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26</a:t>
            </a:r>
            <a:endParaRPr lang="en-US" sz="850" dirty="0"/>
          </a:p>
        </p:txBody>
      </p:sp>
      <p:sp>
        <p:nvSpPr>
          <p:cNvPr id="7" name="Shape 5"/>
          <p:cNvSpPr/>
          <p:nvPr/>
        </p:nvSpPr>
        <p:spPr>
          <a:xfrm>
            <a:off x="566928" y="1883664"/>
            <a:ext cx="2558720" cy="3200400"/>
          </a:xfrm>
          <a:prstGeom prst="roundRect">
            <a:avLst>
              <a:gd name="adj" fmla="val 2502"/>
            </a:avLst>
          </a:prstGeom>
          <a:solidFill>
            <a:srgbClr val="FDF1E2"/>
          </a:solidFill>
          <a:ln w="12700">
            <a:solidFill>
              <a:srgbClr val="FDF1E2"/>
            </a:solidFill>
            <a:prstDash val="solid"/>
          </a:ln>
        </p:spPr>
      </p:sp>
      <p:sp>
        <p:nvSpPr>
          <p:cNvPr id="8" name="Text 6"/>
          <p:cNvSpPr/>
          <p:nvPr/>
        </p:nvSpPr>
        <p:spPr>
          <a:xfrm>
            <a:off x="822960" y="2084832"/>
            <a:ext cx="2046656" cy="292608"/>
          </a:xfrm>
          <a:prstGeom prst="rect">
            <a:avLst/>
          </a:prstGeom>
          <a:noFill/>
          <a:ln/>
        </p:spPr>
        <p:txBody>
          <a:bodyPr wrap="square" lIns="0" tIns="0" rIns="0" bIns="0" rtlCol="0" anchor="ctr"/>
          <a:lstStyle/>
          <a:p>
            <a:pPr indent="0" marL="0">
              <a:buNone/>
            </a:pPr>
            <a:r>
              <a:rPr lang="en-US" sz="1050" b="1" spc="120" kern="0" dirty="0">
                <a:solidFill>
                  <a:srgbClr val="A85705"/>
                </a:solidFill>
                <a:latin typeface="Meiryo" pitchFamily="34" charset="0"/>
                <a:ea typeface="Meiryo" pitchFamily="34" charset="-122"/>
                <a:cs typeface="Meiryo" pitchFamily="34" charset="-120"/>
              </a:rPr>
              <a:t>WEEK 1</a:t>
            </a:r>
            <a:endParaRPr lang="en-US" sz="1050" dirty="0"/>
          </a:p>
        </p:txBody>
      </p:sp>
      <p:sp>
        <p:nvSpPr>
          <p:cNvPr id="9" name="Text 7"/>
          <p:cNvSpPr/>
          <p:nvPr/>
        </p:nvSpPr>
        <p:spPr>
          <a:xfrm>
            <a:off x="822960" y="2432304"/>
            <a:ext cx="2046656" cy="457200"/>
          </a:xfrm>
          <a:prstGeom prst="rect">
            <a:avLst/>
          </a:prstGeom>
          <a:noFill/>
          <a:ln/>
        </p:spPr>
        <p:txBody>
          <a:bodyPr wrap="square" lIns="0" tIns="0" rIns="0" bIns="0" rtlCol="0" anchor="ctr"/>
          <a:lstStyle/>
          <a:p>
            <a:pPr indent="0" marL="0">
              <a:buNone/>
            </a:pPr>
            <a:r>
              <a:rPr lang="en-US" sz="2000" b="1" dirty="0">
                <a:solidFill>
                  <a:srgbClr val="A85705"/>
                </a:solidFill>
                <a:latin typeface="Meiryo" pitchFamily="34" charset="0"/>
                <a:ea typeface="Meiryo" pitchFamily="34" charset="-122"/>
                <a:cs typeface="Meiryo" pitchFamily="34" charset="-120"/>
              </a:rPr>
              <a:t>決める</a:t>
            </a:r>
            <a:endParaRPr lang="en-US" sz="2000" dirty="0"/>
          </a:p>
        </p:txBody>
      </p:sp>
      <p:sp>
        <p:nvSpPr>
          <p:cNvPr id="10" name="Text 8"/>
          <p:cNvSpPr/>
          <p:nvPr/>
        </p:nvSpPr>
        <p:spPr>
          <a:xfrm>
            <a:off x="822960" y="3035808"/>
            <a:ext cx="2046656" cy="1828800"/>
          </a:xfrm>
          <a:prstGeom prst="rect">
            <a:avLst/>
          </a:prstGeom>
          <a:noFill/>
          <a:ln/>
        </p:spPr>
        <p:txBody>
          <a:bodyPr wrap="square" lIns="0" tIns="0" rIns="0" bIns="0" rtlCol="0" anchor="t"/>
          <a:lstStyle/>
          <a:p>
            <a:pPr indent="0" marL="0">
              <a:lnSpc>
                <a:spcPts val="1900"/>
              </a:lnSpc>
              <a:buNone/>
            </a:pPr>
            <a:r>
              <a:rPr lang="en-US" sz="1150" dirty="0">
                <a:solidFill>
                  <a:srgbClr val="6B4A24"/>
                </a:solidFill>
                <a:latin typeface="Meiryo" pitchFamily="34" charset="0"/>
                <a:ea typeface="Meiryo" pitchFamily="34" charset="-122"/>
                <a:cs typeface="Meiryo" pitchFamily="34" charset="-120"/>
              </a:rPr>
              <a:t>対象業務を1つに絞る。いま何時間かかっているかを測る。これが “やる前の数字” になります。</a:t>
            </a:r>
            <a:endParaRPr lang="en-US" sz="1150" dirty="0"/>
          </a:p>
        </p:txBody>
      </p:sp>
      <p:sp>
        <p:nvSpPr>
          <p:cNvPr id="11" name="Shape 9"/>
          <p:cNvSpPr/>
          <p:nvPr/>
        </p:nvSpPr>
        <p:spPr>
          <a:xfrm>
            <a:off x="2558720" y="4626864"/>
            <a:ext cx="329184" cy="329184"/>
          </a:xfrm>
          <a:prstGeom prst="ellipse">
            <a:avLst/>
          </a:prstGeom>
          <a:solidFill>
            <a:srgbClr val="D97612"/>
          </a:solidFill>
          <a:ln w="12700">
            <a:solidFill>
              <a:srgbClr val="D97612"/>
            </a:solidFill>
            <a:prstDash val="solid"/>
          </a:ln>
        </p:spPr>
      </p:sp>
      <p:sp>
        <p:nvSpPr>
          <p:cNvPr id="12" name="Text 10"/>
          <p:cNvSpPr/>
          <p:nvPr/>
        </p:nvSpPr>
        <p:spPr>
          <a:xfrm>
            <a:off x="2558720" y="46268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3" name="Shape 11"/>
          <p:cNvSpPr/>
          <p:nvPr/>
        </p:nvSpPr>
        <p:spPr>
          <a:xfrm>
            <a:off x="3399968" y="1883664"/>
            <a:ext cx="2558720" cy="3200400"/>
          </a:xfrm>
          <a:prstGeom prst="roundRect">
            <a:avLst>
              <a:gd name="adj" fmla="val 2502"/>
            </a:avLst>
          </a:prstGeom>
          <a:solidFill>
            <a:srgbClr val="F2F4F6"/>
          </a:solidFill>
          <a:ln w="12700">
            <a:solidFill>
              <a:srgbClr val="F2F4F6"/>
            </a:solidFill>
            <a:prstDash val="solid"/>
          </a:ln>
        </p:spPr>
      </p:sp>
      <p:sp>
        <p:nvSpPr>
          <p:cNvPr id="14" name="Text 12"/>
          <p:cNvSpPr/>
          <p:nvPr/>
        </p:nvSpPr>
        <p:spPr>
          <a:xfrm>
            <a:off x="3656000" y="2084832"/>
            <a:ext cx="2046656" cy="292608"/>
          </a:xfrm>
          <a:prstGeom prst="rect">
            <a:avLst/>
          </a:prstGeom>
          <a:noFill/>
          <a:ln/>
        </p:spPr>
        <p:txBody>
          <a:bodyPr wrap="square" lIns="0" tIns="0" rIns="0" bIns="0" rtlCol="0" anchor="ctr"/>
          <a:lstStyle/>
          <a:p>
            <a:pPr indent="0" marL="0">
              <a:buNone/>
            </a:pPr>
            <a:r>
              <a:rPr lang="en-US" sz="1050" b="1" spc="120" kern="0" dirty="0">
                <a:solidFill>
                  <a:srgbClr val="667382"/>
                </a:solidFill>
                <a:latin typeface="Meiryo" pitchFamily="34" charset="0"/>
                <a:ea typeface="Meiryo" pitchFamily="34" charset="-122"/>
                <a:cs typeface="Meiryo" pitchFamily="34" charset="-120"/>
              </a:rPr>
              <a:t>WEEK 2</a:t>
            </a:r>
            <a:endParaRPr lang="en-US" sz="1050" dirty="0"/>
          </a:p>
        </p:txBody>
      </p:sp>
      <p:sp>
        <p:nvSpPr>
          <p:cNvPr id="15" name="Text 13"/>
          <p:cNvSpPr/>
          <p:nvPr/>
        </p:nvSpPr>
        <p:spPr>
          <a:xfrm>
            <a:off x="3656000" y="2432304"/>
            <a:ext cx="2046656" cy="457200"/>
          </a:xfrm>
          <a:prstGeom prst="rect">
            <a:avLst/>
          </a:prstGeom>
          <a:noFill/>
          <a:ln/>
        </p:spPr>
        <p:txBody>
          <a:bodyPr wrap="square" lIns="0" tIns="0" rIns="0" bIns="0" rtlCol="0" anchor="ctr"/>
          <a:lstStyle/>
          <a:p>
            <a:pPr indent="0" marL="0">
              <a:buNone/>
            </a:pPr>
            <a:r>
              <a:rPr lang="en-US" sz="2000" b="1" dirty="0">
                <a:solidFill>
                  <a:srgbClr val="1B2733"/>
                </a:solidFill>
                <a:latin typeface="Meiryo" pitchFamily="34" charset="0"/>
                <a:ea typeface="Meiryo" pitchFamily="34" charset="-122"/>
                <a:cs typeface="Meiryo" pitchFamily="34" charset="-120"/>
              </a:rPr>
              <a:t>つなぐ</a:t>
            </a:r>
            <a:endParaRPr lang="en-US" sz="2000" dirty="0"/>
          </a:p>
        </p:txBody>
      </p:sp>
      <p:sp>
        <p:nvSpPr>
          <p:cNvPr id="16" name="Text 14"/>
          <p:cNvSpPr/>
          <p:nvPr/>
        </p:nvSpPr>
        <p:spPr>
          <a:xfrm>
            <a:off x="3656000" y="3035808"/>
            <a:ext cx="2046656" cy="1828800"/>
          </a:xfrm>
          <a:prstGeom prst="rect">
            <a:avLst/>
          </a:prstGeom>
          <a:noFill/>
          <a:ln/>
        </p:spPr>
        <p:txBody>
          <a:bodyPr wrap="square" lIns="0" tIns="0" rIns="0" bIns="0" rtlCol="0" anchor="t"/>
          <a:lstStyle/>
          <a:p>
            <a:pPr indent="0" marL="0">
              <a:lnSpc>
                <a:spcPts val="1900"/>
              </a:lnSpc>
              <a:buNone/>
            </a:pPr>
            <a:r>
              <a:rPr lang="en-US" sz="1150" dirty="0">
                <a:solidFill>
                  <a:srgbClr val="667382"/>
                </a:solidFill>
                <a:latin typeface="Meiryo" pitchFamily="34" charset="0"/>
                <a:ea typeface="Meiryo" pitchFamily="34" charset="-122"/>
                <a:cs typeface="Meiryo" pitchFamily="34" charset="-120"/>
              </a:rPr>
              <a:t>その業務に必要な記録を1つだけ、AIから読める形にする。全部やらないのがコツです。</a:t>
            </a:r>
            <a:endParaRPr lang="en-US" sz="1150" dirty="0"/>
          </a:p>
        </p:txBody>
      </p:sp>
      <p:sp>
        <p:nvSpPr>
          <p:cNvPr id="17" name="Shape 15"/>
          <p:cNvSpPr/>
          <p:nvPr/>
        </p:nvSpPr>
        <p:spPr>
          <a:xfrm>
            <a:off x="5391760" y="4626864"/>
            <a:ext cx="329184" cy="329184"/>
          </a:xfrm>
          <a:prstGeom prst="ellipse">
            <a:avLst/>
          </a:prstGeom>
          <a:solidFill>
            <a:srgbClr val="223140"/>
          </a:solidFill>
          <a:ln w="12700">
            <a:solidFill>
              <a:srgbClr val="223140"/>
            </a:solidFill>
            <a:prstDash val="solid"/>
          </a:ln>
        </p:spPr>
      </p:sp>
      <p:sp>
        <p:nvSpPr>
          <p:cNvPr id="18" name="Text 16"/>
          <p:cNvSpPr/>
          <p:nvPr/>
        </p:nvSpPr>
        <p:spPr>
          <a:xfrm>
            <a:off x="5391760" y="46268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9" name="Shape 17"/>
          <p:cNvSpPr/>
          <p:nvPr/>
        </p:nvSpPr>
        <p:spPr>
          <a:xfrm>
            <a:off x="6233008" y="1883664"/>
            <a:ext cx="2558720" cy="3200400"/>
          </a:xfrm>
          <a:prstGeom prst="roundRect">
            <a:avLst>
              <a:gd name="adj" fmla="val 2502"/>
            </a:avLst>
          </a:prstGeom>
          <a:solidFill>
            <a:srgbClr val="F2F4F6"/>
          </a:solidFill>
          <a:ln w="12700">
            <a:solidFill>
              <a:srgbClr val="F2F4F6"/>
            </a:solidFill>
            <a:prstDash val="solid"/>
          </a:ln>
        </p:spPr>
      </p:sp>
      <p:sp>
        <p:nvSpPr>
          <p:cNvPr id="20" name="Text 18"/>
          <p:cNvSpPr/>
          <p:nvPr/>
        </p:nvSpPr>
        <p:spPr>
          <a:xfrm>
            <a:off x="6489040" y="2084832"/>
            <a:ext cx="2046656" cy="292608"/>
          </a:xfrm>
          <a:prstGeom prst="rect">
            <a:avLst/>
          </a:prstGeom>
          <a:noFill/>
          <a:ln/>
        </p:spPr>
        <p:txBody>
          <a:bodyPr wrap="square" lIns="0" tIns="0" rIns="0" bIns="0" rtlCol="0" anchor="ctr"/>
          <a:lstStyle/>
          <a:p>
            <a:pPr indent="0" marL="0">
              <a:buNone/>
            </a:pPr>
            <a:r>
              <a:rPr lang="en-US" sz="1050" b="1" spc="120" kern="0" dirty="0">
                <a:solidFill>
                  <a:srgbClr val="667382"/>
                </a:solidFill>
                <a:latin typeface="Meiryo" pitchFamily="34" charset="0"/>
                <a:ea typeface="Meiryo" pitchFamily="34" charset="-122"/>
                <a:cs typeface="Meiryo" pitchFamily="34" charset="-120"/>
              </a:rPr>
              <a:t>WEEK 3</a:t>
            </a:r>
            <a:endParaRPr lang="en-US" sz="1050" dirty="0"/>
          </a:p>
        </p:txBody>
      </p:sp>
      <p:sp>
        <p:nvSpPr>
          <p:cNvPr id="21" name="Text 19"/>
          <p:cNvSpPr/>
          <p:nvPr/>
        </p:nvSpPr>
        <p:spPr>
          <a:xfrm>
            <a:off x="6489040" y="2432304"/>
            <a:ext cx="2046656" cy="457200"/>
          </a:xfrm>
          <a:prstGeom prst="rect">
            <a:avLst/>
          </a:prstGeom>
          <a:noFill/>
          <a:ln/>
        </p:spPr>
        <p:txBody>
          <a:bodyPr wrap="square" lIns="0" tIns="0" rIns="0" bIns="0" rtlCol="0" anchor="ctr"/>
          <a:lstStyle/>
          <a:p>
            <a:pPr indent="0" marL="0">
              <a:buNone/>
            </a:pPr>
            <a:r>
              <a:rPr lang="en-US" sz="2000" b="1" dirty="0">
                <a:solidFill>
                  <a:srgbClr val="1B2733"/>
                </a:solidFill>
                <a:latin typeface="Meiryo" pitchFamily="34" charset="0"/>
                <a:ea typeface="Meiryo" pitchFamily="34" charset="-122"/>
                <a:cs typeface="Meiryo" pitchFamily="34" charset="-120"/>
              </a:rPr>
              <a:t>回す</a:t>
            </a:r>
            <a:endParaRPr lang="en-US" sz="2000" dirty="0"/>
          </a:p>
        </p:txBody>
      </p:sp>
      <p:sp>
        <p:nvSpPr>
          <p:cNvPr id="22" name="Text 20"/>
          <p:cNvSpPr/>
          <p:nvPr/>
        </p:nvSpPr>
        <p:spPr>
          <a:xfrm>
            <a:off x="6489040" y="3035808"/>
            <a:ext cx="2046656" cy="1828800"/>
          </a:xfrm>
          <a:prstGeom prst="rect">
            <a:avLst/>
          </a:prstGeom>
          <a:noFill/>
          <a:ln/>
        </p:spPr>
        <p:txBody>
          <a:bodyPr wrap="square" lIns="0" tIns="0" rIns="0" bIns="0" rtlCol="0" anchor="t"/>
          <a:lstStyle/>
          <a:p>
            <a:pPr indent="0" marL="0">
              <a:lnSpc>
                <a:spcPts val="1900"/>
              </a:lnSpc>
              <a:buNone/>
            </a:pPr>
            <a:r>
              <a:rPr lang="en-US" sz="1150" dirty="0">
                <a:solidFill>
                  <a:srgbClr val="667382"/>
                </a:solidFill>
                <a:latin typeface="Meiryo" pitchFamily="34" charset="0"/>
                <a:ea typeface="Meiryo" pitchFamily="34" charset="-122"/>
                <a:cs typeface="Meiryo" pitchFamily="34" charset="-120"/>
              </a:rPr>
              <a:t>担当2〜3名で実際の業務に使う。うまくいった聞き方を、手順書1枚にまとめる。</a:t>
            </a:r>
            <a:endParaRPr lang="en-US" sz="1150" dirty="0"/>
          </a:p>
        </p:txBody>
      </p:sp>
      <p:sp>
        <p:nvSpPr>
          <p:cNvPr id="23" name="Shape 21"/>
          <p:cNvSpPr/>
          <p:nvPr/>
        </p:nvSpPr>
        <p:spPr>
          <a:xfrm>
            <a:off x="8224799" y="4626864"/>
            <a:ext cx="329184" cy="329184"/>
          </a:xfrm>
          <a:prstGeom prst="ellipse">
            <a:avLst/>
          </a:prstGeom>
          <a:solidFill>
            <a:srgbClr val="223140"/>
          </a:solidFill>
          <a:ln w="12700">
            <a:solidFill>
              <a:srgbClr val="223140"/>
            </a:solidFill>
            <a:prstDash val="solid"/>
          </a:ln>
        </p:spPr>
      </p:sp>
      <p:sp>
        <p:nvSpPr>
          <p:cNvPr id="24" name="Text 22"/>
          <p:cNvSpPr/>
          <p:nvPr/>
        </p:nvSpPr>
        <p:spPr>
          <a:xfrm>
            <a:off x="8224799" y="46268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5" name="Shape 23"/>
          <p:cNvSpPr/>
          <p:nvPr/>
        </p:nvSpPr>
        <p:spPr>
          <a:xfrm>
            <a:off x="9066047" y="1883664"/>
            <a:ext cx="2558720" cy="3200400"/>
          </a:xfrm>
          <a:prstGeom prst="roundRect">
            <a:avLst>
              <a:gd name="adj" fmla="val 2502"/>
            </a:avLst>
          </a:prstGeom>
          <a:solidFill>
            <a:srgbClr val="F2F4F6"/>
          </a:solidFill>
          <a:ln w="12700">
            <a:solidFill>
              <a:srgbClr val="F2F4F6"/>
            </a:solidFill>
            <a:prstDash val="solid"/>
          </a:ln>
        </p:spPr>
      </p:sp>
      <p:sp>
        <p:nvSpPr>
          <p:cNvPr id="26" name="Text 24"/>
          <p:cNvSpPr/>
          <p:nvPr/>
        </p:nvSpPr>
        <p:spPr>
          <a:xfrm>
            <a:off x="9322079" y="2084832"/>
            <a:ext cx="2046656" cy="292608"/>
          </a:xfrm>
          <a:prstGeom prst="rect">
            <a:avLst/>
          </a:prstGeom>
          <a:noFill/>
          <a:ln/>
        </p:spPr>
        <p:txBody>
          <a:bodyPr wrap="square" lIns="0" tIns="0" rIns="0" bIns="0" rtlCol="0" anchor="ctr"/>
          <a:lstStyle/>
          <a:p>
            <a:pPr indent="0" marL="0">
              <a:buNone/>
            </a:pPr>
            <a:r>
              <a:rPr lang="en-US" sz="1050" b="1" spc="120" kern="0" dirty="0">
                <a:solidFill>
                  <a:srgbClr val="667382"/>
                </a:solidFill>
                <a:latin typeface="Meiryo" pitchFamily="34" charset="0"/>
                <a:ea typeface="Meiryo" pitchFamily="34" charset="-122"/>
                <a:cs typeface="Meiryo" pitchFamily="34" charset="-120"/>
              </a:rPr>
              <a:t>WEEK 4</a:t>
            </a:r>
            <a:endParaRPr lang="en-US" sz="1050" dirty="0"/>
          </a:p>
        </p:txBody>
      </p:sp>
      <p:sp>
        <p:nvSpPr>
          <p:cNvPr id="27" name="Text 25"/>
          <p:cNvSpPr/>
          <p:nvPr/>
        </p:nvSpPr>
        <p:spPr>
          <a:xfrm>
            <a:off x="9322079" y="2432304"/>
            <a:ext cx="2046656" cy="457200"/>
          </a:xfrm>
          <a:prstGeom prst="rect">
            <a:avLst/>
          </a:prstGeom>
          <a:noFill/>
          <a:ln/>
        </p:spPr>
        <p:txBody>
          <a:bodyPr wrap="square" lIns="0" tIns="0" rIns="0" bIns="0" rtlCol="0" anchor="ctr"/>
          <a:lstStyle/>
          <a:p>
            <a:pPr indent="0" marL="0">
              <a:buNone/>
            </a:pPr>
            <a:r>
              <a:rPr lang="en-US" sz="2000" b="1" dirty="0">
                <a:solidFill>
                  <a:srgbClr val="1B2733"/>
                </a:solidFill>
                <a:latin typeface="Meiryo" pitchFamily="34" charset="0"/>
                <a:ea typeface="Meiryo" pitchFamily="34" charset="-122"/>
                <a:cs typeface="Meiryo" pitchFamily="34" charset="-120"/>
              </a:rPr>
              <a:t>測る</a:t>
            </a:r>
            <a:endParaRPr lang="en-US" sz="2000" dirty="0"/>
          </a:p>
        </p:txBody>
      </p:sp>
      <p:sp>
        <p:nvSpPr>
          <p:cNvPr id="28" name="Text 26"/>
          <p:cNvSpPr/>
          <p:nvPr/>
        </p:nvSpPr>
        <p:spPr>
          <a:xfrm>
            <a:off x="9322079" y="3035808"/>
            <a:ext cx="2046656" cy="1828800"/>
          </a:xfrm>
          <a:prstGeom prst="rect">
            <a:avLst/>
          </a:prstGeom>
          <a:noFill/>
          <a:ln/>
        </p:spPr>
        <p:txBody>
          <a:bodyPr wrap="square" lIns="0" tIns="0" rIns="0" bIns="0" rtlCol="0" anchor="t"/>
          <a:lstStyle/>
          <a:p>
            <a:pPr indent="0" marL="0">
              <a:lnSpc>
                <a:spcPts val="1900"/>
              </a:lnSpc>
              <a:buNone/>
            </a:pPr>
            <a:r>
              <a:rPr lang="en-US" sz="1150" dirty="0">
                <a:solidFill>
                  <a:srgbClr val="667382"/>
                </a:solidFill>
                <a:latin typeface="Meiryo" pitchFamily="34" charset="0"/>
                <a:ea typeface="Meiryo" pitchFamily="34" charset="-122"/>
                <a:cs typeface="Meiryo" pitchFamily="34" charset="-120"/>
              </a:rPr>
              <a:t>同じ指標で “やった後の数字” を測り、続ける／広げる／やめるを決める。</a:t>
            </a:r>
            <a:endParaRPr lang="en-US" sz="1150" dirty="0"/>
          </a:p>
        </p:txBody>
      </p:sp>
      <p:sp>
        <p:nvSpPr>
          <p:cNvPr id="29" name="Shape 27"/>
          <p:cNvSpPr/>
          <p:nvPr/>
        </p:nvSpPr>
        <p:spPr>
          <a:xfrm>
            <a:off x="11057839" y="4626864"/>
            <a:ext cx="329184" cy="329184"/>
          </a:xfrm>
          <a:prstGeom prst="ellipse">
            <a:avLst/>
          </a:prstGeom>
          <a:solidFill>
            <a:srgbClr val="223140"/>
          </a:solidFill>
          <a:ln w="12700">
            <a:solidFill>
              <a:srgbClr val="223140"/>
            </a:solidFill>
            <a:prstDash val="solid"/>
          </a:ln>
        </p:spPr>
      </p:sp>
      <p:sp>
        <p:nvSpPr>
          <p:cNvPr id="30" name="Text 28"/>
          <p:cNvSpPr/>
          <p:nvPr/>
        </p:nvSpPr>
        <p:spPr>
          <a:xfrm>
            <a:off x="11057839" y="4626864"/>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4</a:t>
            </a:r>
            <a:endParaRPr lang="en-US" sz="1250" dirty="0"/>
          </a:p>
        </p:txBody>
      </p:sp>
      <p:sp>
        <p:nvSpPr>
          <p:cNvPr id="31" name="Shape 29"/>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32" name="Shape 30"/>
          <p:cNvSpPr/>
          <p:nvPr/>
        </p:nvSpPr>
        <p:spPr>
          <a:xfrm>
            <a:off x="804672" y="5760720"/>
            <a:ext cx="219456" cy="219456"/>
          </a:xfrm>
          <a:prstGeom prst="ellipse">
            <a:avLst/>
          </a:prstGeom>
          <a:solidFill>
            <a:srgbClr val="A85705"/>
          </a:solidFill>
          <a:ln w="12700">
            <a:solidFill>
              <a:srgbClr val="A85705"/>
            </a:solidFill>
            <a:prstDash val="solid"/>
          </a:ln>
        </p:spPr>
      </p:sp>
      <p:sp>
        <p:nvSpPr>
          <p:cNvPr id="33" name="Text 31"/>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最大の落とし穴は、WEEK 1 を飛ばすことです。“やる前の数字”を測らないと、何をやっても評価できません。</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04</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よくあるつまずき、5つ</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いずれも、始める前に決めておけば避けられます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27</a:t>
            </a:r>
            <a:endParaRPr lang="en-US" sz="850" dirty="0"/>
          </a:p>
        </p:txBody>
      </p:sp>
      <p:sp>
        <p:nvSpPr>
          <p:cNvPr id="7" name="Shape 5"/>
          <p:cNvSpPr/>
          <p:nvPr/>
        </p:nvSpPr>
        <p:spPr>
          <a:xfrm>
            <a:off x="566928" y="1719072"/>
            <a:ext cx="11057839" cy="640080"/>
          </a:xfrm>
          <a:prstGeom prst="roundRect">
            <a:avLst>
              <a:gd name="adj" fmla="val 10000"/>
            </a:avLst>
          </a:prstGeom>
          <a:solidFill>
            <a:srgbClr val="F2F4F6"/>
          </a:solidFill>
          <a:ln w="12700">
            <a:solidFill>
              <a:srgbClr val="F2F4F6"/>
            </a:solidFill>
            <a:prstDash val="solid"/>
          </a:ln>
        </p:spPr>
      </p:sp>
      <p:sp>
        <p:nvSpPr>
          <p:cNvPr id="8" name="Shape 6"/>
          <p:cNvSpPr/>
          <p:nvPr/>
        </p:nvSpPr>
        <p:spPr>
          <a:xfrm>
            <a:off x="804672" y="1865376"/>
            <a:ext cx="347472" cy="347472"/>
          </a:xfrm>
          <a:prstGeom prst="ellipse">
            <a:avLst/>
          </a:prstGeom>
          <a:solidFill>
            <a:srgbClr val="223140"/>
          </a:solidFill>
          <a:ln w="12700">
            <a:solidFill>
              <a:srgbClr val="223140"/>
            </a:solidFill>
            <a:prstDash val="solid"/>
          </a:ln>
        </p:spPr>
      </p:sp>
      <p:sp>
        <p:nvSpPr>
          <p:cNvPr id="9" name="Text 7"/>
          <p:cNvSpPr/>
          <p:nvPr/>
        </p:nvSpPr>
        <p:spPr>
          <a:xfrm>
            <a:off x="804672" y="1865376"/>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0" name="Text 8"/>
          <p:cNvSpPr/>
          <p:nvPr/>
        </p:nvSpPr>
        <p:spPr>
          <a:xfrm>
            <a:off x="1298448" y="1719072"/>
            <a:ext cx="4297680" cy="64008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全社一斉に始めてしまう</a:t>
            </a:r>
            <a:endParaRPr lang="en-US" sz="1250" dirty="0"/>
          </a:p>
        </p:txBody>
      </p:sp>
      <p:sp>
        <p:nvSpPr>
          <p:cNvPr id="11" name="Text 9"/>
          <p:cNvSpPr/>
          <p:nvPr/>
        </p:nvSpPr>
        <p:spPr>
          <a:xfrm>
            <a:off x="5687568" y="1719072"/>
            <a:ext cx="457200" cy="640080"/>
          </a:xfrm>
          <a:prstGeom prst="rect">
            <a:avLst/>
          </a:prstGeom>
          <a:noFill/>
          <a:ln/>
        </p:spPr>
        <p:txBody>
          <a:bodyPr wrap="square" lIns="0" tIns="0" rIns="0" bIns="0" rtlCol="0" anchor="ctr"/>
          <a:lstStyle/>
          <a:p>
            <a:pPr algn="ctr" indent="0" marL="0">
              <a:buNone/>
            </a:pPr>
            <a:r>
              <a:rPr lang="en-US" sz="1300" b="1" dirty="0">
                <a:solidFill>
                  <a:srgbClr val="D97612"/>
                </a:solidFill>
                <a:latin typeface="Meiryo" pitchFamily="34" charset="0"/>
                <a:ea typeface="Meiryo" pitchFamily="34" charset="-122"/>
                <a:cs typeface="Meiryo" pitchFamily="34" charset="-120"/>
              </a:rPr>
              <a:t>→</a:t>
            </a:r>
            <a:endParaRPr lang="en-US" sz="1300" dirty="0"/>
          </a:p>
        </p:txBody>
      </p:sp>
      <p:sp>
        <p:nvSpPr>
          <p:cNvPr id="12" name="Text 10"/>
          <p:cNvSpPr/>
          <p:nvPr/>
        </p:nvSpPr>
        <p:spPr>
          <a:xfrm>
            <a:off x="6236208" y="1719072"/>
            <a:ext cx="5114239" cy="640080"/>
          </a:xfrm>
          <a:prstGeom prst="rect">
            <a:avLst/>
          </a:prstGeom>
          <a:noFill/>
          <a:ln/>
        </p:spPr>
        <p:txBody>
          <a:bodyPr wrap="square" lIns="0" tIns="0" rIns="0" bIns="0" rtlCol="0" anchor="ctr"/>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対象を1業務に絞る。成功例を1つ作ってから広げる。</a:t>
            </a:r>
            <a:endParaRPr lang="en-US" sz="1150" dirty="0"/>
          </a:p>
        </p:txBody>
      </p:sp>
      <p:sp>
        <p:nvSpPr>
          <p:cNvPr id="13" name="Shape 11"/>
          <p:cNvSpPr/>
          <p:nvPr/>
        </p:nvSpPr>
        <p:spPr>
          <a:xfrm>
            <a:off x="566928" y="2468880"/>
            <a:ext cx="11057839" cy="640080"/>
          </a:xfrm>
          <a:prstGeom prst="roundRect">
            <a:avLst>
              <a:gd name="adj" fmla="val 10000"/>
            </a:avLst>
          </a:prstGeom>
          <a:solidFill>
            <a:srgbClr val="FFFFFF"/>
          </a:solidFill>
          <a:ln w="12700">
            <a:solidFill>
              <a:srgbClr val="E4E9ED"/>
            </a:solidFill>
            <a:prstDash val="solid"/>
          </a:ln>
        </p:spPr>
      </p:sp>
      <p:sp>
        <p:nvSpPr>
          <p:cNvPr id="14" name="Shape 12"/>
          <p:cNvSpPr/>
          <p:nvPr/>
        </p:nvSpPr>
        <p:spPr>
          <a:xfrm>
            <a:off x="804672" y="2615184"/>
            <a:ext cx="347472" cy="347472"/>
          </a:xfrm>
          <a:prstGeom prst="ellipse">
            <a:avLst/>
          </a:prstGeom>
          <a:solidFill>
            <a:srgbClr val="223140"/>
          </a:solidFill>
          <a:ln w="12700">
            <a:solidFill>
              <a:srgbClr val="223140"/>
            </a:solidFill>
            <a:prstDash val="solid"/>
          </a:ln>
        </p:spPr>
      </p:sp>
      <p:sp>
        <p:nvSpPr>
          <p:cNvPr id="15" name="Text 13"/>
          <p:cNvSpPr/>
          <p:nvPr/>
        </p:nvSpPr>
        <p:spPr>
          <a:xfrm>
            <a:off x="804672" y="261518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6" name="Text 14"/>
          <p:cNvSpPr/>
          <p:nvPr/>
        </p:nvSpPr>
        <p:spPr>
          <a:xfrm>
            <a:off x="1298448" y="2468880"/>
            <a:ext cx="4297680" cy="64008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“やる前の数字”を測っていない</a:t>
            </a:r>
            <a:endParaRPr lang="en-US" sz="1250" dirty="0"/>
          </a:p>
        </p:txBody>
      </p:sp>
      <p:sp>
        <p:nvSpPr>
          <p:cNvPr id="17" name="Text 15"/>
          <p:cNvSpPr/>
          <p:nvPr/>
        </p:nvSpPr>
        <p:spPr>
          <a:xfrm>
            <a:off x="5687568" y="2468880"/>
            <a:ext cx="457200" cy="640080"/>
          </a:xfrm>
          <a:prstGeom prst="rect">
            <a:avLst/>
          </a:prstGeom>
          <a:noFill/>
          <a:ln/>
        </p:spPr>
        <p:txBody>
          <a:bodyPr wrap="square" lIns="0" tIns="0" rIns="0" bIns="0" rtlCol="0" anchor="ctr"/>
          <a:lstStyle/>
          <a:p>
            <a:pPr algn="ctr" indent="0" marL="0">
              <a:buNone/>
            </a:pPr>
            <a:r>
              <a:rPr lang="en-US" sz="1300" b="1" dirty="0">
                <a:solidFill>
                  <a:srgbClr val="D97612"/>
                </a:solidFill>
                <a:latin typeface="Meiryo" pitchFamily="34" charset="0"/>
                <a:ea typeface="Meiryo" pitchFamily="34" charset="-122"/>
                <a:cs typeface="Meiryo" pitchFamily="34" charset="-120"/>
              </a:rPr>
              <a:t>→</a:t>
            </a:r>
            <a:endParaRPr lang="en-US" sz="1300" dirty="0"/>
          </a:p>
        </p:txBody>
      </p:sp>
      <p:sp>
        <p:nvSpPr>
          <p:cNvPr id="18" name="Text 16"/>
          <p:cNvSpPr/>
          <p:nvPr/>
        </p:nvSpPr>
        <p:spPr>
          <a:xfrm>
            <a:off x="6236208" y="2468880"/>
            <a:ext cx="5114239" cy="640080"/>
          </a:xfrm>
          <a:prstGeom prst="rect">
            <a:avLst/>
          </a:prstGeom>
          <a:noFill/>
          <a:ln/>
        </p:spPr>
        <p:txBody>
          <a:bodyPr wrap="square" lIns="0" tIns="0" rIns="0" bIns="0" rtlCol="0" anchor="ctr"/>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着手前に必ず現状の所要時間を記録する。ここが評価の基準になる。</a:t>
            </a:r>
            <a:endParaRPr lang="en-US" sz="1150" dirty="0"/>
          </a:p>
        </p:txBody>
      </p:sp>
      <p:sp>
        <p:nvSpPr>
          <p:cNvPr id="19" name="Shape 17"/>
          <p:cNvSpPr/>
          <p:nvPr/>
        </p:nvSpPr>
        <p:spPr>
          <a:xfrm>
            <a:off x="566928" y="3218688"/>
            <a:ext cx="11057839" cy="640080"/>
          </a:xfrm>
          <a:prstGeom prst="roundRect">
            <a:avLst>
              <a:gd name="adj" fmla="val 10000"/>
            </a:avLst>
          </a:prstGeom>
          <a:solidFill>
            <a:srgbClr val="F2F4F6"/>
          </a:solidFill>
          <a:ln w="12700">
            <a:solidFill>
              <a:srgbClr val="F2F4F6"/>
            </a:solidFill>
            <a:prstDash val="solid"/>
          </a:ln>
        </p:spPr>
      </p:sp>
      <p:sp>
        <p:nvSpPr>
          <p:cNvPr id="20" name="Shape 18"/>
          <p:cNvSpPr/>
          <p:nvPr/>
        </p:nvSpPr>
        <p:spPr>
          <a:xfrm>
            <a:off x="804672" y="3364992"/>
            <a:ext cx="347472" cy="347472"/>
          </a:xfrm>
          <a:prstGeom prst="ellipse">
            <a:avLst/>
          </a:prstGeom>
          <a:solidFill>
            <a:srgbClr val="223140"/>
          </a:solidFill>
          <a:ln w="12700">
            <a:solidFill>
              <a:srgbClr val="223140"/>
            </a:solidFill>
            <a:prstDash val="solid"/>
          </a:ln>
        </p:spPr>
      </p:sp>
      <p:sp>
        <p:nvSpPr>
          <p:cNvPr id="21" name="Text 19"/>
          <p:cNvSpPr/>
          <p:nvPr/>
        </p:nvSpPr>
        <p:spPr>
          <a:xfrm>
            <a:off x="804672" y="3364992"/>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2" name="Text 20"/>
          <p:cNvSpPr/>
          <p:nvPr/>
        </p:nvSpPr>
        <p:spPr>
          <a:xfrm>
            <a:off x="1298448" y="3218688"/>
            <a:ext cx="4297680" cy="64008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ツール選定から始めてしまう</a:t>
            </a:r>
            <a:endParaRPr lang="en-US" sz="1250" dirty="0"/>
          </a:p>
        </p:txBody>
      </p:sp>
      <p:sp>
        <p:nvSpPr>
          <p:cNvPr id="23" name="Text 21"/>
          <p:cNvSpPr/>
          <p:nvPr/>
        </p:nvSpPr>
        <p:spPr>
          <a:xfrm>
            <a:off x="5687568" y="3218688"/>
            <a:ext cx="457200" cy="640080"/>
          </a:xfrm>
          <a:prstGeom prst="rect">
            <a:avLst/>
          </a:prstGeom>
          <a:noFill/>
          <a:ln/>
        </p:spPr>
        <p:txBody>
          <a:bodyPr wrap="square" lIns="0" tIns="0" rIns="0" bIns="0" rtlCol="0" anchor="ctr"/>
          <a:lstStyle/>
          <a:p>
            <a:pPr algn="ctr" indent="0" marL="0">
              <a:buNone/>
            </a:pPr>
            <a:r>
              <a:rPr lang="en-US" sz="1300" b="1" dirty="0">
                <a:solidFill>
                  <a:srgbClr val="D97612"/>
                </a:solidFill>
                <a:latin typeface="Meiryo" pitchFamily="34" charset="0"/>
                <a:ea typeface="Meiryo" pitchFamily="34" charset="-122"/>
                <a:cs typeface="Meiryo" pitchFamily="34" charset="-120"/>
              </a:rPr>
              <a:t>→</a:t>
            </a:r>
            <a:endParaRPr lang="en-US" sz="1300" dirty="0"/>
          </a:p>
        </p:txBody>
      </p:sp>
      <p:sp>
        <p:nvSpPr>
          <p:cNvPr id="24" name="Text 22"/>
          <p:cNvSpPr/>
          <p:nvPr/>
        </p:nvSpPr>
        <p:spPr>
          <a:xfrm>
            <a:off x="6236208" y="3218688"/>
            <a:ext cx="5114239" cy="640080"/>
          </a:xfrm>
          <a:prstGeom prst="rect">
            <a:avLst/>
          </a:prstGeom>
          <a:noFill/>
          <a:ln/>
        </p:spPr>
        <p:txBody>
          <a:bodyPr wrap="square" lIns="0" tIns="0" rIns="0" bIns="0" rtlCol="0" anchor="ctr"/>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記録の棚卸しから始める。ツールは最後に決めれば間に合う。</a:t>
            </a:r>
            <a:endParaRPr lang="en-US" sz="1150" dirty="0"/>
          </a:p>
        </p:txBody>
      </p:sp>
      <p:sp>
        <p:nvSpPr>
          <p:cNvPr id="25" name="Shape 23"/>
          <p:cNvSpPr/>
          <p:nvPr/>
        </p:nvSpPr>
        <p:spPr>
          <a:xfrm>
            <a:off x="566928" y="3968496"/>
            <a:ext cx="11057839" cy="640080"/>
          </a:xfrm>
          <a:prstGeom prst="roundRect">
            <a:avLst>
              <a:gd name="adj" fmla="val 10000"/>
            </a:avLst>
          </a:prstGeom>
          <a:solidFill>
            <a:srgbClr val="FFFFFF"/>
          </a:solidFill>
          <a:ln w="12700">
            <a:solidFill>
              <a:srgbClr val="E4E9ED"/>
            </a:solidFill>
            <a:prstDash val="solid"/>
          </a:ln>
        </p:spPr>
      </p:sp>
      <p:sp>
        <p:nvSpPr>
          <p:cNvPr id="26" name="Shape 24"/>
          <p:cNvSpPr/>
          <p:nvPr/>
        </p:nvSpPr>
        <p:spPr>
          <a:xfrm>
            <a:off x="804672" y="4114800"/>
            <a:ext cx="347472" cy="347472"/>
          </a:xfrm>
          <a:prstGeom prst="ellipse">
            <a:avLst/>
          </a:prstGeom>
          <a:solidFill>
            <a:srgbClr val="223140"/>
          </a:solidFill>
          <a:ln w="12700">
            <a:solidFill>
              <a:srgbClr val="223140"/>
            </a:solidFill>
            <a:prstDash val="solid"/>
          </a:ln>
        </p:spPr>
      </p:sp>
      <p:sp>
        <p:nvSpPr>
          <p:cNvPr id="27" name="Text 25"/>
          <p:cNvSpPr/>
          <p:nvPr/>
        </p:nvSpPr>
        <p:spPr>
          <a:xfrm>
            <a:off x="804672" y="4114800"/>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4</a:t>
            </a:r>
            <a:endParaRPr lang="en-US" sz="1250" dirty="0"/>
          </a:p>
        </p:txBody>
      </p:sp>
      <p:sp>
        <p:nvSpPr>
          <p:cNvPr id="28" name="Text 26"/>
          <p:cNvSpPr/>
          <p:nvPr/>
        </p:nvSpPr>
        <p:spPr>
          <a:xfrm>
            <a:off x="1298448" y="3968496"/>
            <a:ext cx="4297680" cy="64008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情報システム部門に丸投げする</a:t>
            </a:r>
            <a:endParaRPr lang="en-US" sz="1250" dirty="0"/>
          </a:p>
        </p:txBody>
      </p:sp>
      <p:sp>
        <p:nvSpPr>
          <p:cNvPr id="29" name="Text 27"/>
          <p:cNvSpPr/>
          <p:nvPr/>
        </p:nvSpPr>
        <p:spPr>
          <a:xfrm>
            <a:off x="5687568" y="3968496"/>
            <a:ext cx="457200" cy="640080"/>
          </a:xfrm>
          <a:prstGeom prst="rect">
            <a:avLst/>
          </a:prstGeom>
          <a:noFill/>
          <a:ln/>
        </p:spPr>
        <p:txBody>
          <a:bodyPr wrap="square" lIns="0" tIns="0" rIns="0" bIns="0" rtlCol="0" anchor="ctr"/>
          <a:lstStyle/>
          <a:p>
            <a:pPr algn="ctr" indent="0" marL="0">
              <a:buNone/>
            </a:pPr>
            <a:r>
              <a:rPr lang="en-US" sz="1300" b="1" dirty="0">
                <a:solidFill>
                  <a:srgbClr val="D97612"/>
                </a:solidFill>
                <a:latin typeface="Meiryo" pitchFamily="34" charset="0"/>
                <a:ea typeface="Meiryo" pitchFamily="34" charset="-122"/>
                <a:cs typeface="Meiryo" pitchFamily="34" charset="-120"/>
              </a:rPr>
              <a:t>→</a:t>
            </a:r>
            <a:endParaRPr lang="en-US" sz="1300" dirty="0"/>
          </a:p>
        </p:txBody>
      </p:sp>
      <p:sp>
        <p:nvSpPr>
          <p:cNvPr id="30" name="Text 28"/>
          <p:cNvSpPr/>
          <p:nvPr/>
        </p:nvSpPr>
        <p:spPr>
          <a:xfrm>
            <a:off x="6236208" y="3968496"/>
            <a:ext cx="5114239" cy="640080"/>
          </a:xfrm>
          <a:prstGeom prst="rect">
            <a:avLst/>
          </a:prstGeom>
          <a:noFill/>
          <a:ln/>
        </p:spPr>
        <p:txBody>
          <a:bodyPr wrap="square" lIns="0" tIns="0" rIns="0" bIns="0" rtlCol="0" anchor="ctr"/>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「どの業務に使うか」を決めるのは業務側の仕事。</a:t>
            </a:r>
            <a:endParaRPr lang="en-US" sz="1150" dirty="0"/>
          </a:p>
        </p:txBody>
      </p:sp>
      <p:sp>
        <p:nvSpPr>
          <p:cNvPr id="31" name="Shape 29"/>
          <p:cNvSpPr/>
          <p:nvPr/>
        </p:nvSpPr>
        <p:spPr>
          <a:xfrm>
            <a:off x="566928" y="4718304"/>
            <a:ext cx="11057839" cy="640080"/>
          </a:xfrm>
          <a:prstGeom prst="roundRect">
            <a:avLst>
              <a:gd name="adj" fmla="val 10000"/>
            </a:avLst>
          </a:prstGeom>
          <a:solidFill>
            <a:srgbClr val="F2F4F6"/>
          </a:solidFill>
          <a:ln w="12700">
            <a:solidFill>
              <a:srgbClr val="F2F4F6"/>
            </a:solidFill>
            <a:prstDash val="solid"/>
          </a:ln>
        </p:spPr>
      </p:sp>
      <p:sp>
        <p:nvSpPr>
          <p:cNvPr id="32" name="Shape 30"/>
          <p:cNvSpPr/>
          <p:nvPr/>
        </p:nvSpPr>
        <p:spPr>
          <a:xfrm>
            <a:off x="804672" y="4864608"/>
            <a:ext cx="347472" cy="347472"/>
          </a:xfrm>
          <a:prstGeom prst="ellipse">
            <a:avLst/>
          </a:prstGeom>
          <a:solidFill>
            <a:srgbClr val="223140"/>
          </a:solidFill>
          <a:ln w="12700">
            <a:solidFill>
              <a:srgbClr val="223140"/>
            </a:solidFill>
            <a:prstDash val="solid"/>
          </a:ln>
        </p:spPr>
      </p:sp>
      <p:sp>
        <p:nvSpPr>
          <p:cNvPr id="33" name="Text 31"/>
          <p:cNvSpPr/>
          <p:nvPr/>
        </p:nvSpPr>
        <p:spPr>
          <a:xfrm>
            <a:off x="804672" y="4864608"/>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5</a:t>
            </a:r>
            <a:endParaRPr lang="en-US" sz="1250" dirty="0"/>
          </a:p>
        </p:txBody>
      </p:sp>
      <p:sp>
        <p:nvSpPr>
          <p:cNvPr id="34" name="Text 32"/>
          <p:cNvSpPr/>
          <p:nvPr/>
        </p:nvSpPr>
        <p:spPr>
          <a:xfrm>
            <a:off x="1298448" y="4718304"/>
            <a:ext cx="4297680" cy="64008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効果を人件費削減だけで語る</a:t>
            </a:r>
            <a:endParaRPr lang="en-US" sz="1250" dirty="0"/>
          </a:p>
        </p:txBody>
      </p:sp>
      <p:sp>
        <p:nvSpPr>
          <p:cNvPr id="35" name="Text 33"/>
          <p:cNvSpPr/>
          <p:nvPr/>
        </p:nvSpPr>
        <p:spPr>
          <a:xfrm>
            <a:off x="5687568" y="4718304"/>
            <a:ext cx="457200" cy="640080"/>
          </a:xfrm>
          <a:prstGeom prst="rect">
            <a:avLst/>
          </a:prstGeom>
          <a:noFill/>
          <a:ln/>
        </p:spPr>
        <p:txBody>
          <a:bodyPr wrap="square" lIns="0" tIns="0" rIns="0" bIns="0" rtlCol="0" anchor="ctr"/>
          <a:lstStyle/>
          <a:p>
            <a:pPr algn="ctr" indent="0" marL="0">
              <a:buNone/>
            </a:pPr>
            <a:r>
              <a:rPr lang="en-US" sz="1300" b="1" dirty="0">
                <a:solidFill>
                  <a:srgbClr val="D97612"/>
                </a:solidFill>
                <a:latin typeface="Meiryo" pitchFamily="34" charset="0"/>
                <a:ea typeface="Meiryo" pitchFamily="34" charset="-122"/>
                <a:cs typeface="Meiryo" pitchFamily="34" charset="-120"/>
              </a:rPr>
              <a:t>→</a:t>
            </a:r>
            <a:endParaRPr lang="en-US" sz="1300" dirty="0"/>
          </a:p>
        </p:txBody>
      </p:sp>
      <p:sp>
        <p:nvSpPr>
          <p:cNvPr id="36" name="Text 34"/>
          <p:cNvSpPr/>
          <p:nvPr/>
        </p:nvSpPr>
        <p:spPr>
          <a:xfrm>
            <a:off x="6236208" y="4718304"/>
            <a:ext cx="5114239" cy="640080"/>
          </a:xfrm>
          <a:prstGeom prst="rect">
            <a:avLst/>
          </a:prstGeom>
          <a:noFill/>
          <a:ln/>
        </p:spPr>
        <p:txBody>
          <a:bodyPr wrap="square" lIns="0" tIns="0" rIns="0" bIns="0" rtlCol="0" anchor="ctr"/>
          <a:lstStyle/>
          <a:p>
            <a:pPr indent="0" marL="0">
              <a:lnSpc>
                <a:spcPts val="1800"/>
              </a:lnSpc>
              <a:buNone/>
            </a:pPr>
            <a:r>
              <a:rPr lang="en-US" sz="1150" dirty="0">
                <a:solidFill>
                  <a:srgbClr val="667382"/>
                </a:solidFill>
                <a:latin typeface="Meiryo" pitchFamily="34" charset="0"/>
                <a:ea typeface="Meiryo" pitchFamily="34" charset="-122"/>
                <a:cs typeface="Meiryo" pitchFamily="34" charset="-120"/>
              </a:rPr>
              <a:t>判断の速さ、資料の品質、属人化の解消も指標に入れる。</a:t>
            </a:r>
            <a:endParaRPr lang="en-US" sz="1150" dirty="0"/>
          </a:p>
        </p:txBody>
      </p:sp>
      <p:sp>
        <p:nvSpPr>
          <p:cNvPr id="37" name="Shape 35"/>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38" name="Shape 36"/>
          <p:cNvSpPr/>
          <p:nvPr/>
        </p:nvSpPr>
        <p:spPr>
          <a:xfrm>
            <a:off x="804672" y="5760720"/>
            <a:ext cx="219456" cy="219456"/>
          </a:xfrm>
          <a:prstGeom prst="ellipse">
            <a:avLst/>
          </a:prstGeom>
          <a:solidFill>
            <a:srgbClr val="A85705"/>
          </a:solidFill>
          <a:ln w="12700">
            <a:solidFill>
              <a:srgbClr val="A85705"/>
            </a:solidFill>
            <a:prstDash val="solid"/>
          </a:ln>
        </p:spPr>
      </p:sp>
      <p:sp>
        <p:nvSpPr>
          <p:cNvPr id="39" name="Text 37"/>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5つのうち、②が最も多く、最も取り返しがつきません。始める前に測ってください。</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04</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効果の見方：時間だけで語らない</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まずは時間で試算し、そのうえで3つの軸で評価します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28</a:t>
            </a:r>
            <a:endParaRPr lang="en-US" sz="850" dirty="0"/>
          </a:p>
        </p:txBody>
      </p:sp>
      <p:graphicFrame>
        <p:nvGraphicFramePr>
          <p:cNvPr id="7" name="Chart 0" descr=""/>
          <p:cNvGraphicFramePr/>
          <p:nvPr/>
        </p:nvGraphicFramePr>
        <p:xfrm>
          <a:off x="566928" y="1700784"/>
          <a:ext cx="6858000" cy="3346704"/>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66928" y="5138928"/>
            <a:ext cx="6858000" cy="566928"/>
          </a:xfrm>
          <a:prstGeom prst="rect">
            <a:avLst/>
          </a:prstGeom>
          <a:noFill/>
          <a:ln/>
        </p:spPr>
        <p:txBody>
          <a:bodyPr wrap="square" lIns="0" tIns="0" rIns="0" bIns="0" rtlCol="0" anchor="t"/>
          <a:lstStyle/>
          <a:p>
            <a:pPr indent="0" marL="0">
              <a:lnSpc>
                <a:spcPts val="1400"/>
              </a:lnSpc>
              <a:buNone/>
            </a:pPr>
            <a:r>
              <a:rPr lang="en-US" sz="900" dirty="0">
                <a:solidFill>
                  <a:srgbClr val="8C97A3"/>
                </a:solidFill>
                <a:latin typeface="Meiryo" pitchFamily="34" charset="0"/>
                <a:ea typeface="Meiryo" pitchFamily="34" charset="-122"/>
                <a:cs typeface="Meiryo" pitchFamily="34" charset="-120"/>
              </a:rPr>
              <a:t>※ 前提：担当3名／月次で発生する業務。一般的な例としての試算であり、実際の効果は業務内容と記録の整備状況で大きく変わります。自社の“やる前の数字”を測ってから試算してください。</a:t>
            </a:r>
            <a:endParaRPr lang="en-US" sz="900" dirty="0"/>
          </a:p>
        </p:txBody>
      </p:sp>
      <p:sp>
        <p:nvSpPr>
          <p:cNvPr id="9" name="Shape 6"/>
          <p:cNvSpPr/>
          <p:nvPr/>
        </p:nvSpPr>
        <p:spPr>
          <a:xfrm>
            <a:off x="7790688" y="1737360"/>
            <a:ext cx="3834079" cy="1097280"/>
          </a:xfrm>
          <a:prstGeom prst="roundRect">
            <a:avLst>
              <a:gd name="adj" fmla="val 5833"/>
            </a:avLst>
          </a:prstGeom>
          <a:solidFill>
            <a:srgbClr val="F2F4F6"/>
          </a:solidFill>
          <a:ln w="12700">
            <a:solidFill>
              <a:srgbClr val="F2F4F6"/>
            </a:solidFill>
            <a:prstDash val="solid"/>
          </a:ln>
        </p:spPr>
      </p:sp>
      <p:sp>
        <p:nvSpPr>
          <p:cNvPr id="10" name="Shape 7"/>
          <p:cNvSpPr/>
          <p:nvPr/>
        </p:nvSpPr>
        <p:spPr>
          <a:xfrm>
            <a:off x="8028432" y="2048256"/>
            <a:ext cx="475488" cy="475488"/>
          </a:xfrm>
          <a:prstGeom prst="ellipse">
            <a:avLst/>
          </a:prstGeom>
          <a:solidFill>
            <a:srgbClr val="D97612"/>
          </a:solidFill>
          <a:ln w="12700">
            <a:solidFill>
              <a:srgbClr val="D97612"/>
            </a:solidFill>
            <a:prstDash val="solid"/>
          </a:ln>
        </p:spPr>
      </p:sp>
      <p:sp>
        <p:nvSpPr>
          <p:cNvPr id="11" name="Text 8"/>
          <p:cNvSpPr/>
          <p:nvPr/>
        </p:nvSpPr>
        <p:spPr>
          <a:xfrm>
            <a:off x="8028432" y="204825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12" name="Text 9"/>
          <p:cNvSpPr/>
          <p:nvPr/>
        </p:nvSpPr>
        <p:spPr>
          <a:xfrm>
            <a:off x="8668512" y="1847088"/>
            <a:ext cx="2743200" cy="329184"/>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時間</a:t>
            </a:r>
            <a:endParaRPr lang="en-US" sz="1400" dirty="0"/>
          </a:p>
        </p:txBody>
      </p:sp>
      <p:sp>
        <p:nvSpPr>
          <p:cNvPr id="13" name="Text 10"/>
          <p:cNvSpPr/>
          <p:nvPr/>
        </p:nvSpPr>
        <p:spPr>
          <a:xfrm>
            <a:off x="8668512" y="2157984"/>
            <a:ext cx="2645359" cy="621792"/>
          </a:xfrm>
          <a:prstGeom prst="rect">
            <a:avLst/>
          </a:prstGeom>
          <a:noFill/>
          <a:ln/>
        </p:spPr>
        <p:txBody>
          <a:bodyPr wrap="square" lIns="0" tIns="0" rIns="0" bIns="0" rtlCol="0" anchor="t"/>
          <a:lstStyle/>
          <a:p>
            <a:pPr indent="0" marL="0">
              <a:lnSpc>
                <a:spcPts val="1600"/>
              </a:lnSpc>
              <a:buNone/>
            </a:pPr>
            <a:r>
              <a:rPr lang="en-US" sz="1050" dirty="0">
                <a:solidFill>
                  <a:srgbClr val="667382"/>
                </a:solidFill>
                <a:latin typeface="Meiryo" pitchFamily="34" charset="0"/>
                <a:ea typeface="Meiryo" pitchFamily="34" charset="-122"/>
                <a:cs typeface="Meiryo" pitchFamily="34" charset="-120"/>
              </a:rPr>
              <a:t>削減できた工数。いちばん説明しやすいが、これだけだと社内で軽く見られる。</a:t>
            </a:r>
            <a:endParaRPr lang="en-US" sz="1050" dirty="0"/>
          </a:p>
        </p:txBody>
      </p:sp>
      <p:sp>
        <p:nvSpPr>
          <p:cNvPr id="14" name="Shape 11"/>
          <p:cNvSpPr/>
          <p:nvPr/>
        </p:nvSpPr>
        <p:spPr>
          <a:xfrm>
            <a:off x="7790688" y="2999232"/>
            <a:ext cx="3834079" cy="1097280"/>
          </a:xfrm>
          <a:prstGeom prst="roundRect">
            <a:avLst>
              <a:gd name="adj" fmla="val 5833"/>
            </a:avLst>
          </a:prstGeom>
          <a:solidFill>
            <a:srgbClr val="F2F4F6"/>
          </a:solidFill>
          <a:ln w="12700">
            <a:solidFill>
              <a:srgbClr val="F2F4F6"/>
            </a:solidFill>
            <a:prstDash val="solid"/>
          </a:ln>
        </p:spPr>
      </p:sp>
      <p:sp>
        <p:nvSpPr>
          <p:cNvPr id="15" name="Shape 12"/>
          <p:cNvSpPr/>
          <p:nvPr/>
        </p:nvSpPr>
        <p:spPr>
          <a:xfrm>
            <a:off x="8028432" y="3310128"/>
            <a:ext cx="475488" cy="475488"/>
          </a:xfrm>
          <a:prstGeom prst="ellipse">
            <a:avLst/>
          </a:prstGeom>
          <a:solidFill>
            <a:srgbClr val="12695D"/>
          </a:solidFill>
          <a:ln w="12700">
            <a:solidFill>
              <a:srgbClr val="12695D"/>
            </a:solidFill>
            <a:prstDash val="solid"/>
          </a:ln>
        </p:spPr>
      </p:sp>
      <p:sp>
        <p:nvSpPr>
          <p:cNvPr id="16" name="Text 13"/>
          <p:cNvSpPr/>
          <p:nvPr/>
        </p:nvSpPr>
        <p:spPr>
          <a:xfrm>
            <a:off x="8028432" y="331012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7" name="Text 14"/>
          <p:cNvSpPr/>
          <p:nvPr/>
        </p:nvSpPr>
        <p:spPr>
          <a:xfrm>
            <a:off x="8668512" y="3108960"/>
            <a:ext cx="2743200" cy="329184"/>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速さ</a:t>
            </a:r>
            <a:endParaRPr lang="en-US" sz="1400" dirty="0"/>
          </a:p>
        </p:txBody>
      </p:sp>
      <p:sp>
        <p:nvSpPr>
          <p:cNvPr id="18" name="Text 15"/>
          <p:cNvSpPr/>
          <p:nvPr/>
        </p:nvSpPr>
        <p:spPr>
          <a:xfrm>
            <a:off x="8668512" y="3419856"/>
            <a:ext cx="2645359" cy="621792"/>
          </a:xfrm>
          <a:prstGeom prst="rect">
            <a:avLst/>
          </a:prstGeom>
          <a:noFill/>
          <a:ln/>
        </p:spPr>
        <p:txBody>
          <a:bodyPr wrap="square" lIns="0" tIns="0" rIns="0" bIns="0" rtlCol="0" anchor="t"/>
          <a:lstStyle/>
          <a:p>
            <a:pPr indent="0" marL="0">
              <a:lnSpc>
                <a:spcPts val="1600"/>
              </a:lnSpc>
              <a:buNone/>
            </a:pPr>
            <a:r>
              <a:rPr lang="en-US" sz="1050" dirty="0">
                <a:solidFill>
                  <a:srgbClr val="667382"/>
                </a:solidFill>
                <a:latin typeface="Meiryo" pitchFamily="34" charset="0"/>
                <a:ea typeface="Meiryo" pitchFamily="34" charset="-122"/>
                <a:cs typeface="Meiryo" pitchFamily="34" charset="-120"/>
              </a:rPr>
              <a:t>月次締めから報告までの日数。意思決定のスピードに直結する。</a:t>
            </a:r>
            <a:endParaRPr lang="en-US" sz="1050" dirty="0"/>
          </a:p>
        </p:txBody>
      </p:sp>
      <p:sp>
        <p:nvSpPr>
          <p:cNvPr id="19" name="Shape 16"/>
          <p:cNvSpPr/>
          <p:nvPr/>
        </p:nvSpPr>
        <p:spPr>
          <a:xfrm>
            <a:off x="7790688" y="4261104"/>
            <a:ext cx="3834079" cy="1097280"/>
          </a:xfrm>
          <a:prstGeom prst="roundRect">
            <a:avLst>
              <a:gd name="adj" fmla="val 5833"/>
            </a:avLst>
          </a:prstGeom>
          <a:solidFill>
            <a:srgbClr val="F2F4F6"/>
          </a:solidFill>
          <a:ln w="12700">
            <a:solidFill>
              <a:srgbClr val="F2F4F6"/>
            </a:solidFill>
            <a:prstDash val="solid"/>
          </a:ln>
        </p:spPr>
      </p:sp>
      <p:sp>
        <p:nvSpPr>
          <p:cNvPr id="20" name="Shape 17"/>
          <p:cNvSpPr/>
          <p:nvPr/>
        </p:nvSpPr>
        <p:spPr>
          <a:xfrm>
            <a:off x="8028432" y="4572000"/>
            <a:ext cx="475488" cy="475488"/>
          </a:xfrm>
          <a:prstGeom prst="ellipse">
            <a:avLst/>
          </a:prstGeom>
          <a:solidFill>
            <a:srgbClr val="223140"/>
          </a:solidFill>
          <a:ln w="12700">
            <a:solidFill>
              <a:srgbClr val="223140"/>
            </a:solidFill>
            <a:prstDash val="solid"/>
          </a:ln>
        </p:spPr>
      </p:sp>
      <p:sp>
        <p:nvSpPr>
          <p:cNvPr id="21" name="Text 18"/>
          <p:cNvSpPr/>
          <p:nvPr/>
        </p:nvSpPr>
        <p:spPr>
          <a:xfrm>
            <a:off x="8028432" y="45720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2" name="Text 19"/>
          <p:cNvSpPr/>
          <p:nvPr/>
        </p:nvSpPr>
        <p:spPr>
          <a:xfrm>
            <a:off x="8668512" y="4370832"/>
            <a:ext cx="2743200" cy="329184"/>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属人化</a:t>
            </a:r>
            <a:endParaRPr lang="en-US" sz="1400" dirty="0"/>
          </a:p>
        </p:txBody>
      </p:sp>
      <p:sp>
        <p:nvSpPr>
          <p:cNvPr id="23" name="Text 20"/>
          <p:cNvSpPr/>
          <p:nvPr/>
        </p:nvSpPr>
        <p:spPr>
          <a:xfrm>
            <a:off x="8668512" y="4681728"/>
            <a:ext cx="2645359" cy="621792"/>
          </a:xfrm>
          <a:prstGeom prst="rect">
            <a:avLst/>
          </a:prstGeom>
          <a:noFill/>
          <a:ln/>
        </p:spPr>
        <p:txBody>
          <a:bodyPr wrap="square" lIns="0" tIns="0" rIns="0" bIns="0" rtlCol="0" anchor="t"/>
          <a:lstStyle/>
          <a:p>
            <a:pPr indent="0" marL="0">
              <a:lnSpc>
                <a:spcPts val="1600"/>
              </a:lnSpc>
              <a:buNone/>
            </a:pPr>
            <a:r>
              <a:rPr lang="en-US" sz="1050" dirty="0">
                <a:solidFill>
                  <a:srgbClr val="667382"/>
                </a:solidFill>
                <a:latin typeface="Meiryo" pitchFamily="34" charset="0"/>
                <a:ea typeface="Meiryo" pitchFamily="34" charset="-122"/>
                <a:cs typeface="Meiryo" pitchFamily="34" charset="-120"/>
              </a:rPr>
              <a:t>その業務を担当できる人数。1人から3人になれば、事業リスクが下がる。</a:t>
            </a:r>
            <a:endParaRPr lang="en-US" sz="1050" dirty="0"/>
          </a:p>
        </p:txBody>
      </p:sp>
      <p:sp>
        <p:nvSpPr>
          <p:cNvPr id="24" name="Shape 21"/>
          <p:cNvSpPr/>
          <p:nvPr/>
        </p:nvSpPr>
        <p:spPr>
          <a:xfrm>
            <a:off x="7790688" y="5522976"/>
            <a:ext cx="3834079" cy="566928"/>
          </a:xfrm>
          <a:prstGeom prst="roundRect">
            <a:avLst>
              <a:gd name="adj" fmla="val 11290"/>
            </a:avLst>
          </a:prstGeom>
          <a:solidFill>
            <a:srgbClr val="FDF1E2"/>
          </a:solidFill>
          <a:ln w="12700">
            <a:solidFill>
              <a:srgbClr val="FDF1E2"/>
            </a:solidFill>
            <a:prstDash val="solid"/>
          </a:ln>
        </p:spPr>
      </p:sp>
      <p:sp>
        <p:nvSpPr>
          <p:cNvPr id="25" name="Text 22"/>
          <p:cNvSpPr/>
          <p:nvPr/>
        </p:nvSpPr>
        <p:spPr>
          <a:xfrm>
            <a:off x="8028432" y="5522976"/>
            <a:ext cx="3285439" cy="566928"/>
          </a:xfrm>
          <a:prstGeom prst="rect">
            <a:avLst/>
          </a:prstGeom>
          <a:noFill/>
          <a:ln/>
        </p:spPr>
        <p:txBody>
          <a:bodyPr wrap="square" lIns="0" tIns="0" rIns="0" bIns="0" rtlCol="0" anchor="ctr"/>
          <a:lstStyle/>
          <a:p>
            <a:pPr indent="0" marL="0">
              <a:buNone/>
            </a:pPr>
            <a:r>
              <a:rPr lang="en-US" sz="1150" b="1" dirty="0">
                <a:solidFill>
                  <a:srgbClr val="A85705"/>
                </a:solidFill>
                <a:latin typeface="Meiryo" pitchFamily="34" charset="0"/>
                <a:ea typeface="Meiryo" pitchFamily="34" charset="-122"/>
                <a:cs typeface="Meiryo" pitchFamily="34" charset="-120"/>
              </a:rPr>
              <a:t>3軸で語ると、稟議が通ります。</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Text 1"/>
          <p:cNvSpPr/>
          <p:nvPr/>
        </p:nvSpPr>
        <p:spPr>
          <a:xfrm>
            <a:off x="8332927" y="1280160"/>
            <a:ext cx="3291840" cy="4023360"/>
          </a:xfrm>
          <a:prstGeom prst="rect">
            <a:avLst/>
          </a:prstGeom>
          <a:noFill/>
          <a:ln/>
        </p:spPr>
        <p:txBody>
          <a:bodyPr wrap="square" lIns="0" tIns="0" rIns="0" bIns="0" rtlCol="0" anchor="ctr"/>
          <a:lstStyle/>
          <a:p>
            <a:pPr algn="r" indent="0" marL="0">
              <a:buNone/>
            </a:pPr>
            <a:r>
              <a:rPr lang="en-US" sz="20000" b="1" dirty="0">
                <a:solidFill>
                  <a:srgbClr val="223140"/>
                </a:solidFill>
                <a:latin typeface="Meiryo" pitchFamily="34" charset="0"/>
                <a:ea typeface="Meiryo" pitchFamily="34" charset="-122"/>
                <a:cs typeface="Meiryo" pitchFamily="34" charset="-120"/>
              </a:rPr>
              <a:t>05</a:t>
            </a:r>
            <a:endParaRPr lang="en-US" sz="20000" dirty="0"/>
          </a:p>
        </p:txBody>
      </p:sp>
      <p:sp>
        <p:nvSpPr>
          <p:cNvPr id="4" name="Shape 2"/>
          <p:cNvSpPr/>
          <p:nvPr/>
        </p:nvSpPr>
        <p:spPr>
          <a:xfrm>
            <a:off x="566928" y="2103120"/>
            <a:ext cx="713232" cy="713232"/>
          </a:xfrm>
          <a:prstGeom prst="ellipse">
            <a:avLst/>
          </a:prstGeom>
          <a:solidFill>
            <a:srgbClr val="D97612"/>
          </a:solidFill>
          <a:ln w="12700">
            <a:solidFill>
              <a:srgbClr val="D97612"/>
            </a:solidFill>
            <a:prstDash val="solid"/>
          </a:ln>
        </p:spPr>
      </p:sp>
      <p:sp>
        <p:nvSpPr>
          <p:cNvPr id="5" name="Text 3"/>
          <p:cNvSpPr/>
          <p:nvPr/>
        </p:nvSpPr>
        <p:spPr>
          <a:xfrm>
            <a:off x="566928" y="2103120"/>
            <a:ext cx="713232"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05</a:t>
            </a:r>
            <a:endParaRPr lang="en-US" sz="1500" dirty="0"/>
          </a:p>
        </p:txBody>
      </p:sp>
      <p:sp>
        <p:nvSpPr>
          <p:cNvPr id="6" name="Text 4"/>
          <p:cNvSpPr/>
          <p:nvPr/>
        </p:nvSpPr>
        <p:spPr>
          <a:xfrm>
            <a:off x="1536192" y="2103120"/>
            <a:ext cx="3657600" cy="237744"/>
          </a:xfrm>
          <a:prstGeom prst="rect">
            <a:avLst/>
          </a:prstGeom>
          <a:noFill/>
          <a:ln/>
        </p:spPr>
        <p:txBody>
          <a:bodyPr wrap="square" lIns="0" tIns="0" rIns="0" bIns="0" rtlCol="0" anchor="ctr"/>
          <a:lstStyle/>
          <a:p>
            <a:pPr indent="0" marL="0">
              <a:buNone/>
            </a:pPr>
            <a:r>
              <a:rPr lang="en-US" sz="1000" b="1" spc="200" kern="0" dirty="0">
                <a:solidFill>
                  <a:srgbClr val="D97612"/>
                </a:solidFill>
                <a:latin typeface="Meiryo" pitchFamily="34" charset="0"/>
                <a:ea typeface="Meiryo" pitchFamily="34" charset="-122"/>
                <a:cs typeface="Meiryo" pitchFamily="34" charset="-120"/>
              </a:rPr>
              <a:t>SECTION</a:t>
            </a:r>
            <a:endParaRPr lang="en-US" sz="1000" dirty="0"/>
          </a:p>
        </p:txBody>
      </p:sp>
      <p:sp>
        <p:nvSpPr>
          <p:cNvPr id="7" name="Text 5"/>
          <p:cNvSpPr/>
          <p:nvPr/>
        </p:nvSpPr>
        <p:spPr>
          <a:xfrm>
            <a:off x="1536192" y="2359152"/>
            <a:ext cx="10088575" cy="64008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ここから先の具体策</a:t>
            </a:r>
            <a:endParaRPr lang="en-US" sz="3200" dirty="0"/>
          </a:p>
        </p:txBody>
      </p:sp>
      <p:sp>
        <p:nvSpPr>
          <p:cNvPr id="8" name="Text 6"/>
          <p:cNvSpPr/>
          <p:nvPr/>
        </p:nvSpPr>
        <p:spPr>
          <a:xfrm>
            <a:off x="1536192" y="3054096"/>
            <a:ext cx="9594799" cy="384048"/>
          </a:xfrm>
          <a:prstGeom prst="rect">
            <a:avLst/>
          </a:prstGeom>
          <a:noFill/>
          <a:ln/>
        </p:spPr>
        <p:txBody>
          <a:bodyPr wrap="square" lIns="0" tIns="0" rIns="0" bIns="0" rtlCol="0" anchor="ctr"/>
          <a:lstStyle/>
          <a:p>
            <a:pPr indent="0" marL="0">
              <a:buNone/>
            </a:pPr>
            <a:r>
              <a:rPr lang="en-US" sz="1400" dirty="0">
                <a:solidFill>
                  <a:srgbClr val="B9C4CF"/>
                </a:solidFill>
                <a:latin typeface="Meiryo" pitchFamily="34" charset="0"/>
                <a:ea typeface="Meiryo" pitchFamily="34" charset="-122"/>
                <a:cs typeface="Meiryo" pitchFamily="34" charset="-120"/>
              </a:rPr>
              <a:t>第3部で残った問い —「業務ログは、どうやって手に入れるのか」</a:t>
            </a:r>
            <a:endParaRPr lang="en-US" sz="1400" dirty="0"/>
          </a:p>
        </p:txBody>
      </p:sp>
      <p:sp>
        <p:nvSpPr>
          <p:cNvPr id="9" name="Shape 7"/>
          <p:cNvSpPr/>
          <p:nvPr/>
        </p:nvSpPr>
        <p:spPr>
          <a:xfrm>
            <a:off x="1536192" y="3675888"/>
            <a:ext cx="5852160" cy="566928"/>
          </a:xfrm>
          <a:prstGeom prst="roundRect">
            <a:avLst>
              <a:gd name="adj" fmla="val 11290"/>
            </a:avLst>
          </a:prstGeom>
          <a:solidFill>
            <a:srgbClr val="223140"/>
          </a:solidFill>
          <a:ln w="12700">
            <a:solidFill>
              <a:srgbClr val="223140"/>
            </a:solidFill>
            <a:prstDash val="solid"/>
          </a:ln>
        </p:spPr>
      </p:sp>
      <p:sp>
        <p:nvSpPr>
          <p:cNvPr id="10" name="Text 8"/>
          <p:cNvSpPr/>
          <p:nvPr/>
        </p:nvSpPr>
        <p:spPr>
          <a:xfrm>
            <a:off x="1719072" y="3675888"/>
            <a:ext cx="5486400" cy="566928"/>
          </a:xfrm>
          <a:prstGeom prst="rect">
            <a:avLst/>
          </a:prstGeom>
          <a:noFill/>
          <a:ln/>
        </p:spPr>
        <p:txBody>
          <a:bodyPr wrap="square" lIns="0" tIns="0" rIns="0" bIns="0" rtlCol="0" anchor="ctr"/>
          <a:lstStyle/>
          <a:p>
            <a:pPr indent="0" marL="0">
              <a:buNone/>
            </a:pPr>
            <a:r>
              <a:rPr lang="en-US" sz="1150" dirty="0">
                <a:solidFill>
                  <a:srgbClr val="E4E9ED"/>
                </a:solidFill>
                <a:latin typeface="Meiryo" pitchFamily="34" charset="0"/>
                <a:ea typeface="Meiryo" pitchFamily="34" charset="-122"/>
                <a:cs typeface="Meiryo" pitchFamily="34" charset="-120"/>
              </a:rPr>
              <a:t>ここから当社サービスのご紹介になります（約8分）。ご不要な方はここまでで大丈夫です。</a:t>
            </a:r>
            <a:endParaRPr lang="en-US" sz="1150" dirty="0"/>
          </a:p>
        </p:txBody>
      </p:sp>
      <p:sp>
        <p:nvSpPr>
          <p:cNvPr id="11" name="Text 9"/>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6B7684"/>
                </a:solidFill>
                <a:latin typeface="Meiryo" pitchFamily="34" charset="0"/>
                <a:ea typeface="Meiryo" pitchFamily="34" charset="-122"/>
                <a:cs typeface="Meiryo"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05</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ここまでの整理</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残っている問いは、1つだけです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30</a:t>
            </a:r>
            <a:endParaRPr lang="en-US" sz="850" dirty="0"/>
          </a:p>
        </p:txBody>
      </p:sp>
      <p:sp>
        <p:nvSpPr>
          <p:cNvPr id="7" name="Shape 5"/>
          <p:cNvSpPr/>
          <p:nvPr/>
        </p:nvSpPr>
        <p:spPr>
          <a:xfrm>
            <a:off x="566928" y="1773936"/>
            <a:ext cx="7589520" cy="658368"/>
          </a:xfrm>
          <a:prstGeom prst="roundRect">
            <a:avLst>
              <a:gd name="adj" fmla="val 9722"/>
            </a:avLst>
          </a:prstGeom>
          <a:solidFill>
            <a:srgbClr val="F2F4F6"/>
          </a:solidFill>
          <a:ln w="12700">
            <a:solidFill>
              <a:srgbClr val="F2F4F6"/>
            </a:solidFill>
            <a:prstDash val="solid"/>
          </a:ln>
        </p:spPr>
      </p:sp>
      <p:sp>
        <p:nvSpPr>
          <p:cNvPr id="8" name="Shape 6"/>
          <p:cNvSpPr/>
          <p:nvPr/>
        </p:nvSpPr>
        <p:spPr>
          <a:xfrm>
            <a:off x="786384" y="1911096"/>
            <a:ext cx="384048" cy="384048"/>
          </a:xfrm>
          <a:prstGeom prst="ellipse">
            <a:avLst/>
          </a:prstGeom>
          <a:solidFill>
            <a:srgbClr val="223140"/>
          </a:solidFill>
          <a:ln w="12700">
            <a:solidFill>
              <a:srgbClr val="223140"/>
            </a:solidFill>
            <a:prstDash val="solid"/>
          </a:ln>
        </p:spPr>
      </p:sp>
      <p:sp>
        <p:nvSpPr>
          <p:cNvPr id="9" name="Text 7"/>
          <p:cNvSpPr/>
          <p:nvPr/>
        </p:nvSpPr>
        <p:spPr>
          <a:xfrm>
            <a:off x="786384" y="191109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0" name="Text 8"/>
          <p:cNvSpPr/>
          <p:nvPr/>
        </p:nvSpPr>
        <p:spPr>
          <a:xfrm>
            <a:off x="1316736" y="1773936"/>
            <a:ext cx="5852160" cy="658368"/>
          </a:xfrm>
          <a:prstGeom prst="rect">
            <a:avLst/>
          </a:prstGeom>
          <a:noFill/>
          <a:ln/>
        </p:spPr>
        <p:txBody>
          <a:bodyPr wrap="square" lIns="0" tIns="0" rIns="0" bIns="0" rtlCol="0" anchor="ctr"/>
          <a:lstStyle/>
          <a:p>
            <a:pPr indent="0" marL="0">
              <a:buNone/>
            </a:pPr>
            <a:r>
              <a:rPr lang="en-US" sz="1300" dirty="0">
                <a:solidFill>
                  <a:srgbClr val="1B2733"/>
                </a:solidFill>
                <a:latin typeface="Meiryo" pitchFamily="34" charset="0"/>
                <a:ea typeface="Meiryo" pitchFamily="34" charset="-122"/>
                <a:cs typeface="Meiryo" pitchFamily="34" charset="-120"/>
              </a:rPr>
              <a:t>AIエージェントは、頭脳・手足・記憶の3つでできている</a:t>
            </a:r>
            <a:endParaRPr lang="en-US" sz="1300" dirty="0"/>
          </a:p>
        </p:txBody>
      </p:sp>
      <p:sp>
        <p:nvSpPr>
          <p:cNvPr id="11" name="Text 9"/>
          <p:cNvSpPr/>
          <p:nvPr/>
        </p:nvSpPr>
        <p:spPr>
          <a:xfrm>
            <a:off x="7242048" y="1773936"/>
            <a:ext cx="731520" cy="658368"/>
          </a:xfrm>
          <a:prstGeom prst="rect">
            <a:avLst/>
          </a:prstGeom>
          <a:noFill/>
          <a:ln/>
        </p:spPr>
        <p:txBody>
          <a:bodyPr wrap="square" lIns="0" tIns="0" rIns="0" bIns="0" rtlCol="0" anchor="ctr"/>
          <a:lstStyle/>
          <a:p>
            <a:pPr algn="r" indent="0" marL="0">
              <a:buNone/>
            </a:pPr>
            <a:r>
              <a:rPr lang="en-US" sz="1000" dirty="0">
                <a:solidFill>
                  <a:srgbClr val="8C97A3"/>
                </a:solidFill>
                <a:latin typeface="Meiryo" pitchFamily="34" charset="0"/>
                <a:ea typeface="Meiryo" pitchFamily="34" charset="-122"/>
                <a:cs typeface="Meiryo" pitchFamily="34" charset="-120"/>
              </a:rPr>
              <a:t>第1部</a:t>
            </a:r>
            <a:endParaRPr lang="en-US" sz="1000" dirty="0"/>
          </a:p>
        </p:txBody>
      </p:sp>
      <p:sp>
        <p:nvSpPr>
          <p:cNvPr id="12" name="Shape 10"/>
          <p:cNvSpPr/>
          <p:nvPr/>
        </p:nvSpPr>
        <p:spPr>
          <a:xfrm>
            <a:off x="566928" y="2560320"/>
            <a:ext cx="7589520" cy="658368"/>
          </a:xfrm>
          <a:prstGeom prst="roundRect">
            <a:avLst>
              <a:gd name="adj" fmla="val 9722"/>
            </a:avLst>
          </a:prstGeom>
          <a:solidFill>
            <a:srgbClr val="F2F4F6"/>
          </a:solidFill>
          <a:ln w="12700">
            <a:solidFill>
              <a:srgbClr val="F2F4F6"/>
            </a:solidFill>
            <a:prstDash val="solid"/>
          </a:ln>
        </p:spPr>
      </p:sp>
      <p:sp>
        <p:nvSpPr>
          <p:cNvPr id="13" name="Shape 11"/>
          <p:cNvSpPr/>
          <p:nvPr/>
        </p:nvSpPr>
        <p:spPr>
          <a:xfrm>
            <a:off x="786384" y="2697480"/>
            <a:ext cx="384048" cy="384048"/>
          </a:xfrm>
          <a:prstGeom prst="ellipse">
            <a:avLst/>
          </a:prstGeom>
          <a:solidFill>
            <a:srgbClr val="223140"/>
          </a:solidFill>
          <a:ln w="12700">
            <a:solidFill>
              <a:srgbClr val="223140"/>
            </a:solidFill>
            <a:prstDash val="solid"/>
          </a:ln>
        </p:spPr>
      </p:sp>
      <p:sp>
        <p:nvSpPr>
          <p:cNvPr id="14" name="Text 12"/>
          <p:cNvSpPr/>
          <p:nvPr/>
        </p:nvSpPr>
        <p:spPr>
          <a:xfrm>
            <a:off x="786384" y="269748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5" name="Text 13"/>
          <p:cNvSpPr/>
          <p:nvPr/>
        </p:nvSpPr>
        <p:spPr>
          <a:xfrm>
            <a:off x="1316736" y="2560320"/>
            <a:ext cx="5852160" cy="658368"/>
          </a:xfrm>
          <a:prstGeom prst="rect">
            <a:avLst/>
          </a:prstGeom>
          <a:noFill/>
          <a:ln/>
        </p:spPr>
        <p:txBody>
          <a:bodyPr wrap="square" lIns="0" tIns="0" rIns="0" bIns="0" rtlCol="0" anchor="ctr"/>
          <a:lstStyle/>
          <a:p>
            <a:pPr indent="0" marL="0">
              <a:buNone/>
            </a:pPr>
            <a:r>
              <a:rPr lang="en-US" sz="1300" dirty="0">
                <a:solidFill>
                  <a:srgbClr val="1B2733"/>
                </a:solidFill>
                <a:latin typeface="Meiryo" pitchFamily="34" charset="0"/>
                <a:ea typeface="Meiryo" pitchFamily="34" charset="-122"/>
                <a:cs typeface="Meiryo" pitchFamily="34" charset="-120"/>
              </a:rPr>
              <a:t>手足をつなぐ規格が MCP。ここは各社の対応が進んでいる</a:t>
            </a:r>
            <a:endParaRPr lang="en-US" sz="1300" dirty="0"/>
          </a:p>
        </p:txBody>
      </p:sp>
      <p:sp>
        <p:nvSpPr>
          <p:cNvPr id="16" name="Text 14"/>
          <p:cNvSpPr/>
          <p:nvPr/>
        </p:nvSpPr>
        <p:spPr>
          <a:xfrm>
            <a:off x="7242048" y="2560320"/>
            <a:ext cx="731520" cy="658368"/>
          </a:xfrm>
          <a:prstGeom prst="rect">
            <a:avLst/>
          </a:prstGeom>
          <a:noFill/>
          <a:ln/>
        </p:spPr>
        <p:txBody>
          <a:bodyPr wrap="square" lIns="0" tIns="0" rIns="0" bIns="0" rtlCol="0" anchor="ctr"/>
          <a:lstStyle/>
          <a:p>
            <a:pPr algn="r" indent="0" marL="0">
              <a:buNone/>
            </a:pPr>
            <a:r>
              <a:rPr lang="en-US" sz="1000" dirty="0">
                <a:solidFill>
                  <a:srgbClr val="8C97A3"/>
                </a:solidFill>
                <a:latin typeface="Meiryo" pitchFamily="34" charset="0"/>
                <a:ea typeface="Meiryo" pitchFamily="34" charset="-122"/>
                <a:cs typeface="Meiryo" pitchFamily="34" charset="-120"/>
              </a:rPr>
              <a:t>第2部</a:t>
            </a:r>
            <a:endParaRPr lang="en-US" sz="1000" dirty="0"/>
          </a:p>
        </p:txBody>
      </p:sp>
      <p:sp>
        <p:nvSpPr>
          <p:cNvPr id="17" name="Shape 15"/>
          <p:cNvSpPr/>
          <p:nvPr/>
        </p:nvSpPr>
        <p:spPr>
          <a:xfrm>
            <a:off x="566928" y="3346704"/>
            <a:ext cx="7589520" cy="658368"/>
          </a:xfrm>
          <a:prstGeom prst="roundRect">
            <a:avLst>
              <a:gd name="adj" fmla="val 9722"/>
            </a:avLst>
          </a:prstGeom>
          <a:solidFill>
            <a:srgbClr val="F2F4F6"/>
          </a:solidFill>
          <a:ln w="12700">
            <a:solidFill>
              <a:srgbClr val="F2F4F6"/>
            </a:solidFill>
            <a:prstDash val="solid"/>
          </a:ln>
        </p:spPr>
      </p:sp>
      <p:sp>
        <p:nvSpPr>
          <p:cNvPr id="18" name="Shape 16"/>
          <p:cNvSpPr/>
          <p:nvPr/>
        </p:nvSpPr>
        <p:spPr>
          <a:xfrm>
            <a:off x="786384" y="3483864"/>
            <a:ext cx="384048" cy="384048"/>
          </a:xfrm>
          <a:prstGeom prst="ellipse">
            <a:avLst/>
          </a:prstGeom>
          <a:solidFill>
            <a:srgbClr val="223140"/>
          </a:solidFill>
          <a:ln w="12700">
            <a:solidFill>
              <a:srgbClr val="223140"/>
            </a:solidFill>
            <a:prstDash val="solid"/>
          </a:ln>
        </p:spPr>
      </p:sp>
      <p:sp>
        <p:nvSpPr>
          <p:cNvPr id="19" name="Text 17"/>
          <p:cNvSpPr/>
          <p:nvPr/>
        </p:nvSpPr>
        <p:spPr>
          <a:xfrm>
            <a:off x="786384" y="348386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0" name="Text 18"/>
          <p:cNvSpPr/>
          <p:nvPr/>
        </p:nvSpPr>
        <p:spPr>
          <a:xfrm>
            <a:off x="1316736" y="3346704"/>
            <a:ext cx="5852160" cy="658368"/>
          </a:xfrm>
          <a:prstGeom prst="rect">
            <a:avLst/>
          </a:prstGeom>
          <a:noFill/>
          <a:ln/>
        </p:spPr>
        <p:txBody>
          <a:bodyPr wrap="square" lIns="0" tIns="0" rIns="0" bIns="0" rtlCol="0" anchor="ctr"/>
          <a:lstStyle/>
          <a:p>
            <a:pPr indent="0" marL="0">
              <a:buNone/>
            </a:pPr>
            <a:r>
              <a:rPr lang="en-US" sz="1300" dirty="0">
                <a:solidFill>
                  <a:srgbClr val="1B2733"/>
                </a:solidFill>
                <a:latin typeface="Meiryo" pitchFamily="34" charset="0"/>
                <a:ea typeface="Meiryo" pitchFamily="34" charset="-122"/>
                <a:cs typeface="Meiryo" pitchFamily="34" charset="-120"/>
              </a:rPr>
              <a:t>記憶＝自社の記録。ここだけは、自社で用意するしかない</a:t>
            </a:r>
            <a:endParaRPr lang="en-US" sz="1300" dirty="0"/>
          </a:p>
        </p:txBody>
      </p:sp>
      <p:sp>
        <p:nvSpPr>
          <p:cNvPr id="21" name="Text 19"/>
          <p:cNvSpPr/>
          <p:nvPr/>
        </p:nvSpPr>
        <p:spPr>
          <a:xfrm>
            <a:off x="7242048" y="3346704"/>
            <a:ext cx="731520" cy="658368"/>
          </a:xfrm>
          <a:prstGeom prst="rect">
            <a:avLst/>
          </a:prstGeom>
          <a:noFill/>
          <a:ln/>
        </p:spPr>
        <p:txBody>
          <a:bodyPr wrap="square" lIns="0" tIns="0" rIns="0" bIns="0" rtlCol="0" anchor="ctr"/>
          <a:lstStyle/>
          <a:p>
            <a:pPr algn="r" indent="0" marL="0">
              <a:buNone/>
            </a:pPr>
            <a:r>
              <a:rPr lang="en-US" sz="1000" dirty="0">
                <a:solidFill>
                  <a:srgbClr val="8C97A3"/>
                </a:solidFill>
                <a:latin typeface="Meiryo" pitchFamily="34" charset="0"/>
                <a:ea typeface="Meiryo" pitchFamily="34" charset="-122"/>
                <a:cs typeface="Meiryo" pitchFamily="34" charset="-120"/>
              </a:rPr>
              <a:t>第3部</a:t>
            </a:r>
            <a:endParaRPr lang="en-US" sz="1000" dirty="0"/>
          </a:p>
        </p:txBody>
      </p:sp>
      <p:sp>
        <p:nvSpPr>
          <p:cNvPr id="22" name="Shape 20"/>
          <p:cNvSpPr/>
          <p:nvPr/>
        </p:nvSpPr>
        <p:spPr>
          <a:xfrm>
            <a:off x="566928" y="4133088"/>
            <a:ext cx="7589520" cy="658368"/>
          </a:xfrm>
          <a:prstGeom prst="roundRect">
            <a:avLst>
              <a:gd name="adj" fmla="val 9722"/>
            </a:avLst>
          </a:prstGeom>
          <a:solidFill>
            <a:srgbClr val="FDF1E2"/>
          </a:solidFill>
          <a:ln w="12700">
            <a:solidFill>
              <a:srgbClr val="FDF1E2"/>
            </a:solidFill>
            <a:prstDash val="solid"/>
          </a:ln>
        </p:spPr>
      </p:sp>
      <p:sp>
        <p:nvSpPr>
          <p:cNvPr id="23" name="Shape 21"/>
          <p:cNvSpPr/>
          <p:nvPr/>
        </p:nvSpPr>
        <p:spPr>
          <a:xfrm>
            <a:off x="786384" y="4270248"/>
            <a:ext cx="384048" cy="384048"/>
          </a:xfrm>
          <a:prstGeom prst="ellipse">
            <a:avLst/>
          </a:prstGeom>
          <a:solidFill>
            <a:srgbClr val="D97612"/>
          </a:solidFill>
          <a:ln w="12700">
            <a:solidFill>
              <a:srgbClr val="D97612"/>
            </a:solidFill>
            <a:prstDash val="solid"/>
          </a:ln>
        </p:spPr>
      </p:sp>
      <p:sp>
        <p:nvSpPr>
          <p:cNvPr id="24" name="Text 22"/>
          <p:cNvSpPr/>
          <p:nvPr/>
        </p:nvSpPr>
        <p:spPr>
          <a:xfrm>
            <a:off x="786384" y="427024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4</a:t>
            </a:r>
            <a:endParaRPr lang="en-US" sz="1250" dirty="0"/>
          </a:p>
        </p:txBody>
      </p:sp>
      <p:sp>
        <p:nvSpPr>
          <p:cNvPr id="25" name="Text 23"/>
          <p:cNvSpPr/>
          <p:nvPr/>
        </p:nvSpPr>
        <p:spPr>
          <a:xfrm>
            <a:off x="1316736" y="4133088"/>
            <a:ext cx="5852160" cy="658368"/>
          </a:xfrm>
          <a:prstGeom prst="rect">
            <a:avLst/>
          </a:prstGeom>
          <a:noFill/>
          <a:ln/>
        </p:spPr>
        <p:txBody>
          <a:bodyPr wrap="square" lIns="0" tIns="0" rIns="0" bIns="0" rtlCol="0" anchor="ctr"/>
          <a:lstStyle/>
          <a:p>
            <a:pPr indent="0" marL="0">
              <a:buNone/>
            </a:pPr>
            <a:r>
              <a:rPr lang="en-US" sz="1300" b="1" dirty="0">
                <a:solidFill>
                  <a:srgbClr val="A85705"/>
                </a:solidFill>
                <a:latin typeface="Meiryo" pitchFamily="34" charset="0"/>
                <a:ea typeface="Meiryo" pitchFamily="34" charset="-122"/>
                <a:cs typeface="Meiryo" pitchFamily="34" charset="-120"/>
              </a:rPr>
              <a:t>そして日本企業で最も欠けているのが「業務ログ」</a:t>
            </a:r>
            <a:endParaRPr lang="en-US" sz="1300" dirty="0"/>
          </a:p>
        </p:txBody>
      </p:sp>
      <p:sp>
        <p:nvSpPr>
          <p:cNvPr id="26" name="Text 24"/>
          <p:cNvSpPr/>
          <p:nvPr/>
        </p:nvSpPr>
        <p:spPr>
          <a:xfrm>
            <a:off x="7242048" y="4133088"/>
            <a:ext cx="731520" cy="658368"/>
          </a:xfrm>
          <a:prstGeom prst="rect">
            <a:avLst/>
          </a:prstGeom>
          <a:noFill/>
          <a:ln/>
        </p:spPr>
        <p:txBody>
          <a:bodyPr wrap="square" lIns="0" tIns="0" rIns="0" bIns="0" rtlCol="0" anchor="ctr"/>
          <a:lstStyle/>
          <a:p>
            <a:pPr algn="r" indent="0" marL="0">
              <a:buNone/>
            </a:pPr>
            <a:r>
              <a:rPr lang="en-US" sz="1000" dirty="0">
                <a:solidFill>
                  <a:srgbClr val="A85705"/>
                </a:solidFill>
                <a:latin typeface="Meiryo" pitchFamily="34" charset="0"/>
                <a:ea typeface="Meiryo" pitchFamily="34" charset="-122"/>
                <a:cs typeface="Meiryo" pitchFamily="34" charset="-120"/>
              </a:rPr>
              <a:t>第3部</a:t>
            </a:r>
            <a:endParaRPr lang="en-US" sz="1000" dirty="0"/>
          </a:p>
        </p:txBody>
      </p:sp>
      <p:sp>
        <p:nvSpPr>
          <p:cNvPr id="27" name="Shape 25"/>
          <p:cNvSpPr/>
          <p:nvPr/>
        </p:nvSpPr>
        <p:spPr>
          <a:xfrm>
            <a:off x="8430768" y="1773936"/>
            <a:ext cx="3193999" cy="3017520"/>
          </a:xfrm>
          <a:prstGeom prst="roundRect">
            <a:avLst>
              <a:gd name="adj" fmla="val 2121"/>
            </a:avLst>
          </a:prstGeom>
          <a:solidFill>
            <a:srgbClr val="16202B"/>
          </a:solidFill>
          <a:ln w="12700">
            <a:solidFill>
              <a:srgbClr val="16202B"/>
            </a:solidFill>
            <a:prstDash val="solid"/>
          </a:ln>
        </p:spPr>
      </p:sp>
      <p:sp>
        <p:nvSpPr>
          <p:cNvPr id="28" name="Text 26"/>
          <p:cNvSpPr/>
          <p:nvPr/>
        </p:nvSpPr>
        <p:spPr>
          <a:xfrm>
            <a:off x="8705088" y="2011680"/>
            <a:ext cx="2645359" cy="310896"/>
          </a:xfrm>
          <a:prstGeom prst="rect">
            <a:avLst/>
          </a:prstGeom>
          <a:noFill/>
          <a:ln/>
        </p:spPr>
        <p:txBody>
          <a:bodyPr wrap="square" lIns="0" tIns="0" rIns="0" bIns="0" rtlCol="0" anchor="ctr"/>
          <a:lstStyle/>
          <a:p>
            <a:pPr indent="0" marL="0">
              <a:buNone/>
            </a:pPr>
            <a:r>
              <a:rPr lang="en-US" sz="1150" b="1" spc="120" kern="0" dirty="0">
                <a:solidFill>
                  <a:srgbClr val="D97612"/>
                </a:solidFill>
                <a:latin typeface="Meiryo" pitchFamily="34" charset="0"/>
                <a:ea typeface="Meiryo" pitchFamily="34" charset="-122"/>
                <a:cs typeface="Meiryo" pitchFamily="34" charset="-120"/>
              </a:rPr>
              <a:t>残る問い</a:t>
            </a:r>
            <a:endParaRPr lang="en-US" sz="1150" dirty="0"/>
          </a:p>
        </p:txBody>
      </p:sp>
      <p:sp>
        <p:nvSpPr>
          <p:cNvPr id="29" name="Text 27"/>
          <p:cNvSpPr/>
          <p:nvPr/>
        </p:nvSpPr>
        <p:spPr>
          <a:xfrm>
            <a:off x="8705088" y="2432304"/>
            <a:ext cx="2645359" cy="1371600"/>
          </a:xfrm>
          <a:prstGeom prst="rect">
            <a:avLst/>
          </a:prstGeom>
          <a:noFill/>
          <a:ln/>
        </p:spPr>
        <p:txBody>
          <a:bodyPr wrap="square" lIns="0" tIns="0" rIns="0" bIns="0" rtlCol="0" anchor="t"/>
          <a:lstStyle/>
          <a:p>
            <a:pPr indent="0" marL="0">
              <a:lnSpc>
                <a:spcPts val="3000"/>
              </a:lnSpc>
              <a:buNone/>
            </a:pPr>
            <a:r>
              <a:rPr lang="en-US" sz="1900" b="1" dirty="0">
                <a:solidFill>
                  <a:srgbClr val="FFFFFF"/>
                </a:solidFill>
                <a:latin typeface="Meiryo" pitchFamily="34" charset="0"/>
                <a:ea typeface="Meiryo" pitchFamily="34" charset="-122"/>
                <a:cs typeface="Meiryo" pitchFamily="34" charset="-120"/>
              </a:rPr>
              <a:t>業務ログは、</a:t>
            </a:r>
            <a:endParaRPr lang="en-US" sz="1900" dirty="0"/>
          </a:p>
          <a:p>
            <a:pPr indent="0" marL="0">
              <a:lnSpc>
                <a:spcPts val="3000"/>
              </a:lnSpc>
              <a:buNone/>
            </a:pPr>
            <a:r>
              <a:rPr lang="en-US" sz="1900" b="1" dirty="0">
                <a:solidFill>
                  <a:srgbClr val="FFFFFF"/>
                </a:solidFill>
                <a:latin typeface="Meiryo" pitchFamily="34" charset="0"/>
                <a:ea typeface="Meiryo" pitchFamily="34" charset="-122"/>
                <a:cs typeface="Meiryo" pitchFamily="34" charset="-120"/>
              </a:rPr>
              <a:t>どうやって</a:t>
            </a:r>
            <a:endParaRPr lang="en-US" sz="1900" dirty="0"/>
          </a:p>
          <a:p>
            <a:pPr indent="0" marL="0">
              <a:lnSpc>
                <a:spcPts val="3000"/>
              </a:lnSpc>
              <a:buNone/>
            </a:pPr>
            <a:r>
              <a:rPr lang="en-US" sz="1900" b="1" dirty="0">
                <a:solidFill>
                  <a:srgbClr val="FFFFFF"/>
                </a:solidFill>
                <a:latin typeface="Meiryo" pitchFamily="34" charset="0"/>
                <a:ea typeface="Meiryo" pitchFamily="34" charset="-122"/>
                <a:cs typeface="Meiryo" pitchFamily="34" charset="-120"/>
              </a:rPr>
              <a:t>集めるのか？</a:t>
            </a:r>
            <a:endParaRPr lang="en-US" sz="1900" dirty="0"/>
          </a:p>
        </p:txBody>
      </p:sp>
      <p:sp>
        <p:nvSpPr>
          <p:cNvPr id="30" name="Text 28"/>
          <p:cNvSpPr/>
          <p:nvPr/>
        </p:nvSpPr>
        <p:spPr>
          <a:xfrm>
            <a:off x="8705088" y="3931920"/>
            <a:ext cx="2645359" cy="731520"/>
          </a:xfrm>
          <a:prstGeom prst="rect">
            <a:avLst/>
          </a:prstGeom>
          <a:noFill/>
          <a:ln/>
        </p:spPr>
        <p:txBody>
          <a:bodyPr wrap="square" lIns="0" tIns="0" rIns="0" bIns="0" rtlCol="0" anchor="t"/>
          <a:lstStyle/>
          <a:p>
            <a:pPr indent="0" marL="0">
              <a:lnSpc>
                <a:spcPts val="1800"/>
              </a:lnSpc>
              <a:buNone/>
            </a:pPr>
            <a:r>
              <a:rPr lang="en-US" sz="1100" dirty="0">
                <a:solidFill>
                  <a:srgbClr val="B9C4CF"/>
                </a:solidFill>
                <a:latin typeface="Meiryo" pitchFamily="34" charset="0"/>
                <a:ea typeface="Meiryo" pitchFamily="34" charset="-122"/>
                <a:cs typeface="Meiryo" pitchFamily="34" charset="-120"/>
              </a:rPr>
              <a:t>自己申告アンケートでは、精度も継続性も足りません。</a:t>
            </a:r>
            <a:endParaRPr lang="en-US" sz="1100" dirty="0"/>
          </a:p>
        </p:txBody>
      </p:sp>
      <p:sp>
        <p:nvSpPr>
          <p:cNvPr id="31" name="Shape 29"/>
          <p:cNvSpPr/>
          <p:nvPr/>
        </p:nvSpPr>
        <p:spPr>
          <a:xfrm>
            <a:off x="566928" y="5541264"/>
            <a:ext cx="11057839" cy="658368"/>
          </a:xfrm>
          <a:prstGeom prst="roundRect">
            <a:avLst>
              <a:gd name="adj" fmla="val 9722"/>
            </a:avLst>
          </a:prstGeom>
          <a:solidFill>
            <a:srgbClr val="FDF1E2"/>
          </a:solidFill>
          <a:ln w="12700">
            <a:solidFill>
              <a:srgbClr val="FDF1E2"/>
            </a:solidFill>
            <a:prstDash val="solid"/>
          </a:ln>
        </p:spPr>
      </p:sp>
      <p:sp>
        <p:nvSpPr>
          <p:cNvPr id="32" name="Shape 30"/>
          <p:cNvSpPr/>
          <p:nvPr/>
        </p:nvSpPr>
        <p:spPr>
          <a:xfrm>
            <a:off x="804672" y="5760720"/>
            <a:ext cx="219456" cy="219456"/>
          </a:xfrm>
          <a:prstGeom prst="ellipse">
            <a:avLst/>
          </a:prstGeom>
          <a:solidFill>
            <a:srgbClr val="A85705"/>
          </a:solidFill>
          <a:ln w="12700">
            <a:solidFill>
              <a:srgbClr val="A85705"/>
            </a:solidFill>
            <a:prstDash val="solid"/>
          </a:ln>
        </p:spPr>
      </p:sp>
      <p:sp>
        <p:nvSpPr>
          <p:cNvPr id="33" name="Text 31"/>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A85705"/>
                </a:solidFill>
                <a:latin typeface="Meiryo" pitchFamily="34" charset="0"/>
                <a:ea typeface="Meiryo" pitchFamily="34" charset="-122"/>
                <a:cs typeface="Meiryo" pitchFamily="34" charset="-120"/>
              </a:rPr>
              <a:t>この問いに対する当社の答えが、次にご紹介する「みえるクラウド ログ」です。</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05</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みえるクラウド ログ とは</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PCの操作ログから、業務量と業務プロセスを見えるようにするサービスです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31</a:t>
            </a:r>
            <a:endParaRPr lang="en-US" sz="850" dirty="0"/>
          </a:p>
        </p:txBody>
      </p:sp>
      <p:sp>
        <p:nvSpPr>
          <p:cNvPr id="7" name="Shape 5"/>
          <p:cNvSpPr/>
          <p:nvPr/>
        </p:nvSpPr>
        <p:spPr>
          <a:xfrm>
            <a:off x="566928" y="1773936"/>
            <a:ext cx="3503066" cy="2926080"/>
          </a:xfrm>
          <a:prstGeom prst="roundRect">
            <a:avLst>
              <a:gd name="adj" fmla="val 2188"/>
            </a:avLst>
          </a:prstGeom>
          <a:solidFill>
            <a:srgbClr val="FDF1E2"/>
          </a:solidFill>
          <a:ln w="12700">
            <a:solidFill>
              <a:srgbClr val="FDF1E2"/>
            </a:solidFill>
            <a:prstDash val="solid"/>
          </a:ln>
        </p:spPr>
      </p:sp>
      <p:sp>
        <p:nvSpPr>
          <p:cNvPr id="8" name="Shape 6"/>
          <p:cNvSpPr/>
          <p:nvPr/>
        </p:nvSpPr>
        <p:spPr>
          <a:xfrm>
            <a:off x="859536" y="2048256"/>
            <a:ext cx="713232" cy="713232"/>
          </a:xfrm>
          <a:prstGeom prst="ellipse">
            <a:avLst/>
          </a:prstGeom>
          <a:solidFill>
            <a:srgbClr val="D97612"/>
          </a:solidFill>
          <a:ln w="12700">
            <a:solidFill>
              <a:srgbClr val="D97612"/>
            </a:solidFill>
            <a:prstDash val="solid"/>
          </a:ln>
        </p:spPr>
      </p:sp>
      <p:sp>
        <p:nvSpPr>
          <p:cNvPr id="9" name="Text 7"/>
          <p:cNvSpPr/>
          <p:nvPr/>
        </p:nvSpPr>
        <p:spPr>
          <a:xfrm>
            <a:off x="859536" y="2048256"/>
            <a:ext cx="713232" cy="713232"/>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1</a:t>
            </a:r>
            <a:endParaRPr lang="en-US" sz="1700" dirty="0"/>
          </a:p>
        </p:txBody>
      </p:sp>
      <p:sp>
        <p:nvSpPr>
          <p:cNvPr id="10" name="Text 8"/>
          <p:cNvSpPr/>
          <p:nvPr/>
        </p:nvSpPr>
        <p:spPr>
          <a:xfrm>
            <a:off x="859536" y="2926080"/>
            <a:ext cx="2917850" cy="402336"/>
          </a:xfrm>
          <a:prstGeom prst="rect">
            <a:avLst/>
          </a:prstGeom>
          <a:noFill/>
          <a:ln/>
        </p:spPr>
        <p:txBody>
          <a:bodyPr wrap="square" lIns="0" tIns="0" rIns="0" bIns="0" rtlCol="0" anchor="ctr"/>
          <a:lstStyle/>
          <a:p>
            <a:pPr indent="0" marL="0">
              <a:buNone/>
            </a:pPr>
            <a:r>
              <a:rPr lang="en-US" sz="1500" b="1" dirty="0">
                <a:solidFill>
                  <a:srgbClr val="A85705"/>
                </a:solidFill>
                <a:latin typeface="Meiryo" pitchFamily="34" charset="0"/>
                <a:ea typeface="Meiryo" pitchFamily="34" charset="-122"/>
                <a:cs typeface="Meiryo" pitchFamily="34" charset="-120"/>
              </a:rPr>
              <a:t>業務の見える化</a:t>
            </a:r>
            <a:endParaRPr lang="en-US" sz="1500" dirty="0"/>
          </a:p>
        </p:txBody>
      </p:sp>
      <p:sp>
        <p:nvSpPr>
          <p:cNvPr id="11" name="Text 9"/>
          <p:cNvSpPr/>
          <p:nvPr/>
        </p:nvSpPr>
        <p:spPr>
          <a:xfrm>
            <a:off x="859536" y="3419856"/>
            <a:ext cx="2917850" cy="1133856"/>
          </a:xfrm>
          <a:prstGeom prst="rect">
            <a:avLst/>
          </a:prstGeom>
          <a:noFill/>
          <a:ln/>
        </p:spPr>
        <p:txBody>
          <a:bodyPr wrap="square" lIns="0" tIns="0" rIns="0" bIns="0" rtlCol="0" anchor="t"/>
          <a:lstStyle/>
          <a:p>
            <a:pPr indent="0" marL="0">
              <a:lnSpc>
                <a:spcPts val="1900"/>
              </a:lnSpc>
              <a:buNone/>
            </a:pPr>
            <a:r>
              <a:rPr lang="en-US" sz="1150" dirty="0">
                <a:solidFill>
                  <a:srgbClr val="6B4A24"/>
                </a:solidFill>
                <a:latin typeface="Meiryo" pitchFamily="34" charset="0"/>
                <a:ea typeface="Meiryo" pitchFamily="34" charset="-122"/>
                <a:cs typeface="Meiryo" pitchFamily="34" charset="-120"/>
              </a:rPr>
              <a:t>どの業務に、どれだけ時間がかかっているかを、部門別・業務別に自動で集計します。自己申告アンケートが不要になります。</a:t>
            </a:r>
            <a:endParaRPr lang="en-US" sz="1150" dirty="0"/>
          </a:p>
        </p:txBody>
      </p:sp>
      <p:sp>
        <p:nvSpPr>
          <p:cNvPr id="12" name="Shape 10"/>
          <p:cNvSpPr/>
          <p:nvPr/>
        </p:nvSpPr>
        <p:spPr>
          <a:xfrm>
            <a:off x="4344314" y="1773936"/>
            <a:ext cx="3503066" cy="2926080"/>
          </a:xfrm>
          <a:prstGeom prst="roundRect">
            <a:avLst>
              <a:gd name="adj" fmla="val 2188"/>
            </a:avLst>
          </a:prstGeom>
          <a:solidFill>
            <a:srgbClr val="F2F4F6"/>
          </a:solidFill>
          <a:ln w="12700">
            <a:solidFill>
              <a:srgbClr val="F2F4F6"/>
            </a:solidFill>
            <a:prstDash val="solid"/>
          </a:ln>
        </p:spPr>
      </p:sp>
      <p:sp>
        <p:nvSpPr>
          <p:cNvPr id="13" name="Shape 11"/>
          <p:cNvSpPr/>
          <p:nvPr/>
        </p:nvSpPr>
        <p:spPr>
          <a:xfrm>
            <a:off x="4636922" y="2048256"/>
            <a:ext cx="713232" cy="713232"/>
          </a:xfrm>
          <a:prstGeom prst="ellipse">
            <a:avLst/>
          </a:prstGeom>
          <a:solidFill>
            <a:srgbClr val="223140"/>
          </a:solidFill>
          <a:ln w="12700">
            <a:solidFill>
              <a:srgbClr val="223140"/>
            </a:solidFill>
            <a:prstDash val="solid"/>
          </a:ln>
        </p:spPr>
      </p:sp>
      <p:sp>
        <p:nvSpPr>
          <p:cNvPr id="14" name="Text 12"/>
          <p:cNvSpPr/>
          <p:nvPr/>
        </p:nvSpPr>
        <p:spPr>
          <a:xfrm>
            <a:off x="4636922" y="2048256"/>
            <a:ext cx="713232" cy="713232"/>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2</a:t>
            </a:r>
            <a:endParaRPr lang="en-US" sz="1700" dirty="0"/>
          </a:p>
        </p:txBody>
      </p:sp>
      <p:sp>
        <p:nvSpPr>
          <p:cNvPr id="15" name="Text 13"/>
          <p:cNvSpPr/>
          <p:nvPr/>
        </p:nvSpPr>
        <p:spPr>
          <a:xfrm>
            <a:off x="4636922" y="2926080"/>
            <a:ext cx="2917850"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内部統制・監査対応</a:t>
            </a:r>
            <a:endParaRPr lang="en-US" sz="1500" dirty="0"/>
          </a:p>
        </p:txBody>
      </p:sp>
      <p:sp>
        <p:nvSpPr>
          <p:cNvPr id="16" name="Text 14"/>
          <p:cNvSpPr/>
          <p:nvPr/>
        </p:nvSpPr>
        <p:spPr>
          <a:xfrm>
            <a:off x="4636922" y="3419856"/>
            <a:ext cx="2917850" cy="1133856"/>
          </a:xfrm>
          <a:prstGeom prst="rect">
            <a:avLst/>
          </a:prstGeom>
          <a:noFill/>
          <a:ln/>
        </p:spPr>
        <p:txBody>
          <a:bodyPr wrap="square" lIns="0" tIns="0" rIns="0" bIns="0" rtlCol="0" anchor="t"/>
          <a:lstStyle/>
          <a:p>
            <a:pPr indent="0" marL="0">
              <a:lnSpc>
                <a:spcPts val="1900"/>
              </a:lnSpc>
              <a:buNone/>
            </a:pPr>
            <a:r>
              <a:rPr lang="en-US" sz="1150" dirty="0">
                <a:solidFill>
                  <a:srgbClr val="667382"/>
                </a:solidFill>
                <a:latin typeface="Meiryo" pitchFamily="34" charset="0"/>
                <a:ea typeface="Meiryo" pitchFamily="34" charset="-122"/>
                <a:cs typeface="Meiryo" pitchFamily="34" charset="-120"/>
              </a:rPr>
              <a:t>操作の記録が残るため、上場準備や監査対応の説明資料として使えます。「記録がある」こと自体が価値になります。</a:t>
            </a:r>
            <a:endParaRPr lang="en-US" sz="1150" dirty="0"/>
          </a:p>
        </p:txBody>
      </p:sp>
      <p:sp>
        <p:nvSpPr>
          <p:cNvPr id="17" name="Shape 15"/>
          <p:cNvSpPr/>
          <p:nvPr/>
        </p:nvSpPr>
        <p:spPr>
          <a:xfrm>
            <a:off x="8121701" y="1773936"/>
            <a:ext cx="3503066" cy="2926080"/>
          </a:xfrm>
          <a:prstGeom prst="roundRect">
            <a:avLst>
              <a:gd name="adj" fmla="val 2188"/>
            </a:avLst>
          </a:prstGeom>
          <a:solidFill>
            <a:srgbClr val="F2F4F6"/>
          </a:solidFill>
          <a:ln w="12700">
            <a:solidFill>
              <a:srgbClr val="F2F4F6"/>
            </a:solidFill>
            <a:prstDash val="solid"/>
          </a:ln>
        </p:spPr>
      </p:sp>
      <p:sp>
        <p:nvSpPr>
          <p:cNvPr id="18" name="Shape 16"/>
          <p:cNvSpPr/>
          <p:nvPr/>
        </p:nvSpPr>
        <p:spPr>
          <a:xfrm>
            <a:off x="8414309" y="2048256"/>
            <a:ext cx="713232" cy="713232"/>
          </a:xfrm>
          <a:prstGeom prst="ellipse">
            <a:avLst/>
          </a:prstGeom>
          <a:solidFill>
            <a:srgbClr val="223140"/>
          </a:solidFill>
          <a:ln w="12700">
            <a:solidFill>
              <a:srgbClr val="223140"/>
            </a:solidFill>
            <a:prstDash val="solid"/>
          </a:ln>
        </p:spPr>
      </p:sp>
      <p:sp>
        <p:nvSpPr>
          <p:cNvPr id="19" name="Text 17"/>
          <p:cNvSpPr/>
          <p:nvPr/>
        </p:nvSpPr>
        <p:spPr>
          <a:xfrm>
            <a:off x="8414309" y="2048256"/>
            <a:ext cx="713232" cy="713232"/>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3</a:t>
            </a:r>
            <a:endParaRPr lang="en-US" sz="1700" dirty="0"/>
          </a:p>
        </p:txBody>
      </p:sp>
      <p:sp>
        <p:nvSpPr>
          <p:cNvPr id="20" name="Text 18"/>
          <p:cNvSpPr/>
          <p:nvPr/>
        </p:nvSpPr>
        <p:spPr>
          <a:xfrm>
            <a:off x="8414309" y="2926080"/>
            <a:ext cx="2917850" cy="402336"/>
          </a:xfrm>
          <a:prstGeom prst="rect">
            <a:avLst/>
          </a:prstGeom>
          <a:noFill/>
          <a:ln/>
        </p:spPr>
        <p:txBody>
          <a:bodyPr wrap="square" lIns="0" tIns="0" rIns="0" bIns="0" rtlCol="0" anchor="ctr"/>
          <a:lstStyle/>
          <a:p>
            <a:pPr indent="0" marL="0">
              <a:buNone/>
            </a:pPr>
            <a:r>
              <a:rPr lang="en-US" sz="1500" b="1" dirty="0">
                <a:solidFill>
                  <a:srgbClr val="1B2733"/>
                </a:solidFill>
                <a:latin typeface="Meiryo" pitchFamily="34" charset="0"/>
                <a:ea typeface="Meiryo" pitchFamily="34" charset="-122"/>
                <a:cs typeface="Meiryo" pitchFamily="34" charset="-120"/>
              </a:rPr>
              <a:t>現場の負荷が増えない</a:t>
            </a:r>
            <a:endParaRPr lang="en-US" sz="1500" dirty="0"/>
          </a:p>
        </p:txBody>
      </p:sp>
      <p:sp>
        <p:nvSpPr>
          <p:cNvPr id="21" name="Text 19"/>
          <p:cNvSpPr/>
          <p:nvPr/>
        </p:nvSpPr>
        <p:spPr>
          <a:xfrm>
            <a:off x="8414309" y="3419856"/>
            <a:ext cx="2917850" cy="1133856"/>
          </a:xfrm>
          <a:prstGeom prst="rect">
            <a:avLst/>
          </a:prstGeom>
          <a:noFill/>
          <a:ln/>
        </p:spPr>
        <p:txBody>
          <a:bodyPr wrap="square" lIns="0" tIns="0" rIns="0" bIns="0" rtlCol="0" anchor="t"/>
          <a:lstStyle/>
          <a:p>
            <a:pPr indent="0" marL="0">
              <a:lnSpc>
                <a:spcPts val="1900"/>
              </a:lnSpc>
              <a:buNone/>
            </a:pPr>
            <a:r>
              <a:rPr lang="en-US" sz="1150" dirty="0">
                <a:solidFill>
                  <a:srgbClr val="667382"/>
                </a:solidFill>
                <a:latin typeface="Meiryo" pitchFamily="34" charset="0"/>
                <a:ea typeface="Meiryo" pitchFamily="34" charset="-122"/>
                <a:cs typeface="Meiryo" pitchFamily="34" charset="-120"/>
              </a:rPr>
              <a:t>現場に新しい入力作業をお願いしません。使っているうちに記録が溜まる形なので、続けられます。</a:t>
            </a:r>
            <a:endParaRPr lang="en-US" sz="1150" dirty="0"/>
          </a:p>
        </p:txBody>
      </p:sp>
      <p:sp>
        <p:nvSpPr>
          <p:cNvPr id="22" name="Shape 20"/>
          <p:cNvSpPr/>
          <p:nvPr/>
        </p:nvSpPr>
        <p:spPr>
          <a:xfrm>
            <a:off x="566928" y="4882896"/>
            <a:ext cx="11057839" cy="603504"/>
          </a:xfrm>
          <a:prstGeom prst="roundRect">
            <a:avLst>
              <a:gd name="adj" fmla="val 10606"/>
            </a:avLst>
          </a:prstGeom>
          <a:solidFill>
            <a:srgbClr val="E3EFED"/>
          </a:solidFill>
          <a:ln w="12700">
            <a:solidFill>
              <a:srgbClr val="E3EFED"/>
            </a:solidFill>
            <a:prstDash val="solid"/>
          </a:ln>
        </p:spPr>
      </p:sp>
      <p:sp>
        <p:nvSpPr>
          <p:cNvPr id="23" name="Text 21"/>
          <p:cNvSpPr/>
          <p:nvPr/>
        </p:nvSpPr>
        <p:spPr>
          <a:xfrm>
            <a:off x="841248" y="4882896"/>
            <a:ext cx="10509199" cy="603504"/>
          </a:xfrm>
          <a:prstGeom prst="rect">
            <a:avLst/>
          </a:prstGeom>
          <a:noFill/>
          <a:ln/>
        </p:spPr>
        <p:txBody>
          <a:bodyPr wrap="square" lIns="0" tIns="0" rIns="0" bIns="0" rtlCol="0" anchor="ctr"/>
          <a:lstStyle/>
          <a:p>
            <a:pPr indent="0" marL="0">
              <a:buNone/>
            </a:pPr>
            <a:r>
              <a:rPr lang="en-US" sz="1150" b="1" dirty="0">
                <a:solidFill>
                  <a:srgbClr val="12695D"/>
                </a:solidFill>
                <a:latin typeface="Meiryo" pitchFamily="34" charset="0"/>
                <a:ea typeface="Meiryo" pitchFamily="34" charset="-122"/>
                <a:cs typeface="Meiryo" pitchFamily="34" charset="-120"/>
              </a:rPr>
              <a:t>位置づけ：個人を評価・監視するための道具ではなく、業務量と業務プロセスを可視化するための道具です。</a:t>
            </a:r>
            <a:endParaRPr lang="en-US" sz="1150" dirty="0"/>
          </a:p>
        </p:txBody>
      </p:sp>
      <p:sp>
        <p:nvSpPr>
          <p:cNvPr id="24" name="Text 22"/>
          <p:cNvSpPr/>
          <p:nvPr/>
        </p:nvSpPr>
        <p:spPr>
          <a:xfrm>
            <a:off x="566928" y="5650992"/>
            <a:ext cx="11057839" cy="274320"/>
          </a:xfrm>
          <a:prstGeom prst="rect">
            <a:avLst/>
          </a:prstGeom>
          <a:noFill/>
          <a:ln/>
        </p:spPr>
        <p:txBody>
          <a:bodyPr wrap="square" lIns="0" tIns="0" rIns="0" bIns="0" rtlCol="0" anchor="ctr"/>
          <a:lstStyle/>
          <a:p>
            <a:pPr indent="0" marL="0">
              <a:buNone/>
            </a:pPr>
            <a:r>
              <a:rPr lang="en-US" sz="950" dirty="0">
                <a:solidFill>
                  <a:srgbClr val="8C97A3"/>
                </a:solidFill>
                <a:latin typeface="Meiryo" pitchFamily="34" charset="0"/>
                <a:ea typeface="Meiryo" pitchFamily="34" charset="-122"/>
                <a:cs typeface="Meiryo" pitchFamily="34" charset="-120"/>
              </a:rPr>
              <a:t>提供：みえるクラウド（士業グループを母体とするサービス）／導入企業 約300社</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05</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PCログ × MCP：話しかけるだけで、資料になります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第2部でお話しした「つなぐ規格」を、業務ログに適用したものです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32</a:t>
            </a:r>
            <a:endParaRPr lang="en-US" sz="850" dirty="0"/>
          </a:p>
        </p:txBody>
      </p:sp>
      <p:sp>
        <p:nvSpPr>
          <p:cNvPr id="7" name="Shape 5"/>
          <p:cNvSpPr/>
          <p:nvPr/>
        </p:nvSpPr>
        <p:spPr>
          <a:xfrm>
            <a:off x="566928" y="1737360"/>
            <a:ext cx="5349240" cy="1874520"/>
          </a:xfrm>
          <a:prstGeom prst="roundRect">
            <a:avLst>
              <a:gd name="adj" fmla="val 3415"/>
            </a:avLst>
          </a:prstGeom>
          <a:solidFill>
            <a:srgbClr val="F2F4F6"/>
          </a:solidFill>
          <a:ln w="12700">
            <a:solidFill>
              <a:srgbClr val="F2F4F6"/>
            </a:solidFill>
            <a:prstDash val="solid"/>
          </a:ln>
        </p:spPr>
      </p:sp>
      <p:sp>
        <p:nvSpPr>
          <p:cNvPr id="8" name="Text 6"/>
          <p:cNvSpPr/>
          <p:nvPr/>
        </p:nvSpPr>
        <p:spPr>
          <a:xfrm>
            <a:off x="841248" y="1883664"/>
            <a:ext cx="2743200" cy="329184"/>
          </a:xfrm>
          <a:prstGeom prst="rect">
            <a:avLst/>
          </a:prstGeom>
          <a:noFill/>
          <a:ln/>
        </p:spPr>
        <p:txBody>
          <a:bodyPr wrap="square" lIns="0" tIns="0" rIns="0" bIns="0" rtlCol="0" anchor="ctr"/>
          <a:lstStyle/>
          <a:p>
            <a:pPr indent="0" marL="0">
              <a:buNone/>
            </a:pPr>
            <a:r>
              <a:rPr lang="en-US" sz="1250" b="1" dirty="0">
                <a:solidFill>
                  <a:srgbClr val="667382"/>
                </a:solidFill>
                <a:latin typeface="Meiryo" pitchFamily="34" charset="0"/>
                <a:ea typeface="Meiryo" pitchFamily="34" charset="-122"/>
                <a:cs typeface="Meiryo" pitchFamily="34" charset="-120"/>
              </a:rPr>
              <a:t>これまで</a:t>
            </a:r>
            <a:endParaRPr lang="en-US" sz="1250" dirty="0"/>
          </a:p>
        </p:txBody>
      </p:sp>
      <p:sp>
        <p:nvSpPr>
          <p:cNvPr id="9" name="Text 7"/>
          <p:cNvSpPr/>
          <p:nvPr/>
        </p:nvSpPr>
        <p:spPr>
          <a:xfrm>
            <a:off x="841248" y="2267712"/>
            <a:ext cx="4800600" cy="1133856"/>
          </a:xfrm>
          <a:prstGeom prst="rect">
            <a:avLst/>
          </a:prstGeom>
          <a:noFill/>
          <a:ln/>
        </p:spPr>
        <p:txBody>
          <a:bodyPr wrap="square" lIns="0" tIns="0" rIns="0" bIns="0" rtlCol="0" anchor="t"/>
          <a:lstStyle/>
          <a:p>
            <a:pPr indent="0" marL="0">
              <a:lnSpc>
                <a:spcPts val="2100"/>
              </a:lnSpc>
              <a:buNone/>
            </a:pPr>
            <a:r>
              <a:rPr lang="en-US" sz="1250" dirty="0">
                <a:solidFill>
                  <a:srgbClr val="1B2733"/>
                </a:solidFill>
                <a:latin typeface="Meiryo" pitchFamily="34" charset="0"/>
                <a:ea typeface="Meiryo" pitchFamily="34" charset="-122"/>
                <a:cs typeface="Meiryo" pitchFamily="34" charset="-120"/>
              </a:rPr>
              <a:t>ログは取れている。けれど見るのは管理画面。分析したければCSVで書き出して、またExcelで加工する。</a:t>
            </a:r>
            <a:endParaRPr lang="en-US" sz="1250" dirty="0"/>
          </a:p>
        </p:txBody>
      </p:sp>
      <p:sp>
        <p:nvSpPr>
          <p:cNvPr id="10" name="Shape 8"/>
          <p:cNvSpPr/>
          <p:nvPr/>
        </p:nvSpPr>
        <p:spPr>
          <a:xfrm>
            <a:off x="6272784" y="1737360"/>
            <a:ext cx="5349240" cy="1874520"/>
          </a:xfrm>
          <a:prstGeom prst="roundRect">
            <a:avLst>
              <a:gd name="adj" fmla="val 3415"/>
            </a:avLst>
          </a:prstGeom>
          <a:solidFill>
            <a:srgbClr val="16202B"/>
          </a:solidFill>
          <a:ln w="12700">
            <a:solidFill>
              <a:srgbClr val="16202B"/>
            </a:solidFill>
            <a:prstDash val="solid"/>
          </a:ln>
        </p:spPr>
      </p:sp>
      <p:sp>
        <p:nvSpPr>
          <p:cNvPr id="11" name="Text 9"/>
          <p:cNvSpPr/>
          <p:nvPr/>
        </p:nvSpPr>
        <p:spPr>
          <a:xfrm>
            <a:off x="6547104" y="1883664"/>
            <a:ext cx="3657600" cy="329184"/>
          </a:xfrm>
          <a:prstGeom prst="rect">
            <a:avLst/>
          </a:prstGeom>
          <a:noFill/>
          <a:ln/>
        </p:spPr>
        <p:txBody>
          <a:bodyPr wrap="square" lIns="0" tIns="0" rIns="0" bIns="0" rtlCol="0" anchor="ctr"/>
          <a:lstStyle/>
          <a:p>
            <a:pPr indent="0" marL="0">
              <a:buNone/>
            </a:pPr>
            <a:r>
              <a:rPr lang="en-US" sz="1250" b="1" dirty="0">
                <a:solidFill>
                  <a:srgbClr val="D97612"/>
                </a:solidFill>
                <a:latin typeface="Meiryo" pitchFamily="34" charset="0"/>
                <a:ea typeface="Meiryo" pitchFamily="34" charset="-122"/>
                <a:cs typeface="Meiryo" pitchFamily="34" charset="-120"/>
              </a:rPr>
              <a:t>MCP連携でできること</a:t>
            </a:r>
            <a:endParaRPr lang="en-US" sz="1250" dirty="0"/>
          </a:p>
        </p:txBody>
      </p:sp>
      <p:sp>
        <p:nvSpPr>
          <p:cNvPr id="12" name="Text 10"/>
          <p:cNvSpPr/>
          <p:nvPr/>
        </p:nvSpPr>
        <p:spPr>
          <a:xfrm>
            <a:off x="6547104" y="2267712"/>
            <a:ext cx="4800600" cy="1133856"/>
          </a:xfrm>
          <a:prstGeom prst="rect">
            <a:avLst/>
          </a:prstGeom>
          <a:noFill/>
          <a:ln/>
        </p:spPr>
        <p:txBody>
          <a:bodyPr wrap="square" lIns="0" tIns="0" rIns="0" bIns="0" rtlCol="0" anchor="t"/>
          <a:lstStyle/>
          <a:p>
            <a:pPr indent="0" marL="0">
              <a:lnSpc>
                <a:spcPts val="2100"/>
              </a:lnSpc>
              <a:buNone/>
            </a:pPr>
            <a:r>
              <a:rPr lang="en-US" sz="1250" b="1" dirty="0">
                <a:solidFill>
                  <a:srgbClr val="FFFFFF"/>
                </a:solidFill>
                <a:latin typeface="Meiryo" pitchFamily="34" charset="0"/>
                <a:ea typeface="Meiryo" pitchFamily="34" charset="-122"/>
                <a:cs typeface="Meiryo" pitchFamily="34" charset="-120"/>
              </a:rPr>
              <a:t>「先月の部門別の工数を、経営会議用のグラフにして」と、日本語で話しかけるだけ。</a:t>
            </a:r>
            <a:endParaRPr lang="en-US" sz="1250" dirty="0"/>
          </a:p>
        </p:txBody>
      </p:sp>
      <p:sp>
        <p:nvSpPr>
          <p:cNvPr id="13" name="Shape 11"/>
          <p:cNvSpPr/>
          <p:nvPr/>
        </p:nvSpPr>
        <p:spPr>
          <a:xfrm>
            <a:off x="566928" y="3877056"/>
            <a:ext cx="3320186" cy="1481328"/>
          </a:xfrm>
          <a:prstGeom prst="roundRect">
            <a:avLst>
              <a:gd name="adj" fmla="val 4321"/>
            </a:avLst>
          </a:prstGeom>
          <a:solidFill>
            <a:srgbClr val="F2F4F6"/>
          </a:solidFill>
          <a:ln w="12700">
            <a:solidFill>
              <a:srgbClr val="F2F4F6"/>
            </a:solidFill>
            <a:prstDash val="solid"/>
          </a:ln>
        </p:spPr>
      </p:sp>
      <p:sp>
        <p:nvSpPr>
          <p:cNvPr id="14" name="Shape 12"/>
          <p:cNvSpPr/>
          <p:nvPr/>
        </p:nvSpPr>
        <p:spPr>
          <a:xfrm>
            <a:off x="822960" y="4114800"/>
            <a:ext cx="384048" cy="384048"/>
          </a:xfrm>
          <a:prstGeom prst="ellipse">
            <a:avLst/>
          </a:prstGeom>
          <a:solidFill>
            <a:srgbClr val="223140"/>
          </a:solidFill>
          <a:ln w="12700">
            <a:solidFill>
              <a:srgbClr val="223140"/>
            </a:solidFill>
            <a:prstDash val="solid"/>
          </a:ln>
        </p:spPr>
      </p:sp>
      <p:sp>
        <p:nvSpPr>
          <p:cNvPr id="15" name="Text 13"/>
          <p:cNvSpPr/>
          <p:nvPr/>
        </p:nvSpPr>
        <p:spPr>
          <a:xfrm>
            <a:off x="822960" y="411480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6" name="Text 14"/>
          <p:cNvSpPr/>
          <p:nvPr/>
        </p:nvSpPr>
        <p:spPr>
          <a:xfrm>
            <a:off x="1335024" y="4059936"/>
            <a:ext cx="2314346" cy="384048"/>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話しかける</a:t>
            </a:r>
            <a:endParaRPr lang="en-US" sz="1400" dirty="0"/>
          </a:p>
        </p:txBody>
      </p:sp>
      <p:sp>
        <p:nvSpPr>
          <p:cNvPr id="17" name="Text 15"/>
          <p:cNvSpPr/>
          <p:nvPr/>
        </p:nvSpPr>
        <p:spPr>
          <a:xfrm>
            <a:off x="822960" y="4535424"/>
            <a:ext cx="2808122" cy="713232"/>
          </a:xfrm>
          <a:prstGeom prst="rect">
            <a:avLst/>
          </a:prstGeom>
          <a:noFill/>
          <a:ln/>
        </p:spPr>
        <p:txBody>
          <a:bodyPr wrap="square" lIns="0" tIns="0" rIns="0" bIns="0" rtlCol="0" anchor="t"/>
          <a:lstStyle/>
          <a:p>
            <a:pPr indent="0" marL="0">
              <a:lnSpc>
                <a:spcPts val="1700"/>
              </a:lnSpc>
              <a:buNone/>
            </a:pPr>
            <a:r>
              <a:rPr lang="en-US" sz="1100" dirty="0">
                <a:solidFill>
                  <a:srgbClr val="667382"/>
                </a:solidFill>
                <a:latin typeface="Meiryo" pitchFamily="34" charset="0"/>
                <a:ea typeface="Meiryo" pitchFamily="34" charset="-122"/>
                <a:cs typeface="Meiryo" pitchFamily="34" charset="-120"/>
              </a:rPr>
              <a:t>日本語で質問するだけ。特別な操作や関数は覚えません。</a:t>
            </a:r>
            <a:endParaRPr lang="en-US" sz="1100" dirty="0"/>
          </a:p>
        </p:txBody>
      </p:sp>
      <p:sp>
        <p:nvSpPr>
          <p:cNvPr id="18" name="Text 16"/>
          <p:cNvSpPr/>
          <p:nvPr/>
        </p:nvSpPr>
        <p:spPr>
          <a:xfrm>
            <a:off x="3887114" y="3877056"/>
            <a:ext cx="548640" cy="1481328"/>
          </a:xfrm>
          <a:prstGeom prst="rect">
            <a:avLst/>
          </a:prstGeom>
          <a:noFill/>
          <a:ln/>
        </p:spPr>
        <p:txBody>
          <a:bodyPr wrap="square" lIns="0" tIns="0" rIns="0" bIns="0" rtlCol="0" anchor="ctr"/>
          <a:lstStyle/>
          <a:p>
            <a:pPr algn="ctr" indent="0" marL="0">
              <a:buNone/>
            </a:pPr>
            <a:r>
              <a:rPr lang="en-US" sz="1400" dirty="0">
                <a:solidFill>
                  <a:srgbClr val="D97612"/>
                </a:solidFill>
                <a:latin typeface="Meiryo" pitchFamily="34" charset="0"/>
                <a:ea typeface="Meiryo" pitchFamily="34" charset="-122"/>
                <a:cs typeface="Meiryo" pitchFamily="34" charset="-120"/>
              </a:rPr>
              <a:t>▶</a:t>
            </a:r>
            <a:endParaRPr lang="en-US" sz="1400" dirty="0"/>
          </a:p>
        </p:txBody>
      </p:sp>
      <p:sp>
        <p:nvSpPr>
          <p:cNvPr id="19" name="Shape 17"/>
          <p:cNvSpPr/>
          <p:nvPr/>
        </p:nvSpPr>
        <p:spPr>
          <a:xfrm>
            <a:off x="4435754" y="3877056"/>
            <a:ext cx="3320186" cy="1481328"/>
          </a:xfrm>
          <a:prstGeom prst="roundRect">
            <a:avLst>
              <a:gd name="adj" fmla="val 4321"/>
            </a:avLst>
          </a:prstGeom>
          <a:solidFill>
            <a:srgbClr val="F2F4F6"/>
          </a:solidFill>
          <a:ln w="12700">
            <a:solidFill>
              <a:srgbClr val="F2F4F6"/>
            </a:solidFill>
            <a:prstDash val="solid"/>
          </a:ln>
        </p:spPr>
      </p:sp>
      <p:sp>
        <p:nvSpPr>
          <p:cNvPr id="20" name="Shape 18"/>
          <p:cNvSpPr/>
          <p:nvPr/>
        </p:nvSpPr>
        <p:spPr>
          <a:xfrm>
            <a:off x="4691786" y="4114800"/>
            <a:ext cx="384048" cy="384048"/>
          </a:xfrm>
          <a:prstGeom prst="ellipse">
            <a:avLst/>
          </a:prstGeom>
          <a:solidFill>
            <a:srgbClr val="223140"/>
          </a:solidFill>
          <a:ln w="12700">
            <a:solidFill>
              <a:srgbClr val="223140"/>
            </a:solidFill>
            <a:prstDash val="solid"/>
          </a:ln>
        </p:spPr>
      </p:sp>
      <p:sp>
        <p:nvSpPr>
          <p:cNvPr id="21" name="Text 19"/>
          <p:cNvSpPr/>
          <p:nvPr/>
        </p:nvSpPr>
        <p:spPr>
          <a:xfrm>
            <a:off x="4691786" y="411480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22" name="Text 20"/>
          <p:cNvSpPr/>
          <p:nvPr/>
        </p:nvSpPr>
        <p:spPr>
          <a:xfrm>
            <a:off x="5203850" y="4059936"/>
            <a:ext cx="2314346" cy="384048"/>
          </a:xfrm>
          <a:prstGeom prst="rect">
            <a:avLst/>
          </a:prstGeom>
          <a:noFill/>
          <a:ln/>
        </p:spPr>
        <p:txBody>
          <a:bodyPr wrap="square" lIns="0" tIns="0" rIns="0" bIns="0" rtlCol="0" anchor="ctr"/>
          <a:lstStyle/>
          <a:p>
            <a:pPr indent="0" marL="0">
              <a:buNone/>
            </a:pPr>
            <a:r>
              <a:rPr lang="en-US" sz="1400" b="1" dirty="0">
                <a:solidFill>
                  <a:srgbClr val="1B2733"/>
                </a:solidFill>
                <a:latin typeface="Meiryo" pitchFamily="34" charset="0"/>
                <a:ea typeface="Meiryo" pitchFamily="34" charset="-122"/>
                <a:cs typeface="Meiryo" pitchFamily="34" charset="-120"/>
              </a:rPr>
              <a:t>AIが取りに行く</a:t>
            </a:r>
            <a:endParaRPr lang="en-US" sz="1400" dirty="0"/>
          </a:p>
        </p:txBody>
      </p:sp>
      <p:sp>
        <p:nvSpPr>
          <p:cNvPr id="23" name="Text 21"/>
          <p:cNvSpPr/>
          <p:nvPr/>
        </p:nvSpPr>
        <p:spPr>
          <a:xfrm>
            <a:off x="4691786" y="4535424"/>
            <a:ext cx="2808122" cy="713232"/>
          </a:xfrm>
          <a:prstGeom prst="rect">
            <a:avLst/>
          </a:prstGeom>
          <a:noFill/>
          <a:ln/>
        </p:spPr>
        <p:txBody>
          <a:bodyPr wrap="square" lIns="0" tIns="0" rIns="0" bIns="0" rtlCol="0" anchor="t"/>
          <a:lstStyle/>
          <a:p>
            <a:pPr indent="0" marL="0">
              <a:lnSpc>
                <a:spcPts val="1700"/>
              </a:lnSpc>
              <a:buNone/>
            </a:pPr>
            <a:r>
              <a:rPr lang="en-US" sz="1100" dirty="0">
                <a:solidFill>
                  <a:srgbClr val="667382"/>
                </a:solidFill>
                <a:latin typeface="Meiryo" pitchFamily="34" charset="0"/>
                <a:ea typeface="Meiryo" pitchFamily="34" charset="-122"/>
                <a:cs typeface="Meiryo" pitchFamily="34" charset="-120"/>
              </a:rPr>
              <a:t>許可された範囲のログを、AIが自分で参照します。人は探しません。</a:t>
            </a:r>
            <a:endParaRPr lang="en-US" sz="1100" dirty="0"/>
          </a:p>
        </p:txBody>
      </p:sp>
      <p:sp>
        <p:nvSpPr>
          <p:cNvPr id="24" name="Text 22"/>
          <p:cNvSpPr/>
          <p:nvPr/>
        </p:nvSpPr>
        <p:spPr>
          <a:xfrm>
            <a:off x="7755941" y="3877056"/>
            <a:ext cx="548640" cy="1481328"/>
          </a:xfrm>
          <a:prstGeom prst="rect">
            <a:avLst/>
          </a:prstGeom>
          <a:noFill/>
          <a:ln/>
        </p:spPr>
        <p:txBody>
          <a:bodyPr wrap="square" lIns="0" tIns="0" rIns="0" bIns="0" rtlCol="0" anchor="ctr"/>
          <a:lstStyle/>
          <a:p>
            <a:pPr algn="ctr" indent="0" marL="0">
              <a:buNone/>
            </a:pPr>
            <a:r>
              <a:rPr lang="en-US" sz="1400" dirty="0">
                <a:solidFill>
                  <a:srgbClr val="D97612"/>
                </a:solidFill>
                <a:latin typeface="Meiryo" pitchFamily="34" charset="0"/>
                <a:ea typeface="Meiryo" pitchFamily="34" charset="-122"/>
                <a:cs typeface="Meiryo" pitchFamily="34" charset="-120"/>
              </a:rPr>
              <a:t>▶</a:t>
            </a:r>
            <a:endParaRPr lang="en-US" sz="1400" dirty="0"/>
          </a:p>
        </p:txBody>
      </p:sp>
      <p:sp>
        <p:nvSpPr>
          <p:cNvPr id="25" name="Shape 23"/>
          <p:cNvSpPr/>
          <p:nvPr/>
        </p:nvSpPr>
        <p:spPr>
          <a:xfrm>
            <a:off x="8304581" y="3877056"/>
            <a:ext cx="3320186" cy="1481328"/>
          </a:xfrm>
          <a:prstGeom prst="roundRect">
            <a:avLst>
              <a:gd name="adj" fmla="val 4321"/>
            </a:avLst>
          </a:prstGeom>
          <a:solidFill>
            <a:srgbClr val="FDF1E2"/>
          </a:solidFill>
          <a:ln w="12700">
            <a:solidFill>
              <a:srgbClr val="FDF1E2"/>
            </a:solidFill>
            <a:prstDash val="solid"/>
          </a:ln>
        </p:spPr>
      </p:sp>
      <p:sp>
        <p:nvSpPr>
          <p:cNvPr id="26" name="Shape 24"/>
          <p:cNvSpPr/>
          <p:nvPr/>
        </p:nvSpPr>
        <p:spPr>
          <a:xfrm>
            <a:off x="8560613" y="4114800"/>
            <a:ext cx="384048" cy="384048"/>
          </a:xfrm>
          <a:prstGeom prst="ellipse">
            <a:avLst/>
          </a:prstGeom>
          <a:solidFill>
            <a:srgbClr val="D97612"/>
          </a:solidFill>
          <a:ln w="12700">
            <a:solidFill>
              <a:srgbClr val="D97612"/>
            </a:solidFill>
            <a:prstDash val="solid"/>
          </a:ln>
        </p:spPr>
      </p:sp>
      <p:sp>
        <p:nvSpPr>
          <p:cNvPr id="27" name="Text 25"/>
          <p:cNvSpPr/>
          <p:nvPr/>
        </p:nvSpPr>
        <p:spPr>
          <a:xfrm>
            <a:off x="8560613" y="411480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8" name="Text 26"/>
          <p:cNvSpPr/>
          <p:nvPr/>
        </p:nvSpPr>
        <p:spPr>
          <a:xfrm>
            <a:off x="9072677" y="4059936"/>
            <a:ext cx="2314346" cy="384048"/>
          </a:xfrm>
          <a:prstGeom prst="rect">
            <a:avLst/>
          </a:prstGeom>
          <a:noFill/>
          <a:ln/>
        </p:spPr>
        <p:txBody>
          <a:bodyPr wrap="square" lIns="0" tIns="0" rIns="0" bIns="0" rtlCol="0" anchor="ctr"/>
          <a:lstStyle/>
          <a:p>
            <a:pPr indent="0" marL="0">
              <a:buNone/>
            </a:pPr>
            <a:r>
              <a:rPr lang="en-US" sz="1400" b="1" dirty="0">
                <a:solidFill>
                  <a:srgbClr val="A85705"/>
                </a:solidFill>
                <a:latin typeface="Meiryo" pitchFamily="34" charset="0"/>
                <a:ea typeface="Meiryo" pitchFamily="34" charset="-122"/>
                <a:cs typeface="Meiryo" pitchFamily="34" charset="-120"/>
              </a:rPr>
              <a:t>資料になる</a:t>
            </a:r>
            <a:endParaRPr lang="en-US" sz="1400" dirty="0"/>
          </a:p>
        </p:txBody>
      </p:sp>
      <p:sp>
        <p:nvSpPr>
          <p:cNvPr id="29" name="Text 27"/>
          <p:cNvSpPr/>
          <p:nvPr/>
        </p:nvSpPr>
        <p:spPr>
          <a:xfrm>
            <a:off x="8560613" y="4535424"/>
            <a:ext cx="2808122" cy="713232"/>
          </a:xfrm>
          <a:prstGeom prst="rect">
            <a:avLst/>
          </a:prstGeom>
          <a:noFill/>
          <a:ln/>
        </p:spPr>
        <p:txBody>
          <a:bodyPr wrap="square" lIns="0" tIns="0" rIns="0" bIns="0" rtlCol="0" anchor="t"/>
          <a:lstStyle/>
          <a:p>
            <a:pPr indent="0" marL="0">
              <a:lnSpc>
                <a:spcPts val="1700"/>
              </a:lnSpc>
              <a:buNone/>
            </a:pPr>
            <a:r>
              <a:rPr lang="en-US" sz="1100" dirty="0">
                <a:solidFill>
                  <a:srgbClr val="6B4A24"/>
                </a:solidFill>
                <a:latin typeface="Meiryo" pitchFamily="34" charset="0"/>
                <a:ea typeface="Meiryo" pitchFamily="34" charset="-122"/>
                <a:cs typeface="Meiryo" pitchFamily="34" charset="-120"/>
              </a:rPr>
              <a:t>集計・グラフ・説明文の下書きまで。会議資料の素案ができます。</a:t>
            </a:r>
            <a:endParaRPr lang="en-US" sz="1100" dirty="0"/>
          </a:p>
        </p:txBody>
      </p:sp>
      <p:sp>
        <p:nvSpPr>
          <p:cNvPr id="30" name="Text 28"/>
          <p:cNvSpPr/>
          <p:nvPr/>
        </p:nvSpPr>
        <p:spPr>
          <a:xfrm>
            <a:off x="566928" y="5559552"/>
            <a:ext cx="11057839" cy="548640"/>
          </a:xfrm>
          <a:prstGeom prst="rect">
            <a:avLst/>
          </a:prstGeom>
          <a:noFill/>
          <a:ln/>
        </p:spPr>
        <p:txBody>
          <a:bodyPr wrap="square" lIns="0" tIns="0" rIns="0" bIns="0" rtlCol="0" anchor="t"/>
          <a:lstStyle/>
          <a:p>
            <a:pPr indent="0" marL="0">
              <a:lnSpc>
                <a:spcPts val="1500"/>
              </a:lnSpc>
              <a:buNone/>
            </a:pPr>
            <a:r>
              <a:rPr lang="en-US" sz="950" dirty="0">
                <a:solidFill>
                  <a:srgbClr val="8C97A3"/>
                </a:solidFill>
                <a:latin typeface="Meiryo" pitchFamily="34" charset="0"/>
                <a:ea typeface="Meiryo" pitchFamily="34" charset="-122"/>
                <a:cs typeface="Meiryo" pitchFamily="34" charset="-120"/>
              </a:rPr>
              <a:t>※ PCログ管理とMCPを連携させたサービスは、当社調べで国内でも数少ない取り組みです（2026年7月時点）。参照できる範囲は設定で制限できます。</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05</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デモでご覧いただきます</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実際の画面で、質問から資料化までをお見せします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33</a:t>
            </a:r>
            <a:endParaRPr lang="en-US" sz="850" dirty="0"/>
          </a:p>
        </p:txBody>
      </p:sp>
      <p:sp>
        <p:nvSpPr>
          <p:cNvPr id="7" name="Shape 5"/>
          <p:cNvSpPr/>
          <p:nvPr/>
        </p:nvSpPr>
        <p:spPr>
          <a:xfrm>
            <a:off x="566928" y="1737360"/>
            <a:ext cx="6949440" cy="3657600"/>
          </a:xfrm>
          <a:prstGeom prst="roundRect">
            <a:avLst>
              <a:gd name="adj" fmla="val 1750"/>
            </a:avLst>
          </a:prstGeom>
          <a:solidFill>
            <a:srgbClr val="16202B"/>
          </a:solidFill>
          <a:ln w="12700">
            <a:solidFill>
              <a:srgbClr val="16202B"/>
            </a:solidFill>
            <a:prstDash val="solid"/>
          </a:ln>
        </p:spPr>
      </p:sp>
      <p:sp>
        <p:nvSpPr>
          <p:cNvPr id="8" name="Text 6"/>
          <p:cNvSpPr/>
          <p:nvPr/>
        </p:nvSpPr>
        <p:spPr>
          <a:xfrm>
            <a:off x="877824" y="1920240"/>
            <a:ext cx="6309360" cy="365760"/>
          </a:xfrm>
          <a:prstGeom prst="rect">
            <a:avLst/>
          </a:prstGeom>
          <a:noFill/>
          <a:ln/>
        </p:spPr>
        <p:txBody>
          <a:bodyPr wrap="square" lIns="0" tIns="0" rIns="0" bIns="0" rtlCol="0" anchor="ctr"/>
          <a:lstStyle/>
          <a:p>
            <a:pPr indent="0" marL="0">
              <a:buNone/>
            </a:pPr>
            <a:r>
              <a:rPr lang="en-US" sz="1300" b="1" dirty="0">
                <a:solidFill>
                  <a:srgbClr val="D97612"/>
                </a:solidFill>
                <a:latin typeface="Meiryo" pitchFamily="34" charset="0"/>
                <a:ea typeface="Meiryo" pitchFamily="34" charset="-122"/>
                <a:cs typeface="Meiryo" pitchFamily="34" charset="-120"/>
              </a:rPr>
              <a:t>お見せする流れ</a:t>
            </a:r>
            <a:endParaRPr lang="en-US" sz="1300" dirty="0"/>
          </a:p>
        </p:txBody>
      </p:sp>
      <p:sp>
        <p:nvSpPr>
          <p:cNvPr id="9" name="Shape 7"/>
          <p:cNvSpPr/>
          <p:nvPr/>
        </p:nvSpPr>
        <p:spPr>
          <a:xfrm>
            <a:off x="877824" y="2487168"/>
            <a:ext cx="402336" cy="402336"/>
          </a:xfrm>
          <a:prstGeom prst="ellipse">
            <a:avLst/>
          </a:prstGeom>
          <a:solidFill>
            <a:srgbClr val="D97612"/>
          </a:solidFill>
          <a:ln w="12700">
            <a:solidFill>
              <a:srgbClr val="D97612"/>
            </a:solidFill>
            <a:prstDash val="solid"/>
          </a:ln>
        </p:spPr>
      </p:sp>
      <p:sp>
        <p:nvSpPr>
          <p:cNvPr id="10" name="Text 8"/>
          <p:cNvSpPr/>
          <p:nvPr/>
        </p:nvSpPr>
        <p:spPr>
          <a:xfrm>
            <a:off x="877824" y="248716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1" name="Text 9"/>
          <p:cNvSpPr/>
          <p:nvPr/>
        </p:nvSpPr>
        <p:spPr>
          <a:xfrm>
            <a:off x="1426464" y="2432304"/>
            <a:ext cx="5760720" cy="420624"/>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Meiryo" pitchFamily="34" charset="0"/>
                <a:ea typeface="Meiryo" pitchFamily="34" charset="-122"/>
                <a:cs typeface="Meiryo" pitchFamily="34" charset="-120"/>
              </a:rPr>
              <a:t>「先月、部門別にどの業務へ何時間使ったか教えて」と入力</a:t>
            </a:r>
            <a:endParaRPr lang="en-US" sz="1300" dirty="0"/>
          </a:p>
        </p:txBody>
      </p:sp>
      <p:sp>
        <p:nvSpPr>
          <p:cNvPr id="12" name="Text 10"/>
          <p:cNvSpPr/>
          <p:nvPr/>
        </p:nvSpPr>
        <p:spPr>
          <a:xfrm>
            <a:off x="1426464" y="2852928"/>
            <a:ext cx="5760720" cy="384048"/>
          </a:xfrm>
          <a:prstGeom prst="rect">
            <a:avLst/>
          </a:prstGeom>
          <a:noFill/>
          <a:ln/>
        </p:spPr>
        <p:txBody>
          <a:bodyPr wrap="square" lIns="0" tIns="0" rIns="0" bIns="0" rtlCol="0" anchor="ctr"/>
          <a:lstStyle/>
          <a:p>
            <a:pPr indent="0" marL="0">
              <a:buNone/>
            </a:pPr>
            <a:r>
              <a:rPr lang="en-US" sz="1100" dirty="0">
                <a:solidFill>
                  <a:srgbClr val="B9C4CF"/>
                </a:solidFill>
                <a:latin typeface="Meiryo" pitchFamily="34" charset="0"/>
                <a:ea typeface="Meiryo" pitchFamily="34" charset="-122"/>
                <a:cs typeface="Meiryo" pitchFamily="34" charset="-120"/>
              </a:rPr>
              <a:t>質問はこれだけ。条件の指定もExcelの操作もありません。</a:t>
            </a:r>
            <a:endParaRPr lang="en-US" sz="1100" dirty="0"/>
          </a:p>
        </p:txBody>
      </p:sp>
      <p:sp>
        <p:nvSpPr>
          <p:cNvPr id="13" name="Shape 11"/>
          <p:cNvSpPr/>
          <p:nvPr/>
        </p:nvSpPr>
        <p:spPr>
          <a:xfrm>
            <a:off x="877824" y="3419856"/>
            <a:ext cx="402336" cy="402336"/>
          </a:xfrm>
          <a:prstGeom prst="ellipse">
            <a:avLst/>
          </a:prstGeom>
          <a:solidFill>
            <a:srgbClr val="D97612"/>
          </a:solidFill>
          <a:ln w="12700">
            <a:solidFill>
              <a:srgbClr val="D97612"/>
            </a:solidFill>
            <a:prstDash val="solid"/>
          </a:ln>
        </p:spPr>
      </p:sp>
      <p:sp>
        <p:nvSpPr>
          <p:cNvPr id="14" name="Text 12"/>
          <p:cNvSpPr/>
          <p:nvPr/>
        </p:nvSpPr>
        <p:spPr>
          <a:xfrm>
            <a:off x="877824" y="34198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5" name="Text 13"/>
          <p:cNvSpPr/>
          <p:nvPr/>
        </p:nvSpPr>
        <p:spPr>
          <a:xfrm>
            <a:off x="1426464" y="3364992"/>
            <a:ext cx="5760720" cy="420624"/>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Meiryo" pitchFamily="34" charset="0"/>
                <a:ea typeface="Meiryo" pitchFamily="34" charset="-122"/>
                <a:cs typeface="Meiryo" pitchFamily="34" charset="-120"/>
              </a:rPr>
              <a:t>AIが権限の範囲でログを参照し、集計する</a:t>
            </a:r>
            <a:endParaRPr lang="en-US" sz="1300" dirty="0"/>
          </a:p>
        </p:txBody>
      </p:sp>
      <p:sp>
        <p:nvSpPr>
          <p:cNvPr id="16" name="Text 14"/>
          <p:cNvSpPr/>
          <p:nvPr/>
        </p:nvSpPr>
        <p:spPr>
          <a:xfrm>
            <a:off x="1426464" y="3785616"/>
            <a:ext cx="5760720" cy="384048"/>
          </a:xfrm>
          <a:prstGeom prst="rect">
            <a:avLst/>
          </a:prstGeom>
          <a:noFill/>
          <a:ln/>
        </p:spPr>
        <p:txBody>
          <a:bodyPr wrap="square" lIns="0" tIns="0" rIns="0" bIns="0" rtlCol="0" anchor="ctr"/>
          <a:lstStyle/>
          <a:p>
            <a:pPr indent="0" marL="0">
              <a:buNone/>
            </a:pPr>
            <a:r>
              <a:rPr lang="en-US" sz="1100" dirty="0">
                <a:solidFill>
                  <a:srgbClr val="B9C4CF"/>
                </a:solidFill>
                <a:latin typeface="Meiryo" pitchFamily="34" charset="0"/>
                <a:ea typeface="Meiryo" pitchFamily="34" charset="-122"/>
                <a:cs typeface="Meiryo" pitchFamily="34" charset="-120"/>
              </a:rPr>
              <a:t>どのデータを見たかも記録に残ります。</a:t>
            </a:r>
            <a:endParaRPr lang="en-US" sz="1100" dirty="0"/>
          </a:p>
        </p:txBody>
      </p:sp>
      <p:sp>
        <p:nvSpPr>
          <p:cNvPr id="17" name="Shape 15"/>
          <p:cNvSpPr/>
          <p:nvPr/>
        </p:nvSpPr>
        <p:spPr>
          <a:xfrm>
            <a:off x="877824" y="4352544"/>
            <a:ext cx="402336" cy="402336"/>
          </a:xfrm>
          <a:prstGeom prst="ellipse">
            <a:avLst/>
          </a:prstGeom>
          <a:solidFill>
            <a:srgbClr val="D97612"/>
          </a:solidFill>
          <a:ln w="12700">
            <a:solidFill>
              <a:srgbClr val="D97612"/>
            </a:solidFill>
            <a:prstDash val="solid"/>
          </a:ln>
        </p:spPr>
      </p:sp>
      <p:sp>
        <p:nvSpPr>
          <p:cNvPr id="18" name="Text 16"/>
          <p:cNvSpPr/>
          <p:nvPr/>
        </p:nvSpPr>
        <p:spPr>
          <a:xfrm>
            <a:off x="877824" y="435254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19" name="Text 17"/>
          <p:cNvSpPr/>
          <p:nvPr/>
        </p:nvSpPr>
        <p:spPr>
          <a:xfrm>
            <a:off x="1426464" y="4297680"/>
            <a:ext cx="5760720" cy="420624"/>
          </a:xfrm>
          <a:prstGeom prst="rect">
            <a:avLst/>
          </a:prstGeom>
          <a:noFill/>
          <a:ln/>
        </p:spPr>
        <p:txBody>
          <a:bodyPr wrap="square" lIns="0" tIns="0" rIns="0" bIns="0" rtlCol="0" anchor="ctr"/>
          <a:lstStyle/>
          <a:p>
            <a:pPr indent="0" marL="0">
              <a:lnSpc>
                <a:spcPts val="2000"/>
              </a:lnSpc>
              <a:buNone/>
            </a:pPr>
            <a:r>
              <a:rPr lang="en-US" sz="1300" b="1" dirty="0">
                <a:solidFill>
                  <a:srgbClr val="FFFFFF"/>
                </a:solidFill>
                <a:latin typeface="Meiryo" pitchFamily="34" charset="0"/>
                <a:ea typeface="Meiryo" pitchFamily="34" charset="-122"/>
                <a:cs typeface="Meiryo" pitchFamily="34" charset="-120"/>
              </a:rPr>
              <a:t>部門別グラフと、コメント案が出力される</a:t>
            </a:r>
            <a:endParaRPr lang="en-US" sz="1300" dirty="0"/>
          </a:p>
        </p:txBody>
      </p:sp>
      <p:sp>
        <p:nvSpPr>
          <p:cNvPr id="20" name="Text 18"/>
          <p:cNvSpPr/>
          <p:nvPr/>
        </p:nvSpPr>
        <p:spPr>
          <a:xfrm>
            <a:off x="1426464" y="4718304"/>
            <a:ext cx="5760720" cy="384048"/>
          </a:xfrm>
          <a:prstGeom prst="rect">
            <a:avLst/>
          </a:prstGeom>
          <a:noFill/>
          <a:ln/>
        </p:spPr>
        <p:txBody>
          <a:bodyPr wrap="square" lIns="0" tIns="0" rIns="0" bIns="0" rtlCol="0" anchor="ctr"/>
          <a:lstStyle/>
          <a:p>
            <a:pPr indent="0" marL="0">
              <a:buNone/>
            </a:pPr>
            <a:r>
              <a:rPr lang="en-US" sz="1100" dirty="0">
                <a:solidFill>
                  <a:srgbClr val="B9C4CF"/>
                </a:solidFill>
                <a:latin typeface="Meiryo" pitchFamily="34" charset="0"/>
                <a:ea typeface="Meiryo" pitchFamily="34" charset="-122"/>
                <a:cs typeface="Meiryo" pitchFamily="34" charset="-120"/>
              </a:rPr>
              <a:t>経営会議資料の下書きが、この場でできあがります。</a:t>
            </a:r>
            <a:endParaRPr lang="en-US" sz="1100" dirty="0"/>
          </a:p>
        </p:txBody>
      </p:sp>
      <p:sp>
        <p:nvSpPr>
          <p:cNvPr id="21" name="Shape 19"/>
          <p:cNvSpPr/>
          <p:nvPr/>
        </p:nvSpPr>
        <p:spPr>
          <a:xfrm>
            <a:off x="7790688" y="1737360"/>
            <a:ext cx="3834079" cy="2487168"/>
          </a:xfrm>
          <a:prstGeom prst="roundRect">
            <a:avLst>
              <a:gd name="adj" fmla="val 2574"/>
            </a:avLst>
          </a:prstGeom>
          <a:solidFill>
            <a:srgbClr val="FDF1E2"/>
          </a:solidFill>
          <a:ln w="12700">
            <a:solidFill>
              <a:srgbClr val="FDF1E2"/>
            </a:solidFill>
            <a:prstDash val="solid"/>
          </a:ln>
        </p:spPr>
      </p:sp>
      <p:sp>
        <p:nvSpPr>
          <p:cNvPr id="22" name="Text 20"/>
          <p:cNvSpPr/>
          <p:nvPr/>
        </p:nvSpPr>
        <p:spPr>
          <a:xfrm>
            <a:off x="8065008" y="1920240"/>
            <a:ext cx="3285439" cy="329184"/>
          </a:xfrm>
          <a:prstGeom prst="rect">
            <a:avLst/>
          </a:prstGeom>
          <a:noFill/>
          <a:ln/>
        </p:spPr>
        <p:txBody>
          <a:bodyPr wrap="square" lIns="0" tIns="0" rIns="0" bIns="0" rtlCol="0" anchor="ctr"/>
          <a:lstStyle/>
          <a:p>
            <a:pPr indent="0" marL="0">
              <a:buNone/>
            </a:pPr>
            <a:r>
              <a:rPr lang="en-US" sz="1300" b="1" dirty="0">
                <a:solidFill>
                  <a:srgbClr val="A85705"/>
                </a:solidFill>
                <a:latin typeface="Meiryo" pitchFamily="34" charset="0"/>
                <a:ea typeface="Meiryo" pitchFamily="34" charset="-122"/>
                <a:cs typeface="Meiryo" pitchFamily="34" charset="-120"/>
              </a:rPr>
              <a:t>ご注目いただきたい点</a:t>
            </a:r>
            <a:endParaRPr lang="en-US" sz="1300" dirty="0"/>
          </a:p>
        </p:txBody>
      </p:sp>
      <p:sp>
        <p:nvSpPr>
          <p:cNvPr id="23" name="Text 21"/>
          <p:cNvSpPr/>
          <p:nvPr/>
        </p:nvSpPr>
        <p:spPr>
          <a:xfrm>
            <a:off x="8065008" y="2340864"/>
            <a:ext cx="3285439" cy="1737360"/>
          </a:xfrm>
          <a:prstGeom prst="rect">
            <a:avLst/>
          </a:prstGeom>
          <a:noFill/>
          <a:ln/>
        </p:spPr>
        <p:txBody>
          <a:bodyPr wrap="square" lIns="0" tIns="0" rIns="0" bIns="0" rtlCol="0" anchor="t"/>
          <a:lstStyle/>
          <a:p>
            <a:pPr marL="342900" indent="-342900">
              <a:spcAft>
                <a:spcPts val="1100"/>
              </a:spcAft>
              <a:buSzPct val="100000"/>
              <a:buChar char="•"/>
            </a:pPr>
            <a:r>
              <a:rPr lang="en-US" sz="1200" dirty="0">
                <a:solidFill>
                  <a:srgbClr val="6B4A24"/>
                </a:solidFill>
                <a:latin typeface="Meiryo" pitchFamily="34" charset="0"/>
                <a:ea typeface="Meiryo" pitchFamily="34" charset="-122"/>
                <a:cs typeface="Meiryo" pitchFamily="34" charset="-120"/>
              </a:rPr>
              <a:t>特別な操作を、何ひとつ覚えていないこと</a:t>
            </a:r>
            <a:endParaRPr lang="en-US" sz="1200" dirty="0"/>
          </a:p>
          <a:p>
            <a:pPr marL="342900" indent="-342900">
              <a:spcAft>
                <a:spcPts val="1100"/>
              </a:spcAft>
              <a:buSzPct val="100000"/>
              <a:buChar char="•"/>
            </a:pPr>
            <a:r>
              <a:rPr lang="en-US" sz="1200" dirty="0">
                <a:solidFill>
                  <a:srgbClr val="6B4A24"/>
                </a:solidFill>
                <a:latin typeface="Meiryo" pitchFamily="34" charset="0"/>
                <a:ea typeface="Meiryo" pitchFamily="34" charset="-122"/>
                <a:cs typeface="Meiryo" pitchFamily="34" charset="-120"/>
              </a:rPr>
              <a:t>使うのは日本語の質問だけであること</a:t>
            </a:r>
            <a:endParaRPr lang="en-US" sz="1200" dirty="0"/>
          </a:p>
          <a:p>
            <a:pPr marL="342900" indent="-342900">
              <a:spcAft>
                <a:spcPts val="1100"/>
              </a:spcAft>
              <a:buSzPct val="100000"/>
              <a:buChar char="•"/>
            </a:pPr>
            <a:r>
              <a:rPr lang="en-US" sz="1200" dirty="0">
                <a:solidFill>
                  <a:srgbClr val="6B4A24"/>
                </a:solidFill>
                <a:latin typeface="Meiryo" pitchFamily="34" charset="0"/>
                <a:ea typeface="Meiryo" pitchFamily="34" charset="-122"/>
                <a:cs typeface="Meiryo" pitchFamily="34" charset="-120"/>
              </a:rPr>
              <a:t>人がデータを探す工程が無いこと</a:t>
            </a:r>
            <a:endParaRPr lang="en-US" sz="1200" dirty="0"/>
          </a:p>
          <a:p>
            <a:pPr marL="342900" indent="-342900">
              <a:spcAft>
                <a:spcPts val="1100"/>
              </a:spcAft>
              <a:buSzPct val="100000"/>
              <a:buChar char="•"/>
            </a:pPr>
            <a:r>
              <a:rPr lang="en-US" sz="1200" dirty="0">
                <a:solidFill>
                  <a:srgbClr val="6B4A24"/>
                </a:solidFill>
                <a:latin typeface="Meiryo" pitchFamily="34" charset="0"/>
                <a:ea typeface="Meiryo" pitchFamily="34" charset="-122"/>
                <a:cs typeface="Meiryo" pitchFamily="34" charset="-120"/>
              </a:rPr>
              <a:t>出てきたものが、そのまま会議で使える形であること</a:t>
            </a:r>
            <a:endParaRPr lang="en-US" sz="1200" dirty="0"/>
          </a:p>
        </p:txBody>
      </p:sp>
      <p:sp>
        <p:nvSpPr>
          <p:cNvPr id="24" name="Shape 22"/>
          <p:cNvSpPr/>
          <p:nvPr/>
        </p:nvSpPr>
        <p:spPr>
          <a:xfrm>
            <a:off x="7790688" y="4370832"/>
            <a:ext cx="3834079" cy="1024128"/>
          </a:xfrm>
          <a:prstGeom prst="roundRect">
            <a:avLst>
              <a:gd name="adj" fmla="val 6250"/>
            </a:avLst>
          </a:prstGeom>
          <a:solidFill>
            <a:srgbClr val="F2F4F6"/>
          </a:solidFill>
          <a:ln w="12700">
            <a:solidFill>
              <a:srgbClr val="F2F4F6"/>
            </a:solidFill>
            <a:prstDash val="solid"/>
          </a:ln>
        </p:spPr>
      </p:sp>
      <p:sp>
        <p:nvSpPr>
          <p:cNvPr id="25" name="Text 23"/>
          <p:cNvSpPr/>
          <p:nvPr/>
        </p:nvSpPr>
        <p:spPr>
          <a:xfrm>
            <a:off x="8065008" y="4370832"/>
            <a:ext cx="3285439" cy="1024128"/>
          </a:xfrm>
          <a:prstGeom prst="rect">
            <a:avLst/>
          </a:prstGeom>
          <a:noFill/>
          <a:ln/>
        </p:spPr>
        <p:txBody>
          <a:bodyPr wrap="square" lIns="0" tIns="0" rIns="0" bIns="0" rtlCol="0" anchor="ctr"/>
          <a:lstStyle/>
          <a:p>
            <a:pPr indent="0" marL="0">
              <a:lnSpc>
                <a:spcPts val="1700"/>
              </a:lnSpc>
              <a:buNone/>
            </a:pPr>
            <a:r>
              <a:rPr lang="en-US" sz="1200" b="1" dirty="0">
                <a:solidFill>
                  <a:srgbClr val="1B2733"/>
                </a:solidFill>
                <a:latin typeface="Meiryo" pitchFamily="34" charset="0"/>
                <a:ea typeface="Meiryo" pitchFamily="34" charset="-122"/>
                <a:cs typeface="Meiryo" pitchFamily="34" charset="-120"/>
              </a:rPr>
              <a:t>「うちでもできますか」の答え</a:t>
            </a:r>
            <a:endParaRPr lang="en-US" sz="1200" dirty="0"/>
          </a:p>
          <a:p>
            <a:pPr indent="0" marL="0">
              <a:lnSpc>
                <a:spcPts val="1700"/>
              </a:lnSpc>
              <a:buNone/>
            </a:pPr>
            <a:r>
              <a:rPr lang="en-US" sz="1050" dirty="0">
                <a:solidFill>
                  <a:srgbClr val="667382"/>
                </a:solidFill>
                <a:latin typeface="Meiryo" pitchFamily="34" charset="0"/>
                <a:ea typeface="Meiryo" pitchFamily="34" charset="-122"/>
                <a:cs typeface="Meiryo" pitchFamily="34" charset="-120"/>
              </a:rPr>
              <a:t>必要なのは、この画面ではなく、その手前の記録です。前半の話がそのまま前提になります。</a:t>
            </a:r>
            <a:endParaRPr lang="en-US" sz="1200" dirty="0"/>
          </a:p>
        </p:txBody>
      </p:sp>
      <p:sp>
        <p:nvSpPr>
          <p:cNvPr id="26" name="Shape 24"/>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27" name="Shape 25"/>
          <p:cNvSpPr/>
          <p:nvPr/>
        </p:nvSpPr>
        <p:spPr>
          <a:xfrm>
            <a:off x="804672" y="5760720"/>
            <a:ext cx="219456" cy="219456"/>
          </a:xfrm>
          <a:prstGeom prst="ellipse">
            <a:avLst/>
          </a:prstGeom>
          <a:solidFill>
            <a:srgbClr val="12695D"/>
          </a:solidFill>
          <a:ln w="12700">
            <a:solidFill>
              <a:srgbClr val="12695D"/>
            </a:solidFill>
            <a:prstDash val="solid"/>
          </a:ln>
        </p:spPr>
      </p:sp>
      <p:sp>
        <p:nvSpPr>
          <p:cNvPr id="28" name="Text 26"/>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デモ中もチャットでご質問をどうぞ。「うちのこの業務は見えますか」といったご質問が、いちばん有益です。</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05</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導入のイメージ</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「記録がある」ことが、そのまま価値になる場面があります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34</a:t>
            </a:r>
            <a:endParaRPr lang="en-US" sz="850" dirty="0"/>
          </a:p>
        </p:txBody>
      </p:sp>
      <p:sp>
        <p:nvSpPr>
          <p:cNvPr id="7" name="Shape 5"/>
          <p:cNvSpPr/>
          <p:nvPr/>
        </p:nvSpPr>
        <p:spPr>
          <a:xfrm>
            <a:off x="566928" y="1737360"/>
            <a:ext cx="6126480" cy="2286000"/>
          </a:xfrm>
          <a:prstGeom prst="roundRect">
            <a:avLst>
              <a:gd name="adj" fmla="val 2800"/>
            </a:avLst>
          </a:prstGeom>
          <a:solidFill>
            <a:srgbClr val="16202B"/>
          </a:solidFill>
          <a:ln w="12700">
            <a:solidFill>
              <a:srgbClr val="16202B"/>
            </a:solidFill>
            <a:prstDash val="solid"/>
          </a:ln>
        </p:spPr>
      </p:sp>
      <p:sp>
        <p:nvSpPr>
          <p:cNvPr id="8" name="Text 6"/>
          <p:cNvSpPr/>
          <p:nvPr/>
        </p:nvSpPr>
        <p:spPr>
          <a:xfrm>
            <a:off x="877824" y="1920240"/>
            <a:ext cx="2743200" cy="310896"/>
          </a:xfrm>
          <a:prstGeom prst="rect">
            <a:avLst/>
          </a:prstGeom>
          <a:noFill/>
          <a:ln/>
        </p:spPr>
        <p:txBody>
          <a:bodyPr wrap="square" lIns="0" tIns="0" rIns="0" bIns="0" rtlCol="0" anchor="ctr"/>
          <a:lstStyle/>
          <a:p>
            <a:pPr indent="0" marL="0">
              <a:buNone/>
            </a:pPr>
            <a:r>
              <a:rPr lang="en-US" sz="1100" b="1" spc="140" kern="0" dirty="0">
                <a:solidFill>
                  <a:srgbClr val="D97612"/>
                </a:solidFill>
                <a:latin typeface="Meiryo" pitchFamily="34" charset="0"/>
                <a:ea typeface="Meiryo" pitchFamily="34" charset="-122"/>
                <a:cs typeface="Meiryo" pitchFamily="34" charset="-120"/>
              </a:rPr>
              <a:t>導入事例</a:t>
            </a:r>
            <a:endParaRPr lang="en-US" sz="1100" dirty="0"/>
          </a:p>
        </p:txBody>
      </p:sp>
      <p:sp>
        <p:nvSpPr>
          <p:cNvPr id="9" name="Text 7"/>
          <p:cNvSpPr/>
          <p:nvPr/>
        </p:nvSpPr>
        <p:spPr>
          <a:xfrm>
            <a:off x="877824" y="2286000"/>
            <a:ext cx="5486400"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上場準備（IPO）での導入</a:t>
            </a:r>
            <a:endParaRPr lang="en-US" sz="1900" dirty="0"/>
          </a:p>
        </p:txBody>
      </p:sp>
      <p:sp>
        <p:nvSpPr>
          <p:cNvPr id="10" name="Text 8"/>
          <p:cNvSpPr/>
          <p:nvPr/>
        </p:nvSpPr>
        <p:spPr>
          <a:xfrm>
            <a:off x="877824" y="2798064"/>
            <a:ext cx="5486400" cy="1005840"/>
          </a:xfrm>
          <a:prstGeom prst="rect">
            <a:avLst/>
          </a:prstGeom>
          <a:noFill/>
          <a:ln/>
        </p:spPr>
        <p:txBody>
          <a:bodyPr wrap="square" lIns="0" tIns="0" rIns="0" bIns="0" rtlCol="0" anchor="t"/>
          <a:lstStyle/>
          <a:p>
            <a:pPr indent="0" marL="0">
              <a:lnSpc>
                <a:spcPts val="2000"/>
              </a:lnSpc>
              <a:buNone/>
            </a:pPr>
            <a:r>
              <a:rPr lang="en-US" sz="1200" dirty="0">
                <a:solidFill>
                  <a:srgbClr val="C6D0DA"/>
                </a:solidFill>
                <a:latin typeface="Meiryo" pitchFamily="34" charset="0"/>
                <a:ea typeface="Meiryo" pitchFamily="34" charset="-122"/>
                <a:cs typeface="Meiryo" pitchFamily="34" charset="-120"/>
              </a:rPr>
              <a:t>情報管理体制の整備と、作業効率の向上を同時に進め、上場を達成されました。監査法人への説明において「操作の記録が残っている」ことが評価につながった事例です。</a:t>
            </a:r>
            <a:endParaRPr lang="en-US" sz="1200" dirty="0"/>
          </a:p>
        </p:txBody>
      </p:sp>
      <p:sp>
        <p:nvSpPr>
          <p:cNvPr id="11" name="Shape 9"/>
          <p:cNvSpPr/>
          <p:nvPr/>
        </p:nvSpPr>
        <p:spPr>
          <a:xfrm>
            <a:off x="6967728" y="1737360"/>
            <a:ext cx="4657039" cy="2286000"/>
          </a:xfrm>
          <a:prstGeom prst="roundRect">
            <a:avLst>
              <a:gd name="adj" fmla="val 2800"/>
            </a:avLst>
          </a:prstGeom>
          <a:solidFill>
            <a:srgbClr val="E3EFED"/>
          </a:solidFill>
          <a:ln w="12700">
            <a:solidFill>
              <a:srgbClr val="E3EFED"/>
            </a:solidFill>
            <a:prstDash val="solid"/>
          </a:ln>
        </p:spPr>
      </p:sp>
      <p:sp>
        <p:nvSpPr>
          <p:cNvPr id="12" name="Text 10"/>
          <p:cNvSpPr/>
          <p:nvPr/>
        </p:nvSpPr>
        <p:spPr>
          <a:xfrm>
            <a:off x="7242048" y="1920240"/>
            <a:ext cx="4108399" cy="329184"/>
          </a:xfrm>
          <a:prstGeom prst="rect">
            <a:avLst/>
          </a:prstGeom>
          <a:noFill/>
          <a:ln/>
        </p:spPr>
        <p:txBody>
          <a:bodyPr wrap="square" lIns="0" tIns="0" rIns="0" bIns="0" rtlCol="0" anchor="ctr"/>
          <a:lstStyle/>
          <a:p>
            <a:pPr indent="0" marL="0">
              <a:buNone/>
            </a:pPr>
            <a:r>
              <a:rPr lang="en-US" sz="1250" b="1" dirty="0">
                <a:solidFill>
                  <a:srgbClr val="12695D"/>
                </a:solidFill>
                <a:latin typeface="Meiryo" pitchFamily="34" charset="0"/>
                <a:ea typeface="Meiryo" pitchFamily="34" charset="-122"/>
                <a:cs typeface="Meiryo" pitchFamily="34" charset="-120"/>
              </a:rPr>
              <a:t>よくある3つの使いどころ</a:t>
            </a:r>
            <a:endParaRPr lang="en-US" sz="1250" dirty="0"/>
          </a:p>
        </p:txBody>
      </p:sp>
      <p:sp>
        <p:nvSpPr>
          <p:cNvPr id="13" name="Shape 11"/>
          <p:cNvSpPr/>
          <p:nvPr/>
        </p:nvSpPr>
        <p:spPr>
          <a:xfrm>
            <a:off x="7242048" y="2395728"/>
            <a:ext cx="292608" cy="292608"/>
          </a:xfrm>
          <a:prstGeom prst="ellipse">
            <a:avLst/>
          </a:prstGeom>
          <a:solidFill>
            <a:srgbClr val="12695D"/>
          </a:solidFill>
          <a:ln w="12700">
            <a:solidFill>
              <a:srgbClr val="12695D"/>
            </a:solidFill>
            <a:prstDash val="solid"/>
          </a:ln>
        </p:spPr>
      </p:sp>
      <p:sp>
        <p:nvSpPr>
          <p:cNvPr id="14" name="Text 12"/>
          <p:cNvSpPr/>
          <p:nvPr/>
        </p:nvSpPr>
        <p:spPr>
          <a:xfrm>
            <a:off x="7242048" y="2395728"/>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1</a:t>
            </a:r>
            <a:endParaRPr lang="en-US" sz="1250" dirty="0"/>
          </a:p>
        </p:txBody>
      </p:sp>
      <p:sp>
        <p:nvSpPr>
          <p:cNvPr id="15" name="Text 13"/>
          <p:cNvSpPr/>
          <p:nvPr/>
        </p:nvSpPr>
        <p:spPr>
          <a:xfrm>
            <a:off x="7644384" y="2340864"/>
            <a:ext cx="3706063" cy="402336"/>
          </a:xfrm>
          <a:prstGeom prst="rect">
            <a:avLst/>
          </a:prstGeom>
          <a:noFill/>
          <a:ln/>
        </p:spPr>
        <p:txBody>
          <a:bodyPr wrap="square" lIns="0" tIns="0" rIns="0" bIns="0" rtlCol="0" anchor="ctr"/>
          <a:lstStyle/>
          <a:p>
            <a:pPr indent="0" marL="0">
              <a:buNone/>
            </a:pPr>
            <a:r>
              <a:rPr lang="en-US" sz="1150" dirty="0">
                <a:solidFill>
                  <a:srgbClr val="1B2733"/>
                </a:solidFill>
                <a:latin typeface="Meiryo" pitchFamily="34" charset="0"/>
                <a:ea typeface="Meiryo" pitchFamily="34" charset="-122"/>
                <a:cs typeface="Meiryo" pitchFamily="34" charset="-120"/>
              </a:rPr>
              <a:t>内部統制の記録として（監査法人への説明資料）</a:t>
            </a:r>
            <a:endParaRPr lang="en-US" sz="1150" dirty="0"/>
          </a:p>
        </p:txBody>
      </p:sp>
      <p:sp>
        <p:nvSpPr>
          <p:cNvPr id="16" name="Shape 14"/>
          <p:cNvSpPr/>
          <p:nvPr/>
        </p:nvSpPr>
        <p:spPr>
          <a:xfrm>
            <a:off x="7242048" y="2907792"/>
            <a:ext cx="292608" cy="292608"/>
          </a:xfrm>
          <a:prstGeom prst="ellipse">
            <a:avLst/>
          </a:prstGeom>
          <a:solidFill>
            <a:srgbClr val="12695D"/>
          </a:solidFill>
          <a:ln w="12700">
            <a:solidFill>
              <a:srgbClr val="12695D"/>
            </a:solidFill>
            <a:prstDash val="solid"/>
          </a:ln>
        </p:spPr>
      </p:sp>
      <p:sp>
        <p:nvSpPr>
          <p:cNvPr id="17" name="Text 15"/>
          <p:cNvSpPr/>
          <p:nvPr/>
        </p:nvSpPr>
        <p:spPr>
          <a:xfrm>
            <a:off x="7242048" y="2907792"/>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2</a:t>
            </a:r>
            <a:endParaRPr lang="en-US" sz="1250" dirty="0"/>
          </a:p>
        </p:txBody>
      </p:sp>
      <p:sp>
        <p:nvSpPr>
          <p:cNvPr id="18" name="Text 16"/>
          <p:cNvSpPr/>
          <p:nvPr/>
        </p:nvSpPr>
        <p:spPr>
          <a:xfrm>
            <a:off x="7644384" y="2852928"/>
            <a:ext cx="3706063" cy="402336"/>
          </a:xfrm>
          <a:prstGeom prst="rect">
            <a:avLst/>
          </a:prstGeom>
          <a:noFill/>
          <a:ln/>
        </p:spPr>
        <p:txBody>
          <a:bodyPr wrap="square" lIns="0" tIns="0" rIns="0" bIns="0" rtlCol="0" anchor="ctr"/>
          <a:lstStyle/>
          <a:p>
            <a:pPr indent="0" marL="0">
              <a:buNone/>
            </a:pPr>
            <a:r>
              <a:rPr lang="en-US" sz="1150" dirty="0">
                <a:solidFill>
                  <a:srgbClr val="1B2733"/>
                </a:solidFill>
                <a:latin typeface="Meiryo" pitchFamily="34" charset="0"/>
                <a:ea typeface="Meiryo" pitchFamily="34" charset="-122"/>
                <a:cs typeface="Meiryo" pitchFamily="34" charset="-120"/>
              </a:rPr>
              <a:t>業務量の実態把握（改善の優先順位づけ）</a:t>
            </a:r>
            <a:endParaRPr lang="en-US" sz="1150" dirty="0"/>
          </a:p>
        </p:txBody>
      </p:sp>
      <p:sp>
        <p:nvSpPr>
          <p:cNvPr id="19" name="Shape 17"/>
          <p:cNvSpPr/>
          <p:nvPr/>
        </p:nvSpPr>
        <p:spPr>
          <a:xfrm>
            <a:off x="7242048" y="3419856"/>
            <a:ext cx="292608" cy="292608"/>
          </a:xfrm>
          <a:prstGeom prst="ellipse">
            <a:avLst/>
          </a:prstGeom>
          <a:solidFill>
            <a:srgbClr val="12695D"/>
          </a:solidFill>
          <a:ln w="12700">
            <a:solidFill>
              <a:srgbClr val="12695D"/>
            </a:solidFill>
            <a:prstDash val="solid"/>
          </a:ln>
        </p:spPr>
      </p:sp>
      <p:sp>
        <p:nvSpPr>
          <p:cNvPr id="20" name="Text 18"/>
          <p:cNvSpPr/>
          <p:nvPr/>
        </p:nvSpPr>
        <p:spPr>
          <a:xfrm>
            <a:off x="7242048" y="3419856"/>
            <a:ext cx="29260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3</a:t>
            </a:r>
            <a:endParaRPr lang="en-US" sz="1250" dirty="0"/>
          </a:p>
        </p:txBody>
      </p:sp>
      <p:sp>
        <p:nvSpPr>
          <p:cNvPr id="21" name="Text 19"/>
          <p:cNvSpPr/>
          <p:nvPr/>
        </p:nvSpPr>
        <p:spPr>
          <a:xfrm>
            <a:off x="7644384" y="3364992"/>
            <a:ext cx="3706063" cy="402336"/>
          </a:xfrm>
          <a:prstGeom prst="rect">
            <a:avLst/>
          </a:prstGeom>
          <a:noFill/>
          <a:ln/>
        </p:spPr>
        <p:txBody>
          <a:bodyPr wrap="square" lIns="0" tIns="0" rIns="0" bIns="0" rtlCol="0" anchor="ctr"/>
          <a:lstStyle/>
          <a:p>
            <a:pPr indent="0" marL="0">
              <a:buNone/>
            </a:pPr>
            <a:r>
              <a:rPr lang="en-US" sz="1150" dirty="0">
                <a:solidFill>
                  <a:srgbClr val="1B2733"/>
                </a:solidFill>
                <a:latin typeface="Meiryo" pitchFamily="34" charset="0"/>
                <a:ea typeface="Meiryo" pitchFamily="34" charset="-122"/>
                <a:cs typeface="Meiryo" pitchFamily="34" charset="-120"/>
              </a:rPr>
              <a:t>属人化している業務の洗い出し</a:t>
            </a:r>
            <a:endParaRPr lang="en-US" sz="1150" dirty="0"/>
          </a:p>
        </p:txBody>
      </p:sp>
      <p:sp>
        <p:nvSpPr>
          <p:cNvPr id="22" name="Text 20"/>
          <p:cNvSpPr/>
          <p:nvPr/>
        </p:nvSpPr>
        <p:spPr>
          <a:xfrm>
            <a:off x="566928" y="4242816"/>
            <a:ext cx="11057839" cy="310896"/>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前半の話に戻すと</a:t>
            </a:r>
            <a:endParaRPr lang="en-US" sz="1250" dirty="0"/>
          </a:p>
        </p:txBody>
      </p:sp>
      <p:sp>
        <p:nvSpPr>
          <p:cNvPr id="23" name="Shape 21"/>
          <p:cNvSpPr/>
          <p:nvPr/>
        </p:nvSpPr>
        <p:spPr>
          <a:xfrm>
            <a:off x="566928" y="4645152"/>
            <a:ext cx="3503066" cy="859536"/>
          </a:xfrm>
          <a:prstGeom prst="roundRect">
            <a:avLst>
              <a:gd name="adj" fmla="val 7447"/>
            </a:avLst>
          </a:prstGeom>
          <a:solidFill>
            <a:srgbClr val="F2F4F6"/>
          </a:solidFill>
          <a:ln w="12700">
            <a:solidFill>
              <a:srgbClr val="F2F4F6"/>
            </a:solidFill>
            <a:prstDash val="solid"/>
          </a:ln>
        </p:spPr>
      </p:sp>
      <p:sp>
        <p:nvSpPr>
          <p:cNvPr id="24" name="Text 22"/>
          <p:cNvSpPr/>
          <p:nvPr/>
        </p:nvSpPr>
        <p:spPr>
          <a:xfrm>
            <a:off x="822960" y="4718304"/>
            <a:ext cx="2991002" cy="365760"/>
          </a:xfrm>
          <a:prstGeom prst="rect">
            <a:avLst/>
          </a:prstGeom>
          <a:noFill/>
          <a:ln/>
        </p:spPr>
        <p:txBody>
          <a:bodyPr wrap="square" lIns="0" tIns="0" rIns="0" bIns="0" rtlCol="0" anchor="ctr"/>
          <a:lstStyle/>
          <a:p>
            <a:pPr indent="0" marL="0">
              <a:buNone/>
            </a:pPr>
            <a:r>
              <a:rPr lang="en-US" sz="1300" b="1" dirty="0">
                <a:solidFill>
                  <a:srgbClr val="A85705"/>
                </a:solidFill>
                <a:latin typeface="Meiryo" pitchFamily="34" charset="0"/>
                <a:ea typeface="Meiryo" pitchFamily="34" charset="-122"/>
                <a:cs typeface="Meiryo" pitchFamily="34" charset="-120"/>
              </a:rPr>
              <a:t>業務ログが溜まる</a:t>
            </a:r>
            <a:endParaRPr lang="en-US" sz="1300" dirty="0"/>
          </a:p>
        </p:txBody>
      </p:sp>
      <p:sp>
        <p:nvSpPr>
          <p:cNvPr id="25" name="Text 23"/>
          <p:cNvSpPr/>
          <p:nvPr/>
        </p:nvSpPr>
        <p:spPr>
          <a:xfrm>
            <a:off x="822960" y="5065776"/>
            <a:ext cx="2991002" cy="36576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第3部で空っぽだった層が埋まります</a:t>
            </a:r>
            <a:endParaRPr lang="en-US" sz="1050" dirty="0"/>
          </a:p>
        </p:txBody>
      </p:sp>
      <p:sp>
        <p:nvSpPr>
          <p:cNvPr id="26" name="Shape 24"/>
          <p:cNvSpPr/>
          <p:nvPr/>
        </p:nvSpPr>
        <p:spPr>
          <a:xfrm>
            <a:off x="4344314" y="4645152"/>
            <a:ext cx="3503066" cy="859536"/>
          </a:xfrm>
          <a:prstGeom prst="roundRect">
            <a:avLst>
              <a:gd name="adj" fmla="val 7447"/>
            </a:avLst>
          </a:prstGeom>
          <a:solidFill>
            <a:srgbClr val="F2F4F6"/>
          </a:solidFill>
          <a:ln w="12700">
            <a:solidFill>
              <a:srgbClr val="F2F4F6"/>
            </a:solidFill>
            <a:prstDash val="solid"/>
          </a:ln>
        </p:spPr>
      </p:sp>
      <p:sp>
        <p:nvSpPr>
          <p:cNvPr id="27" name="Text 25"/>
          <p:cNvSpPr/>
          <p:nvPr/>
        </p:nvSpPr>
        <p:spPr>
          <a:xfrm>
            <a:off x="4600346" y="4718304"/>
            <a:ext cx="2991002" cy="365760"/>
          </a:xfrm>
          <a:prstGeom prst="rect">
            <a:avLst/>
          </a:prstGeom>
          <a:noFill/>
          <a:ln/>
        </p:spPr>
        <p:txBody>
          <a:bodyPr wrap="square" lIns="0" tIns="0" rIns="0" bIns="0" rtlCol="0" anchor="ctr"/>
          <a:lstStyle/>
          <a:p>
            <a:pPr indent="0" marL="0">
              <a:buNone/>
            </a:pPr>
            <a:r>
              <a:rPr lang="en-US" sz="1300" b="1" dirty="0">
                <a:solidFill>
                  <a:srgbClr val="A85705"/>
                </a:solidFill>
                <a:latin typeface="Meiryo" pitchFamily="34" charset="0"/>
                <a:ea typeface="Meiryo" pitchFamily="34" charset="-122"/>
                <a:cs typeface="Meiryo" pitchFamily="34" charset="-120"/>
              </a:rPr>
              <a:t>MCPでAIから読める</a:t>
            </a:r>
            <a:endParaRPr lang="en-US" sz="1300" dirty="0"/>
          </a:p>
        </p:txBody>
      </p:sp>
      <p:sp>
        <p:nvSpPr>
          <p:cNvPr id="28" name="Text 26"/>
          <p:cNvSpPr/>
          <p:nvPr/>
        </p:nvSpPr>
        <p:spPr>
          <a:xfrm>
            <a:off x="4600346" y="5065776"/>
            <a:ext cx="2991002" cy="36576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第2部の「つなぐ」が成立します</a:t>
            </a:r>
            <a:endParaRPr lang="en-US" sz="1050" dirty="0"/>
          </a:p>
        </p:txBody>
      </p:sp>
      <p:sp>
        <p:nvSpPr>
          <p:cNvPr id="29" name="Shape 27"/>
          <p:cNvSpPr/>
          <p:nvPr/>
        </p:nvSpPr>
        <p:spPr>
          <a:xfrm>
            <a:off x="8121701" y="4645152"/>
            <a:ext cx="3503066" cy="859536"/>
          </a:xfrm>
          <a:prstGeom prst="roundRect">
            <a:avLst>
              <a:gd name="adj" fmla="val 7447"/>
            </a:avLst>
          </a:prstGeom>
          <a:solidFill>
            <a:srgbClr val="F2F4F6"/>
          </a:solidFill>
          <a:ln w="12700">
            <a:solidFill>
              <a:srgbClr val="F2F4F6"/>
            </a:solidFill>
            <a:prstDash val="solid"/>
          </a:ln>
        </p:spPr>
      </p:sp>
      <p:sp>
        <p:nvSpPr>
          <p:cNvPr id="30" name="Text 28"/>
          <p:cNvSpPr/>
          <p:nvPr/>
        </p:nvSpPr>
        <p:spPr>
          <a:xfrm>
            <a:off x="8377733" y="4718304"/>
            <a:ext cx="2991002" cy="365760"/>
          </a:xfrm>
          <a:prstGeom prst="rect">
            <a:avLst/>
          </a:prstGeom>
          <a:noFill/>
          <a:ln/>
        </p:spPr>
        <p:txBody>
          <a:bodyPr wrap="square" lIns="0" tIns="0" rIns="0" bIns="0" rtlCol="0" anchor="ctr"/>
          <a:lstStyle/>
          <a:p>
            <a:pPr indent="0" marL="0">
              <a:buNone/>
            </a:pPr>
            <a:r>
              <a:rPr lang="en-US" sz="1300" b="1" dirty="0">
                <a:solidFill>
                  <a:srgbClr val="A85705"/>
                </a:solidFill>
                <a:latin typeface="Meiryo" pitchFamily="34" charset="0"/>
                <a:ea typeface="Meiryo" pitchFamily="34" charset="-122"/>
                <a:cs typeface="Meiryo" pitchFamily="34" charset="-120"/>
              </a:rPr>
              <a:t>“やる前の数字”が測れる</a:t>
            </a:r>
            <a:endParaRPr lang="en-US" sz="1300" dirty="0"/>
          </a:p>
        </p:txBody>
      </p:sp>
      <p:sp>
        <p:nvSpPr>
          <p:cNvPr id="31" name="Text 29"/>
          <p:cNvSpPr/>
          <p:nvPr/>
        </p:nvSpPr>
        <p:spPr>
          <a:xfrm>
            <a:off x="8377733" y="5065776"/>
            <a:ext cx="2991002" cy="365760"/>
          </a:xfrm>
          <a:prstGeom prst="rect">
            <a:avLst/>
          </a:prstGeom>
          <a:noFill/>
          <a:ln/>
        </p:spPr>
        <p:txBody>
          <a:bodyPr wrap="square" lIns="0" tIns="0" rIns="0" bIns="0" rtlCol="0" anchor="ctr"/>
          <a:lstStyle/>
          <a:p>
            <a:pPr indent="0" marL="0">
              <a:buNone/>
            </a:pPr>
            <a:r>
              <a:rPr lang="en-US" sz="1050" dirty="0">
                <a:solidFill>
                  <a:srgbClr val="667382"/>
                </a:solidFill>
                <a:latin typeface="Meiryo" pitchFamily="34" charset="0"/>
                <a:ea typeface="Meiryo" pitchFamily="34" charset="-122"/>
                <a:cs typeface="Meiryo" pitchFamily="34" charset="-120"/>
              </a:rPr>
              <a:t>第4部の WEEK 1 が実行できます</a:t>
            </a:r>
            <a:endParaRPr lang="en-US" sz="1050" dirty="0"/>
          </a:p>
        </p:txBody>
      </p:sp>
      <p:sp>
        <p:nvSpPr>
          <p:cNvPr id="32" name="Text 30"/>
          <p:cNvSpPr/>
          <p:nvPr/>
        </p:nvSpPr>
        <p:spPr>
          <a:xfrm>
            <a:off x="566928" y="5705856"/>
            <a:ext cx="11057839" cy="274320"/>
          </a:xfrm>
          <a:prstGeom prst="rect">
            <a:avLst/>
          </a:prstGeom>
          <a:noFill/>
          <a:ln/>
        </p:spPr>
        <p:txBody>
          <a:bodyPr wrap="square" lIns="0" tIns="0" rIns="0" bIns="0" rtlCol="0" anchor="ctr"/>
          <a:lstStyle/>
          <a:p>
            <a:pPr indent="0" marL="0">
              <a:buNone/>
            </a:pPr>
            <a:r>
              <a:rPr lang="en-US" sz="950" dirty="0">
                <a:solidFill>
                  <a:srgbClr val="8C97A3"/>
                </a:solidFill>
                <a:latin typeface="Meiryo" pitchFamily="34" charset="0"/>
                <a:ea typeface="Meiryo" pitchFamily="34" charset="-122"/>
                <a:cs typeface="Meiryo" pitchFamily="34" charset="-120"/>
              </a:rPr>
              <a:t>※ 事例の詳細は当社サイトの導入事例をご参照ください。効果は企業規模・業務内容により異なります。</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00" b="1" spc="140" kern="0" dirty="0">
                <a:solidFill>
                  <a:srgbClr val="A85705"/>
                </a:solidFill>
                <a:latin typeface="Meiryo" pitchFamily="34" charset="0"/>
                <a:ea typeface="Meiryo" pitchFamily="34" charset="-122"/>
                <a:cs typeface="Meiryo" pitchFamily="34" charset="-120"/>
              </a:rPr>
              <a:t>SECTION 05</a:t>
            </a:r>
            <a:endParaRPr lang="en-US" sz="1100" dirty="0"/>
          </a:p>
        </p:txBody>
      </p:sp>
      <p:sp>
        <p:nvSpPr>
          <p:cNvPr id="3" name="Text 1"/>
          <p:cNvSpPr/>
          <p:nvPr/>
        </p:nvSpPr>
        <p:spPr>
          <a:xfrm>
            <a:off x="566928" y="640080"/>
            <a:ext cx="11057839" cy="603504"/>
          </a:xfrm>
          <a:prstGeom prst="rect">
            <a:avLst/>
          </a:prstGeom>
          <a:noFill/>
          <a:ln/>
        </p:spPr>
        <p:txBody>
          <a:bodyPr wrap="square" lIns="0" tIns="0" rIns="0" bIns="0" rtlCol="0" anchor="ctr"/>
          <a:lstStyle/>
          <a:p>
            <a:pPr indent="0" marL="0">
              <a:buNone/>
            </a:pPr>
            <a:r>
              <a:rPr lang="en-US" sz="2700" b="1" dirty="0">
                <a:solidFill>
                  <a:srgbClr val="1B2733"/>
                </a:solidFill>
                <a:latin typeface="Meiryo" pitchFamily="34" charset="0"/>
                <a:ea typeface="Meiryo" pitchFamily="34" charset="-122"/>
                <a:cs typeface="Meiryo" pitchFamily="34" charset="-120"/>
              </a:rPr>
              <a:t>よくいただくご質問</a:t>
            </a:r>
            <a:endParaRPr lang="en-US" sz="2700" dirty="0"/>
          </a:p>
        </p:txBody>
      </p:sp>
      <p:sp>
        <p:nvSpPr>
          <p:cNvPr id="4" name="Text 2"/>
          <p:cNvSpPr/>
          <p:nvPr/>
        </p:nvSpPr>
        <p:spPr>
          <a:xfrm>
            <a:off x="566928" y="1261872"/>
            <a:ext cx="11057839" cy="274320"/>
          </a:xfrm>
          <a:prstGeom prst="rect">
            <a:avLst/>
          </a:prstGeom>
          <a:noFill/>
          <a:ln/>
        </p:spPr>
        <p:txBody>
          <a:bodyPr wrap="square" lIns="0" tIns="0" rIns="0" bIns="0" rtlCol="0" anchor="ctr"/>
          <a:lstStyle/>
          <a:p>
            <a:pPr indent="0" marL="0">
              <a:buNone/>
            </a:pPr>
            <a:r>
              <a:rPr lang="en-US" sz="1300" dirty="0">
                <a:solidFill>
                  <a:srgbClr val="667382"/>
                </a:solidFill>
                <a:latin typeface="Meiryo" pitchFamily="34" charset="0"/>
                <a:ea typeface="Meiryo" pitchFamily="34" charset="-122"/>
                <a:cs typeface="Meiryo" pitchFamily="34" charset="-120"/>
              </a:rPr>
              <a:t>社内で必ず出る4つを、先にお答えしておきます</a:t>
            </a:r>
            <a:endParaRPr lang="en-US" sz="1300" dirty="0"/>
          </a:p>
        </p:txBody>
      </p:sp>
      <p:sp>
        <p:nvSpPr>
          <p:cNvPr id="5" name="Text 3"/>
          <p:cNvSpPr/>
          <p:nvPr/>
        </p:nvSpPr>
        <p:spPr>
          <a:xfrm>
            <a:off x="566928" y="6382512"/>
            <a:ext cx="10417759" cy="256032"/>
          </a:xfrm>
          <a:prstGeom prst="rect">
            <a:avLst/>
          </a:prstGeom>
          <a:noFill/>
          <a:ln/>
        </p:spPr>
        <p:txBody>
          <a:bodyPr wrap="square" lIns="0" tIns="0" rIns="0" bIns="0" rtlCol="0" anchor="ctr"/>
          <a:lstStyle/>
          <a:p>
            <a:pPr indent="0" marL="0">
              <a:buNone/>
            </a:pPr>
            <a:r>
              <a:rPr lang="en-US" sz="850" dirty="0">
                <a:solidFill>
                  <a:srgbClr val="8C97A3"/>
                </a:solidFill>
                <a:latin typeface="Meiryo" pitchFamily="34" charset="0"/>
                <a:ea typeface="Meiryo" pitchFamily="34" charset="-122"/>
                <a:cs typeface="Meiryo" pitchFamily="34" charset="-120"/>
              </a:rPr>
              <a:t>AIエージェント×MCP｜“働くAI”を戦力にする『記録』のはじめ方</a:t>
            </a:r>
            <a:endParaRPr lang="en-US" sz="850" dirty="0"/>
          </a:p>
        </p:txBody>
      </p:sp>
      <p:sp>
        <p:nvSpPr>
          <p:cNvPr id="6" name="Text 4"/>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8C97A3"/>
                </a:solidFill>
                <a:latin typeface="Meiryo" pitchFamily="34" charset="0"/>
                <a:ea typeface="Meiryo" pitchFamily="34" charset="-122"/>
                <a:cs typeface="Meiryo" pitchFamily="34" charset="-120"/>
              </a:rPr>
              <a:t>35</a:t>
            </a:r>
            <a:endParaRPr lang="en-US" sz="850" dirty="0"/>
          </a:p>
        </p:txBody>
      </p:sp>
      <p:sp>
        <p:nvSpPr>
          <p:cNvPr id="7" name="Shape 5"/>
          <p:cNvSpPr/>
          <p:nvPr/>
        </p:nvSpPr>
        <p:spPr>
          <a:xfrm>
            <a:off x="566928" y="1719072"/>
            <a:ext cx="11057839" cy="841248"/>
          </a:xfrm>
          <a:prstGeom prst="roundRect">
            <a:avLst>
              <a:gd name="adj" fmla="val 7609"/>
            </a:avLst>
          </a:prstGeom>
          <a:solidFill>
            <a:srgbClr val="F2F4F6"/>
          </a:solidFill>
          <a:ln w="12700">
            <a:solidFill>
              <a:srgbClr val="F2F4F6"/>
            </a:solidFill>
            <a:prstDash val="solid"/>
          </a:ln>
        </p:spPr>
      </p:sp>
      <p:sp>
        <p:nvSpPr>
          <p:cNvPr id="8" name="Shape 6"/>
          <p:cNvSpPr/>
          <p:nvPr/>
        </p:nvSpPr>
        <p:spPr>
          <a:xfrm>
            <a:off x="822960" y="1810512"/>
            <a:ext cx="329184" cy="329184"/>
          </a:xfrm>
          <a:prstGeom prst="ellipse">
            <a:avLst/>
          </a:prstGeom>
          <a:solidFill>
            <a:srgbClr val="223140"/>
          </a:solidFill>
          <a:ln w="12700">
            <a:solidFill>
              <a:srgbClr val="223140"/>
            </a:solidFill>
            <a:prstDash val="solid"/>
          </a:ln>
        </p:spPr>
      </p:sp>
      <p:sp>
        <p:nvSpPr>
          <p:cNvPr id="9" name="Text 7"/>
          <p:cNvSpPr/>
          <p:nvPr/>
        </p:nvSpPr>
        <p:spPr>
          <a:xfrm>
            <a:off x="822960"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10" name="Text 8"/>
          <p:cNvSpPr/>
          <p:nvPr/>
        </p:nvSpPr>
        <p:spPr>
          <a:xfrm>
            <a:off x="1280160" y="1792224"/>
            <a:ext cx="4754880" cy="36576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従業員の監視になりませんか？</a:t>
            </a:r>
            <a:endParaRPr lang="en-US" sz="1250" dirty="0"/>
          </a:p>
        </p:txBody>
      </p:sp>
      <p:sp>
        <p:nvSpPr>
          <p:cNvPr id="11" name="Shape 9"/>
          <p:cNvSpPr/>
          <p:nvPr/>
        </p:nvSpPr>
        <p:spPr>
          <a:xfrm>
            <a:off x="822960" y="2176272"/>
            <a:ext cx="329184" cy="329184"/>
          </a:xfrm>
          <a:prstGeom prst="ellipse">
            <a:avLst/>
          </a:prstGeom>
          <a:solidFill>
            <a:srgbClr val="D97612"/>
          </a:solidFill>
          <a:ln w="12700">
            <a:solidFill>
              <a:srgbClr val="D97612"/>
            </a:solidFill>
            <a:prstDash val="solid"/>
          </a:ln>
        </p:spPr>
      </p:sp>
      <p:sp>
        <p:nvSpPr>
          <p:cNvPr id="12" name="Text 10"/>
          <p:cNvSpPr/>
          <p:nvPr/>
        </p:nvSpPr>
        <p:spPr>
          <a:xfrm>
            <a:off x="822960" y="21762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13" name="Text 11"/>
          <p:cNvSpPr/>
          <p:nvPr/>
        </p:nvSpPr>
        <p:spPr>
          <a:xfrm>
            <a:off x="1280160" y="2139696"/>
            <a:ext cx="10070287" cy="384048"/>
          </a:xfrm>
          <a:prstGeom prst="rect">
            <a:avLst/>
          </a:prstGeom>
          <a:noFill/>
          <a:ln/>
        </p:spPr>
        <p:txBody>
          <a:bodyPr wrap="square" lIns="0" tIns="0" rIns="0" bIns="0" rtlCol="0" anchor="ctr"/>
          <a:lstStyle/>
          <a:p>
            <a:pPr indent="0" marL="0">
              <a:lnSpc>
                <a:spcPts val="1600"/>
              </a:lnSpc>
              <a:buNone/>
            </a:pPr>
            <a:r>
              <a:rPr lang="en-US" sz="1100" dirty="0">
                <a:solidFill>
                  <a:srgbClr val="667382"/>
                </a:solidFill>
                <a:latin typeface="Meiryo" pitchFamily="34" charset="0"/>
                <a:ea typeface="Meiryo" pitchFamily="34" charset="-122"/>
                <a:cs typeface="Meiryo" pitchFamily="34" charset="-120"/>
              </a:rPr>
              <a:t>目的は業務量と業務プロセスの可視化です。個人を評価・ランキングする使い方は推奨していません。導入時に、取得範囲と利用目的を社内に明示する運用をご案内しています。</a:t>
            </a:r>
            <a:endParaRPr lang="en-US" sz="1100" dirty="0"/>
          </a:p>
        </p:txBody>
      </p:sp>
      <p:sp>
        <p:nvSpPr>
          <p:cNvPr id="14" name="Shape 12"/>
          <p:cNvSpPr/>
          <p:nvPr/>
        </p:nvSpPr>
        <p:spPr>
          <a:xfrm>
            <a:off x="566928" y="2670048"/>
            <a:ext cx="11057839" cy="841248"/>
          </a:xfrm>
          <a:prstGeom prst="roundRect">
            <a:avLst>
              <a:gd name="adj" fmla="val 7609"/>
            </a:avLst>
          </a:prstGeom>
          <a:solidFill>
            <a:srgbClr val="FFFFFF"/>
          </a:solidFill>
          <a:ln w="12700">
            <a:solidFill>
              <a:srgbClr val="E4E9ED"/>
            </a:solidFill>
            <a:prstDash val="solid"/>
          </a:ln>
        </p:spPr>
      </p:sp>
      <p:sp>
        <p:nvSpPr>
          <p:cNvPr id="15" name="Shape 13"/>
          <p:cNvSpPr/>
          <p:nvPr/>
        </p:nvSpPr>
        <p:spPr>
          <a:xfrm>
            <a:off x="822960" y="2761488"/>
            <a:ext cx="329184" cy="329184"/>
          </a:xfrm>
          <a:prstGeom prst="ellipse">
            <a:avLst/>
          </a:prstGeom>
          <a:solidFill>
            <a:srgbClr val="223140"/>
          </a:solidFill>
          <a:ln w="12700">
            <a:solidFill>
              <a:srgbClr val="223140"/>
            </a:solidFill>
            <a:prstDash val="solid"/>
          </a:ln>
        </p:spPr>
      </p:sp>
      <p:sp>
        <p:nvSpPr>
          <p:cNvPr id="16" name="Text 14"/>
          <p:cNvSpPr/>
          <p:nvPr/>
        </p:nvSpPr>
        <p:spPr>
          <a:xfrm>
            <a:off x="822960" y="2761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17" name="Text 15"/>
          <p:cNvSpPr/>
          <p:nvPr/>
        </p:nvSpPr>
        <p:spPr>
          <a:xfrm>
            <a:off x="1280160" y="2743200"/>
            <a:ext cx="4754880" cy="36576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現場の入力負荷は増えますか？</a:t>
            </a:r>
            <a:endParaRPr lang="en-US" sz="1250" dirty="0"/>
          </a:p>
        </p:txBody>
      </p:sp>
      <p:sp>
        <p:nvSpPr>
          <p:cNvPr id="18" name="Shape 16"/>
          <p:cNvSpPr/>
          <p:nvPr/>
        </p:nvSpPr>
        <p:spPr>
          <a:xfrm>
            <a:off x="822960" y="3127248"/>
            <a:ext cx="329184" cy="329184"/>
          </a:xfrm>
          <a:prstGeom prst="ellipse">
            <a:avLst/>
          </a:prstGeom>
          <a:solidFill>
            <a:srgbClr val="D97612"/>
          </a:solidFill>
          <a:ln w="12700">
            <a:solidFill>
              <a:srgbClr val="D97612"/>
            </a:solidFill>
            <a:prstDash val="solid"/>
          </a:ln>
        </p:spPr>
      </p:sp>
      <p:sp>
        <p:nvSpPr>
          <p:cNvPr id="19" name="Text 17"/>
          <p:cNvSpPr/>
          <p:nvPr/>
        </p:nvSpPr>
        <p:spPr>
          <a:xfrm>
            <a:off x="82296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20" name="Text 18"/>
          <p:cNvSpPr/>
          <p:nvPr/>
        </p:nvSpPr>
        <p:spPr>
          <a:xfrm>
            <a:off x="1280160" y="3090672"/>
            <a:ext cx="10070287" cy="384048"/>
          </a:xfrm>
          <a:prstGeom prst="rect">
            <a:avLst/>
          </a:prstGeom>
          <a:noFill/>
          <a:ln/>
        </p:spPr>
        <p:txBody>
          <a:bodyPr wrap="square" lIns="0" tIns="0" rIns="0" bIns="0" rtlCol="0" anchor="ctr"/>
          <a:lstStyle/>
          <a:p>
            <a:pPr indent="0" marL="0">
              <a:lnSpc>
                <a:spcPts val="1600"/>
              </a:lnSpc>
              <a:buNone/>
            </a:pPr>
            <a:r>
              <a:rPr lang="en-US" sz="1100" dirty="0">
                <a:solidFill>
                  <a:srgbClr val="667382"/>
                </a:solidFill>
                <a:latin typeface="Meiryo" pitchFamily="34" charset="0"/>
                <a:ea typeface="Meiryo" pitchFamily="34" charset="-122"/>
                <a:cs typeface="Meiryo" pitchFamily="34" charset="-120"/>
              </a:rPr>
              <a:t>増えません。むしろ、これまでの自己申告アンケートを置き換える想定です。</a:t>
            </a:r>
            <a:endParaRPr lang="en-US" sz="1100" dirty="0"/>
          </a:p>
        </p:txBody>
      </p:sp>
      <p:sp>
        <p:nvSpPr>
          <p:cNvPr id="21" name="Shape 19"/>
          <p:cNvSpPr/>
          <p:nvPr/>
        </p:nvSpPr>
        <p:spPr>
          <a:xfrm>
            <a:off x="566928" y="3621024"/>
            <a:ext cx="11057839" cy="841248"/>
          </a:xfrm>
          <a:prstGeom prst="roundRect">
            <a:avLst>
              <a:gd name="adj" fmla="val 7609"/>
            </a:avLst>
          </a:prstGeom>
          <a:solidFill>
            <a:srgbClr val="F2F4F6"/>
          </a:solidFill>
          <a:ln w="12700">
            <a:solidFill>
              <a:srgbClr val="F2F4F6"/>
            </a:solidFill>
            <a:prstDash val="solid"/>
          </a:ln>
        </p:spPr>
      </p:sp>
      <p:sp>
        <p:nvSpPr>
          <p:cNvPr id="22" name="Shape 20"/>
          <p:cNvSpPr/>
          <p:nvPr/>
        </p:nvSpPr>
        <p:spPr>
          <a:xfrm>
            <a:off x="822960" y="3712464"/>
            <a:ext cx="329184" cy="329184"/>
          </a:xfrm>
          <a:prstGeom prst="ellipse">
            <a:avLst/>
          </a:prstGeom>
          <a:solidFill>
            <a:srgbClr val="223140"/>
          </a:solidFill>
          <a:ln w="12700">
            <a:solidFill>
              <a:srgbClr val="223140"/>
            </a:solidFill>
            <a:prstDash val="solid"/>
          </a:ln>
        </p:spPr>
      </p:sp>
      <p:sp>
        <p:nvSpPr>
          <p:cNvPr id="23" name="Text 21"/>
          <p:cNvSpPr/>
          <p:nvPr/>
        </p:nvSpPr>
        <p:spPr>
          <a:xfrm>
            <a:off x="822960" y="37124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24" name="Text 22"/>
          <p:cNvSpPr/>
          <p:nvPr/>
        </p:nvSpPr>
        <p:spPr>
          <a:xfrm>
            <a:off x="1280160" y="3694176"/>
            <a:ext cx="4754880" cy="36576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いまの勤怠・会計システムと重複しませんか？</a:t>
            </a:r>
            <a:endParaRPr lang="en-US" sz="1250" dirty="0"/>
          </a:p>
        </p:txBody>
      </p:sp>
      <p:sp>
        <p:nvSpPr>
          <p:cNvPr id="25" name="Shape 23"/>
          <p:cNvSpPr/>
          <p:nvPr/>
        </p:nvSpPr>
        <p:spPr>
          <a:xfrm>
            <a:off x="822960" y="4078224"/>
            <a:ext cx="329184" cy="329184"/>
          </a:xfrm>
          <a:prstGeom prst="ellipse">
            <a:avLst/>
          </a:prstGeom>
          <a:solidFill>
            <a:srgbClr val="D97612"/>
          </a:solidFill>
          <a:ln w="12700">
            <a:solidFill>
              <a:srgbClr val="D97612"/>
            </a:solidFill>
            <a:prstDash val="solid"/>
          </a:ln>
        </p:spPr>
      </p:sp>
      <p:sp>
        <p:nvSpPr>
          <p:cNvPr id="26" name="Text 24"/>
          <p:cNvSpPr/>
          <p:nvPr/>
        </p:nvSpPr>
        <p:spPr>
          <a:xfrm>
            <a:off x="822960" y="4078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27" name="Text 25"/>
          <p:cNvSpPr/>
          <p:nvPr/>
        </p:nvSpPr>
        <p:spPr>
          <a:xfrm>
            <a:off x="1280160" y="4041648"/>
            <a:ext cx="10070287" cy="384048"/>
          </a:xfrm>
          <a:prstGeom prst="rect">
            <a:avLst/>
          </a:prstGeom>
          <a:noFill/>
          <a:ln/>
        </p:spPr>
        <p:txBody>
          <a:bodyPr wrap="square" lIns="0" tIns="0" rIns="0" bIns="0" rtlCol="0" anchor="ctr"/>
          <a:lstStyle/>
          <a:p>
            <a:pPr indent="0" marL="0">
              <a:lnSpc>
                <a:spcPts val="1600"/>
              </a:lnSpc>
              <a:buNone/>
            </a:pPr>
            <a:r>
              <a:rPr lang="en-US" sz="1100" dirty="0">
                <a:solidFill>
                  <a:srgbClr val="667382"/>
                </a:solidFill>
                <a:latin typeface="Meiryo" pitchFamily="34" charset="0"/>
                <a:ea typeface="Meiryo" pitchFamily="34" charset="-122"/>
                <a:cs typeface="Meiryo" pitchFamily="34" charset="-120"/>
              </a:rPr>
              <a:t>役割が違います。勤怠は「在社していた時間」、こちらは「何にどれだけ時間がかかったか」を見るものです。</a:t>
            </a:r>
            <a:endParaRPr lang="en-US" sz="1100" dirty="0"/>
          </a:p>
        </p:txBody>
      </p:sp>
      <p:sp>
        <p:nvSpPr>
          <p:cNvPr id="28" name="Shape 26"/>
          <p:cNvSpPr/>
          <p:nvPr/>
        </p:nvSpPr>
        <p:spPr>
          <a:xfrm>
            <a:off x="566928" y="4572000"/>
            <a:ext cx="11057839" cy="841248"/>
          </a:xfrm>
          <a:prstGeom prst="roundRect">
            <a:avLst>
              <a:gd name="adj" fmla="val 7609"/>
            </a:avLst>
          </a:prstGeom>
          <a:solidFill>
            <a:srgbClr val="FFFFFF"/>
          </a:solidFill>
          <a:ln w="12700">
            <a:solidFill>
              <a:srgbClr val="E4E9ED"/>
            </a:solidFill>
            <a:prstDash val="solid"/>
          </a:ln>
        </p:spPr>
      </p:sp>
      <p:sp>
        <p:nvSpPr>
          <p:cNvPr id="29" name="Shape 27"/>
          <p:cNvSpPr/>
          <p:nvPr/>
        </p:nvSpPr>
        <p:spPr>
          <a:xfrm>
            <a:off x="822960" y="4663440"/>
            <a:ext cx="329184" cy="329184"/>
          </a:xfrm>
          <a:prstGeom prst="ellipse">
            <a:avLst/>
          </a:prstGeom>
          <a:solidFill>
            <a:srgbClr val="223140"/>
          </a:solidFill>
          <a:ln w="12700">
            <a:solidFill>
              <a:srgbClr val="223140"/>
            </a:solidFill>
            <a:prstDash val="solid"/>
          </a:ln>
        </p:spPr>
      </p:sp>
      <p:sp>
        <p:nvSpPr>
          <p:cNvPr id="30" name="Text 28"/>
          <p:cNvSpPr/>
          <p:nvPr/>
        </p:nvSpPr>
        <p:spPr>
          <a:xfrm>
            <a:off x="822960" y="4663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31" name="Text 29"/>
          <p:cNvSpPr/>
          <p:nvPr/>
        </p:nvSpPr>
        <p:spPr>
          <a:xfrm>
            <a:off x="1280160" y="4645152"/>
            <a:ext cx="4754880" cy="365760"/>
          </a:xfrm>
          <a:prstGeom prst="rect">
            <a:avLst/>
          </a:prstGeom>
          <a:noFill/>
          <a:ln/>
        </p:spPr>
        <p:txBody>
          <a:bodyPr wrap="square" lIns="0" tIns="0" rIns="0" bIns="0" rtlCol="0" anchor="ctr"/>
          <a:lstStyle/>
          <a:p>
            <a:pPr indent="0" marL="0">
              <a:buNone/>
            </a:pPr>
            <a:r>
              <a:rPr lang="en-US" sz="1250" b="1" dirty="0">
                <a:solidFill>
                  <a:srgbClr val="1B2733"/>
                </a:solidFill>
                <a:latin typeface="Meiryo" pitchFamily="34" charset="0"/>
                <a:ea typeface="Meiryo" pitchFamily="34" charset="-122"/>
                <a:cs typeface="Meiryo" pitchFamily="34" charset="-120"/>
              </a:rPr>
              <a:t>AIに社内データを全部見せることになりますか？</a:t>
            </a:r>
            <a:endParaRPr lang="en-US" sz="1250" dirty="0"/>
          </a:p>
        </p:txBody>
      </p:sp>
      <p:sp>
        <p:nvSpPr>
          <p:cNvPr id="32" name="Shape 30"/>
          <p:cNvSpPr/>
          <p:nvPr/>
        </p:nvSpPr>
        <p:spPr>
          <a:xfrm>
            <a:off x="822960" y="5029200"/>
            <a:ext cx="329184" cy="329184"/>
          </a:xfrm>
          <a:prstGeom prst="ellipse">
            <a:avLst/>
          </a:prstGeom>
          <a:solidFill>
            <a:srgbClr val="D97612"/>
          </a:solidFill>
          <a:ln w="12700">
            <a:solidFill>
              <a:srgbClr val="D97612"/>
            </a:solidFill>
            <a:prstDash val="solid"/>
          </a:ln>
        </p:spPr>
      </p:sp>
      <p:sp>
        <p:nvSpPr>
          <p:cNvPr id="33" name="Text 31"/>
          <p:cNvSpPr/>
          <p:nvPr/>
        </p:nvSpPr>
        <p:spPr>
          <a:xfrm>
            <a:off x="822960" y="50292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A</a:t>
            </a:r>
            <a:endParaRPr lang="en-US" sz="1100" dirty="0"/>
          </a:p>
        </p:txBody>
      </p:sp>
      <p:sp>
        <p:nvSpPr>
          <p:cNvPr id="34" name="Text 32"/>
          <p:cNvSpPr/>
          <p:nvPr/>
        </p:nvSpPr>
        <p:spPr>
          <a:xfrm>
            <a:off x="1280160" y="4992624"/>
            <a:ext cx="10070287" cy="384048"/>
          </a:xfrm>
          <a:prstGeom prst="rect">
            <a:avLst/>
          </a:prstGeom>
          <a:noFill/>
          <a:ln/>
        </p:spPr>
        <p:txBody>
          <a:bodyPr wrap="square" lIns="0" tIns="0" rIns="0" bIns="0" rtlCol="0" anchor="ctr"/>
          <a:lstStyle/>
          <a:p>
            <a:pPr indent="0" marL="0">
              <a:lnSpc>
                <a:spcPts val="1600"/>
              </a:lnSpc>
              <a:buNone/>
            </a:pPr>
            <a:r>
              <a:rPr lang="en-US" sz="1100" dirty="0">
                <a:solidFill>
                  <a:srgbClr val="667382"/>
                </a:solidFill>
                <a:latin typeface="Meiryo" pitchFamily="34" charset="0"/>
                <a:ea typeface="Meiryo" pitchFamily="34" charset="-122"/>
                <a:cs typeface="Meiryo" pitchFamily="34" charset="-120"/>
              </a:rPr>
              <a:t>いいえ。参照できる範囲は設定で絞れます。考え方は第2部でお話しした権限設計とまったく同じです。</a:t>
            </a:r>
            <a:endParaRPr lang="en-US" sz="1100" dirty="0"/>
          </a:p>
        </p:txBody>
      </p:sp>
      <p:sp>
        <p:nvSpPr>
          <p:cNvPr id="35" name="Shape 33"/>
          <p:cNvSpPr/>
          <p:nvPr/>
        </p:nvSpPr>
        <p:spPr>
          <a:xfrm>
            <a:off x="566928" y="5541264"/>
            <a:ext cx="11057839" cy="658368"/>
          </a:xfrm>
          <a:prstGeom prst="roundRect">
            <a:avLst>
              <a:gd name="adj" fmla="val 9722"/>
            </a:avLst>
          </a:prstGeom>
          <a:solidFill>
            <a:srgbClr val="E3EFED"/>
          </a:solidFill>
          <a:ln w="12700">
            <a:solidFill>
              <a:srgbClr val="E3EFED"/>
            </a:solidFill>
            <a:prstDash val="solid"/>
          </a:ln>
        </p:spPr>
      </p:sp>
      <p:sp>
        <p:nvSpPr>
          <p:cNvPr id="36" name="Shape 34"/>
          <p:cNvSpPr/>
          <p:nvPr/>
        </p:nvSpPr>
        <p:spPr>
          <a:xfrm>
            <a:off x="804672" y="5760720"/>
            <a:ext cx="219456" cy="219456"/>
          </a:xfrm>
          <a:prstGeom prst="ellipse">
            <a:avLst/>
          </a:prstGeom>
          <a:solidFill>
            <a:srgbClr val="12695D"/>
          </a:solidFill>
          <a:ln w="12700">
            <a:solidFill>
              <a:srgbClr val="12695D"/>
            </a:solidFill>
            <a:prstDash val="solid"/>
          </a:ln>
        </p:spPr>
      </p:sp>
      <p:sp>
        <p:nvSpPr>
          <p:cNvPr id="37" name="Text 35"/>
          <p:cNvSpPr/>
          <p:nvPr/>
        </p:nvSpPr>
        <p:spPr>
          <a:xfrm>
            <a:off x="1170432" y="5541264"/>
            <a:ext cx="10189159" cy="658368"/>
          </a:xfrm>
          <a:prstGeom prst="rect">
            <a:avLst/>
          </a:prstGeom>
          <a:noFill/>
          <a:ln/>
        </p:spPr>
        <p:txBody>
          <a:bodyPr wrap="square" lIns="0" tIns="0" rIns="0" bIns="0" rtlCol="0" anchor="ctr"/>
          <a:lstStyle/>
          <a:p>
            <a:pPr indent="0" marL="0">
              <a:buNone/>
            </a:pPr>
            <a:r>
              <a:rPr lang="en-US" sz="1200" b="1" dirty="0">
                <a:solidFill>
                  <a:srgbClr val="12695D"/>
                </a:solidFill>
                <a:latin typeface="Meiryo" pitchFamily="34" charset="0"/>
                <a:ea typeface="Meiryo" pitchFamily="34" charset="-122"/>
                <a:cs typeface="Meiryo" pitchFamily="34" charset="-120"/>
              </a:rPr>
              <a:t>1つめは、導入前に社内へどう説明するかが決め手になります。ご相談いただければ、説明の型をお渡しします。</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20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933"/>
            </a:avLst>
          </a:prstGeom>
          <a:solidFill>
            <a:srgbClr val="16202B"/>
          </a:solidFill>
          <a:ln w="12700">
            <a:solidFill>
              <a:srgbClr val="16202B"/>
            </a:solidFill>
            <a:prstDash val="solid"/>
          </a:ln>
        </p:spPr>
      </p:sp>
      <p:sp>
        <p:nvSpPr>
          <p:cNvPr id="3" name="Text 1"/>
          <p:cNvSpPr/>
          <p:nvPr/>
        </p:nvSpPr>
        <p:spPr>
          <a:xfrm>
            <a:off x="566928" y="566928"/>
            <a:ext cx="11057839" cy="457200"/>
          </a:xfrm>
          <a:prstGeom prst="rect">
            <a:avLst/>
          </a:prstGeom>
          <a:noFill/>
          <a:ln/>
        </p:spPr>
        <p:txBody>
          <a:bodyPr wrap="square" lIns="0" tIns="0" rIns="0" bIns="0" rtlCol="0" anchor="ctr"/>
          <a:lstStyle/>
          <a:p>
            <a:pPr indent="0" marL="0">
              <a:buNone/>
            </a:pPr>
            <a:r>
              <a:rPr lang="en-US" sz="1100" b="1" spc="200" kern="0" dirty="0">
                <a:solidFill>
                  <a:srgbClr val="D97612"/>
                </a:solidFill>
                <a:latin typeface="Meiryo" pitchFamily="34" charset="0"/>
                <a:ea typeface="Meiryo" pitchFamily="34" charset="-122"/>
                <a:cs typeface="Meiryo" pitchFamily="34" charset="-120"/>
              </a:rPr>
              <a:t>本日のまとめ</a:t>
            </a:r>
            <a:endParaRPr lang="en-US" sz="1100" dirty="0"/>
          </a:p>
        </p:txBody>
      </p:sp>
      <p:sp>
        <p:nvSpPr>
          <p:cNvPr id="4" name="Text 2"/>
          <p:cNvSpPr/>
          <p:nvPr/>
        </p:nvSpPr>
        <p:spPr>
          <a:xfrm>
            <a:off x="566928" y="10058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頭脳は買えます。記録は、買えません。</a:t>
            </a:r>
            <a:endParaRPr lang="en-US" sz="3000" dirty="0"/>
          </a:p>
        </p:txBody>
      </p:sp>
      <p:sp>
        <p:nvSpPr>
          <p:cNvPr id="5" name="Shape 3"/>
          <p:cNvSpPr/>
          <p:nvPr/>
        </p:nvSpPr>
        <p:spPr>
          <a:xfrm>
            <a:off x="566928" y="1920240"/>
            <a:ext cx="3503066" cy="2048256"/>
          </a:xfrm>
          <a:prstGeom prst="roundRect">
            <a:avLst>
              <a:gd name="adj" fmla="val 3125"/>
            </a:avLst>
          </a:prstGeom>
          <a:solidFill>
            <a:srgbClr val="223140"/>
          </a:solidFill>
          <a:ln w="12700">
            <a:solidFill>
              <a:srgbClr val="223140"/>
            </a:solidFill>
            <a:prstDash val="solid"/>
          </a:ln>
        </p:spPr>
      </p:sp>
      <p:sp>
        <p:nvSpPr>
          <p:cNvPr id="6" name="Shape 4"/>
          <p:cNvSpPr/>
          <p:nvPr/>
        </p:nvSpPr>
        <p:spPr>
          <a:xfrm>
            <a:off x="841248" y="2139696"/>
            <a:ext cx="402336" cy="402336"/>
          </a:xfrm>
          <a:prstGeom prst="ellipse">
            <a:avLst/>
          </a:prstGeom>
          <a:solidFill>
            <a:srgbClr val="D97612"/>
          </a:solidFill>
          <a:ln w="12700">
            <a:solidFill>
              <a:srgbClr val="D97612"/>
            </a:solidFill>
            <a:prstDash val="solid"/>
          </a:ln>
        </p:spPr>
      </p:sp>
      <p:sp>
        <p:nvSpPr>
          <p:cNvPr id="7" name="Text 5"/>
          <p:cNvSpPr/>
          <p:nvPr/>
        </p:nvSpPr>
        <p:spPr>
          <a:xfrm>
            <a:off x="841248" y="2139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01</a:t>
            </a:r>
            <a:endParaRPr lang="en-US" sz="1250" dirty="0"/>
          </a:p>
        </p:txBody>
      </p:sp>
      <p:sp>
        <p:nvSpPr>
          <p:cNvPr id="8" name="Text 6"/>
          <p:cNvSpPr/>
          <p:nvPr/>
        </p:nvSpPr>
        <p:spPr>
          <a:xfrm>
            <a:off x="841248" y="2688336"/>
            <a:ext cx="2954426" cy="658368"/>
          </a:xfrm>
          <a:prstGeom prst="rect">
            <a:avLst/>
          </a:prstGeom>
          <a:noFill/>
          <a:ln/>
        </p:spPr>
        <p:txBody>
          <a:bodyPr wrap="square" lIns="0" tIns="0" rIns="0" bIns="0" rtlCol="0" anchor="t"/>
          <a:lstStyle/>
          <a:p>
            <a:pPr indent="0" marL="0">
              <a:lnSpc>
                <a:spcPts val="2100"/>
              </a:lnSpc>
              <a:buNone/>
            </a:pPr>
            <a:r>
              <a:rPr lang="en-US" sz="1350" b="1" dirty="0">
                <a:solidFill>
                  <a:srgbClr val="FFFFFF"/>
                </a:solidFill>
                <a:latin typeface="Meiryo" pitchFamily="34" charset="0"/>
                <a:ea typeface="Meiryo" pitchFamily="34" charset="-122"/>
                <a:cs typeface="Meiryo" pitchFamily="34" charset="-120"/>
              </a:rPr>
              <a:t>AIの成果は、渡せる事実で決まる</a:t>
            </a:r>
            <a:endParaRPr lang="en-US" sz="1350" dirty="0"/>
          </a:p>
        </p:txBody>
      </p:sp>
      <p:sp>
        <p:nvSpPr>
          <p:cNvPr id="9" name="Text 7"/>
          <p:cNvSpPr/>
          <p:nvPr/>
        </p:nvSpPr>
        <p:spPr>
          <a:xfrm>
            <a:off x="841248" y="3346704"/>
            <a:ext cx="2954426" cy="512064"/>
          </a:xfrm>
          <a:prstGeom prst="rect">
            <a:avLst/>
          </a:prstGeom>
          <a:noFill/>
          <a:ln/>
        </p:spPr>
        <p:txBody>
          <a:bodyPr wrap="square" lIns="0" tIns="0" rIns="0" bIns="0" rtlCol="0" anchor="t"/>
          <a:lstStyle/>
          <a:p>
            <a:pPr indent="0" marL="0">
              <a:lnSpc>
                <a:spcPts val="1600"/>
              </a:lnSpc>
              <a:buNone/>
            </a:pPr>
            <a:r>
              <a:rPr lang="en-US" sz="1050" dirty="0">
                <a:solidFill>
                  <a:srgbClr val="9FAEBD"/>
                </a:solidFill>
                <a:latin typeface="Meiryo" pitchFamily="34" charset="0"/>
                <a:ea typeface="Meiryo" pitchFamily="34" charset="-122"/>
                <a:cs typeface="Meiryo" pitchFamily="34" charset="-120"/>
              </a:rPr>
              <a:t>モデル × 事実 × 問い。掛け算なので、事実が0なら結果も0です。</a:t>
            </a:r>
            <a:endParaRPr lang="en-US" sz="1050" dirty="0"/>
          </a:p>
        </p:txBody>
      </p:sp>
      <p:sp>
        <p:nvSpPr>
          <p:cNvPr id="10" name="Shape 8"/>
          <p:cNvSpPr/>
          <p:nvPr/>
        </p:nvSpPr>
        <p:spPr>
          <a:xfrm>
            <a:off x="4344314" y="1920240"/>
            <a:ext cx="3503066" cy="2048256"/>
          </a:xfrm>
          <a:prstGeom prst="roundRect">
            <a:avLst>
              <a:gd name="adj" fmla="val 3125"/>
            </a:avLst>
          </a:prstGeom>
          <a:solidFill>
            <a:srgbClr val="223140"/>
          </a:solidFill>
          <a:ln w="12700">
            <a:solidFill>
              <a:srgbClr val="223140"/>
            </a:solidFill>
            <a:prstDash val="solid"/>
          </a:ln>
        </p:spPr>
      </p:sp>
      <p:sp>
        <p:nvSpPr>
          <p:cNvPr id="11" name="Shape 9"/>
          <p:cNvSpPr/>
          <p:nvPr/>
        </p:nvSpPr>
        <p:spPr>
          <a:xfrm>
            <a:off x="4618634" y="2139696"/>
            <a:ext cx="402336" cy="402336"/>
          </a:xfrm>
          <a:prstGeom prst="ellipse">
            <a:avLst/>
          </a:prstGeom>
          <a:solidFill>
            <a:srgbClr val="D97612"/>
          </a:solidFill>
          <a:ln w="12700">
            <a:solidFill>
              <a:srgbClr val="D97612"/>
            </a:solidFill>
            <a:prstDash val="solid"/>
          </a:ln>
        </p:spPr>
      </p:sp>
      <p:sp>
        <p:nvSpPr>
          <p:cNvPr id="12" name="Text 10"/>
          <p:cNvSpPr/>
          <p:nvPr/>
        </p:nvSpPr>
        <p:spPr>
          <a:xfrm>
            <a:off x="4618634" y="2139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02</a:t>
            </a:r>
            <a:endParaRPr lang="en-US" sz="1250" dirty="0"/>
          </a:p>
        </p:txBody>
      </p:sp>
      <p:sp>
        <p:nvSpPr>
          <p:cNvPr id="13" name="Text 11"/>
          <p:cNvSpPr/>
          <p:nvPr/>
        </p:nvSpPr>
        <p:spPr>
          <a:xfrm>
            <a:off x="4618634" y="2688336"/>
            <a:ext cx="2954426" cy="658368"/>
          </a:xfrm>
          <a:prstGeom prst="rect">
            <a:avLst/>
          </a:prstGeom>
          <a:noFill/>
          <a:ln/>
        </p:spPr>
        <p:txBody>
          <a:bodyPr wrap="square" lIns="0" tIns="0" rIns="0" bIns="0" rtlCol="0" anchor="t"/>
          <a:lstStyle/>
          <a:p>
            <a:pPr indent="0" marL="0">
              <a:lnSpc>
                <a:spcPts val="2100"/>
              </a:lnSpc>
              <a:buNone/>
            </a:pPr>
            <a:r>
              <a:rPr lang="en-US" sz="1350" b="1" dirty="0">
                <a:solidFill>
                  <a:srgbClr val="FFFFFF"/>
                </a:solidFill>
                <a:latin typeface="Meiryo" pitchFamily="34" charset="0"/>
                <a:ea typeface="Meiryo" pitchFamily="34" charset="-122"/>
                <a:cs typeface="Meiryo" pitchFamily="34" charset="-120"/>
              </a:rPr>
              <a:t>MCPは「つなぐ規格」。主役はつなぐ先の記録</a:t>
            </a:r>
            <a:endParaRPr lang="en-US" sz="1350" dirty="0"/>
          </a:p>
        </p:txBody>
      </p:sp>
      <p:sp>
        <p:nvSpPr>
          <p:cNvPr id="14" name="Text 12"/>
          <p:cNvSpPr/>
          <p:nvPr/>
        </p:nvSpPr>
        <p:spPr>
          <a:xfrm>
            <a:off x="4618634" y="3346704"/>
            <a:ext cx="2954426" cy="512064"/>
          </a:xfrm>
          <a:prstGeom prst="rect">
            <a:avLst/>
          </a:prstGeom>
          <a:noFill/>
          <a:ln/>
        </p:spPr>
        <p:txBody>
          <a:bodyPr wrap="square" lIns="0" tIns="0" rIns="0" bIns="0" rtlCol="0" anchor="t"/>
          <a:lstStyle/>
          <a:p>
            <a:pPr indent="0" marL="0">
              <a:lnSpc>
                <a:spcPts val="1600"/>
              </a:lnSpc>
              <a:buNone/>
            </a:pPr>
            <a:r>
              <a:rPr lang="en-US" sz="1050" dirty="0">
                <a:solidFill>
                  <a:srgbClr val="9FAEBD"/>
                </a:solidFill>
                <a:latin typeface="Meiryo" pitchFamily="34" charset="0"/>
                <a:ea typeface="Meiryo" pitchFamily="34" charset="-122"/>
                <a:cs typeface="Meiryo" pitchFamily="34" charset="-120"/>
              </a:rPr>
              <a:t>規格そのものを買うのではなく、つなぐ先を整えるのが投資対象です。</a:t>
            </a:r>
            <a:endParaRPr lang="en-US" sz="1050" dirty="0"/>
          </a:p>
        </p:txBody>
      </p:sp>
      <p:sp>
        <p:nvSpPr>
          <p:cNvPr id="15" name="Shape 13"/>
          <p:cNvSpPr/>
          <p:nvPr/>
        </p:nvSpPr>
        <p:spPr>
          <a:xfrm>
            <a:off x="8121701" y="1920240"/>
            <a:ext cx="3503066" cy="2048256"/>
          </a:xfrm>
          <a:prstGeom prst="roundRect">
            <a:avLst>
              <a:gd name="adj" fmla="val 3125"/>
            </a:avLst>
          </a:prstGeom>
          <a:solidFill>
            <a:srgbClr val="223140"/>
          </a:solidFill>
          <a:ln w="12700">
            <a:solidFill>
              <a:srgbClr val="223140"/>
            </a:solidFill>
            <a:prstDash val="solid"/>
          </a:ln>
        </p:spPr>
      </p:sp>
      <p:sp>
        <p:nvSpPr>
          <p:cNvPr id="16" name="Shape 14"/>
          <p:cNvSpPr/>
          <p:nvPr/>
        </p:nvSpPr>
        <p:spPr>
          <a:xfrm>
            <a:off x="8396021" y="2139696"/>
            <a:ext cx="402336" cy="402336"/>
          </a:xfrm>
          <a:prstGeom prst="ellipse">
            <a:avLst/>
          </a:prstGeom>
          <a:solidFill>
            <a:srgbClr val="D97612"/>
          </a:solidFill>
          <a:ln w="12700">
            <a:solidFill>
              <a:srgbClr val="D97612"/>
            </a:solidFill>
            <a:prstDash val="solid"/>
          </a:ln>
        </p:spPr>
      </p:sp>
      <p:sp>
        <p:nvSpPr>
          <p:cNvPr id="17" name="Text 15"/>
          <p:cNvSpPr/>
          <p:nvPr/>
        </p:nvSpPr>
        <p:spPr>
          <a:xfrm>
            <a:off x="8396021" y="2139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03</a:t>
            </a:r>
            <a:endParaRPr lang="en-US" sz="1250" dirty="0"/>
          </a:p>
        </p:txBody>
      </p:sp>
      <p:sp>
        <p:nvSpPr>
          <p:cNvPr id="18" name="Text 16"/>
          <p:cNvSpPr/>
          <p:nvPr/>
        </p:nvSpPr>
        <p:spPr>
          <a:xfrm>
            <a:off x="8396021" y="2688336"/>
            <a:ext cx="2954426" cy="658368"/>
          </a:xfrm>
          <a:prstGeom prst="rect">
            <a:avLst/>
          </a:prstGeom>
          <a:noFill/>
          <a:ln/>
        </p:spPr>
        <p:txBody>
          <a:bodyPr wrap="square" lIns="0" tIns="0" rIns="0" bIns="0" rtlCol="0" anchor="t"/>
          <a:lstStyle/>
          <a:p>
            <a:pPr indent="0" marL="0">
              <a:lnSpc>
                <a:spcPts val="2100"/>
              </a:lnSpc>
              <a:buNone/>
            </a:pPr>
            <a:r>
              <a:rPr lang="en-US" sz="1350" b="1" dirty="0">
                <a:solidFill>
                  <a:srgbClr val="FFFFFF"/>
                </a:solidFill>
                <a:latin typeface="Meiryo" pitchFamily="34" charset="0"/>
                <a:ea typeface="Meiryo" pitchFamily="34" charset="-122"/>
                <a:cs typeface="Meiryo" pitchFamily="34" charset="-120"/>
              </a:rPr>
              <a:t>まず1業務・1指標・4週間。着手前に必ず測る</a:t>
            </a:r>
            <a:endParaRPr lang="en-US" sz="1350" dirty="0"/>
          </a:p>
        </p:txBody>
      </p:sp>
      <p:sp>
        <p:nvSpPr>
          <p:cNvPr id="19" name="Text 17"/>
          <p:cNvSpPr/>
          <p:nvPr/>
        </p:nvSpPr>
        <p:spPr>
          <a:xfrm>
            <a:off x="8396021" y="3346704"/>
            <a:ext cx="2954426" cy="512064"/>
          </a:xfrm>
          <a:prstGeom prst="rect">
            <a:avLst/>
          </a:prstGeom>
          <a:noFill/>
          <a:ln/>
        </p:spPr>
        <p:txBody>
          <a:bodyPr wrap="square" lIns="0" tIns="0" rIns="0" bIns="0" rtlCol="0" anchor="t"/>
          <a:lstStyle/>
          <a:p>
            <a:pPr indent="0" marL="0">
              <a:lnSpc>
                <a:spcPts val="1600"/>
              </a:lnSpc>
              <a:buNone/>
            </a:pPr>
            <a:r>
              <a:rPr lang="en-US" sz="1050" dirty="0">
                <a:solidFill>
                  <a:srgbClr val="9FAEBD"/>
                </a:solidFill>
                <a:latin typeface="Meiryo" pitchFamily="34" charset="0"/>
                <a:ea typeface="Meiryo" pitchFamily="34" charset="-122"/>
                <a:cs typeface="Meiryo" pitchFamily="34" charset="-120"/>
              </a:rPr>
              <a:t>“やる前の数字”を測らないと、何をやっても評価できません。</a:t>
            </a:r>
            <a:endParaRPr lang="en-US" sz="1050" dirty="0"/>
          </a:p>
        </p:txBody>
      </p:sp>
      <p:sp>
        <p:nvSpPr>
          <p:cNvPr id="20" name="Shape 18"/>
          <p:cNvSpPr/>
          <p:nvPr/>
        </p:nvSpPr>
        <p:spPr>
          <a:xfrm>
            <a:off x="566928" y="4224528"/>
            <a:ext cx="5349240" cy="1517904"/>
          </a:xfrm>
          <a:prstGeom prst="roundRect">
            <a:avLst>
              <a:gd name="adj" fmla="val 4217"/>
            </a:avLst>
          </a:prstGeom>
          <a:solidFill>
            <a:srgbClr val="A85705"/>
          </a:solidFill>
          <a:ln w="12700">
            <a:solidFill>
              <a:srgbClr val="A85705"/>
            </a:solidFill>
            <a:prstDash val="solid"/>
          </a:ln>
        </p:spPr>
      </p:sp>
      <p:sp>
        <p:nvSpPr>
          <p:cNvPr id="21" name="Text 19"/>
          <p:cNvSpPr/>
          <p:nvPr/>
        </p:nvSpPr>
        <p:spPr>
          <a:xfrm>
            <a:off x="877824" y="4224528"/>
            <a:ext cx="4754880" cy="1517904"/>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Meiryo" pitchFamily="34" charset="0"/>
                <a:ea typeface="Meiryo" pitchFamily="34" charset="-122"/>
                <a:cs typeface="Meiryo" pitchFamily="34" charset="-120"/>
              </a:rPr>
              <a:t>個別相談（無料・30分）</a:t>
            </a:r>
            <a:endParaRPr lang="en-US" sz="1600" dirty="0"/>
          </a:p>
          <a:p>
            <a:pPr indent="0" marL="0">
              <a:lnSpc>
                <a:spcPts val="1900"/>
              </a:lnSpc>
              <a:buNone/>
            </a:pPr>
            <a:r>
              <a:rPr lang="en-US" sz="1100" dirty="0">
                <a:solidFill>
                  <a:srgbClr val="FFF3E4"/>
                </a:solidFill>
                <a:latin typeface="Meiryo" pitchFamily="34" charset="0"/>
                <a:ea typeface="Meiryo" pitchFamily="34" charset="-122"/>
                <a:cs typeface="Meiryo" pitchFamily="34" charset="-120"/>
              </a:rPr>
              <a:t>自社の記録の棚卸しから、一緒に整理します。終了後アンケートの「個別相談を希望する」にチェックを入れてください。翌営業日にご連絡します。</a:t>
            </a:r>
            <a:endParaRPr lang="en-US" sz="1600" dirty="0"/>
          </a:p>
        </p:txBody>
      </p:sp>
      <p:sp>
        <p:nvSpPr>
          <p:cNvPr id="22" name="Shape 20"/>
          <p:cNvSpPr/>
          <p:nvPr/>
        </p:nvSpPr>
        <p:spPr>
          <a:xfrm>
            <a:off x="6272784" y="4224528"/>
            <a:ext cx="5349240" cy="1517904"/>
          </a:xfrm>
          <a:prstGeom prst="roundRect">
            <a:avLst>
              <a:gd name="adj" fmla="val 4217"/>
            </a:avLst>
          </a:prstGeom>
          <a:solidFill>
            <a:srgbClr val="223140"/>
          </a:solidFill>
          <a:ln w="12700">
            <a:solidFill>
              <a:srgbClr val="223140"/>
            </a:solidFill>
            <a:prstDash val="solid"/>
          </a:ln>
        </p:spPr>
      </p:sp>
      <p:sp>
        <p:nvSpPr>
          <p:cNvPr id="23" name="Text 21"/>
          <p:cNvSpPr/>
          <p:nvPr/>
        </p:nvSpPr>
        <p:spPr>
          <a:xfrm>
            <a:off x="6583680" y="4224528"/>
            <a:ext cx="4754880" cy="1517904"/>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Meiryo" pitchFamily="34" charset="0"/>
                <a:ea typeface="Meiryo" pitchFamily="34" charset="-122"/>
                <a:cs typeface="Meiryo" pitchFamily="34" charset="-120"/>
              </a:rPr>
              <a:t>資料・アーカイブのご案内</a:t>
            </a:r>
            <a:endParaRPr lang="en-US" sz="1600" dirty="0"/>
          </a:p>
          <a:p>
            <a:pPr indent="0" marL="0">
              <a:lnSpc>
                <a:spcPts val="1900"/>
              </a:lnSpc>
              <a:buNone/>
            </a:pPr>
            <a:r>
              <a:rPr lang="en-US" sz="1100" dirty="0">
                <a:solidFill>
                  <a:srgbClr val="B9C4CF"/>
                </a:solidFill>
                <a:latin typeface="Meiryo" pitchFamily="34" charset="0"/>
                <a:ea typeface="Meiryo" pitchFamily="34" charset="-122"/>
                <a:cs typeface="Meiryo" pitchFamily="34" charset="-120"/>
              </a:rPr>
              <a:t>本日の投影資料（PDF）・アーカイブ動画・4週間スタート用チェックリストを、後日メールでお送りします。社内共有にご活用ください。</a:t>
            </a:r>
            <a:endParaRPr lang="en-US" sz="1600" dirty="0"/>
          </a:p>
        </p:txBody>
      </p:sp>
      <p:sp>
        <p:nvSpPr>
          <p:cNvPr id="24" name="Text 22"/>
          <p:cNvSpPr/>
          <p:nvPr/>
        </p:nvSpPr>
        <p:spPr>
          <a:xfrm>
            <a:off x="566928" y="5943600"/>
            <a:ext cx="11057839" cy="402336"/>
          </a:xfrm>
          <a:prstGeom prst="rect">
            <a:avLst/>
          </a:prstGeom>
          <a:noFill/>
          <a:ln/>
        </p:spPr>
        <p:txBody>
          <a:bodyPr wrap="square" lIns="0" tIns="0" rIns="0" bIns="0" rtlCol="0" anchor="ctr"/>
          <a:lstStyle/>
          <a:p>
            <a:pPr indent="0" marL="0">
              <a:buNone/>
            </a:pPr>
            <a:r>
              <a:rPr lang="en-US" sz="1500" b="1" dirty="0">
                <a:solidFill>
                  <a:srgbClr val="D97612"/>
                </a:solidFill>
                <a:latin typeface="Meiryo" pitchFamily="34" charset="0"/>
                <a:ea typeface="Meiryo" pitchFamily="34" charset="-122"/>
                <a:cs typeface="Meiryo" pitchFamily="34" charset="-120"/>
              </a:rPr>
              <a:t>ご質問はチャット欄へ　｜　Q&amp;A</a:t>
            </a:r>
            <a:endParaRPr lang="en-US" sz="1500" dirty="0"/>
          </a:p>
        </p:txBody>
      </p:sp>
      <p:sp>
        <p:nvSpPr>
          <p:cNvPr id="25" name="Text 23"/>
          <p:cNvSpPr/>
          <p:nvPr/>
        </p:nvSpPr>
        <p:spPr>
          <a:xfrm>
            <a:off x="11076127" y="6382512"/>
            <a:ext cx="548640" cy="256032"/>
          </a:xfrm>
          <a:prstGeom prst="rect">
            <a:avLst/>
          </a:prstGeom>
          <a:noFill/>
          <a:ln/>
        </p:spPr>
        <p:txBody>
          <a:bodyPr wrap="square" lIns="0" tIns="0" rIns="0" bIns="0" rtlCol="0" anchor="ctr"/>
          <a:lstStyle/>
          <a:p>
            <a:pPr algn="r" indent="0" marL="0">
              <a:buNone/>
            </a:pPr>
            <a:r>
              <a:rPr lang="en-US" sz="850" dirty="0">
                <a:solidFill>
                  <a:srgbClr val="6B7684"/>
                </a:solidFill>
                <a:latin typeface="Meiryo" pitchFamily="34" charset="0"/>
                <a:ea typeface="Meiryo" pitchFamily="34" charset="-122"/>
                <a:cs typeface="Meiryo" pitchFamily="34" charset="-120"/>
              </a:rPr>
              <a:t>36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AIエージェント×MCPとは？ 働くAIを戦力にする『記録』のはじめ方</dc:title>
  <dc:subject>PptxGenJS Presentation</dc:subject>
  <dc:creator>みえるクラウド セミナー事務局</dc:creator>
  <cp:lastModifiedBy>みえるクラウド セミナー事務局</cp:lastModifiedBy>
  <cp:revision>1</cp:revision>
  <dcterms:created xsi:type="dcterms:W3CDTF">2026-07-28T16:55:39Z</dcterms:created>
  <dcterms:modified xsi:type="dcterms:W3CDTF">2026-07-28T16:55:39Z</dcterms:modified>
</cp:coreProperties>
</file>